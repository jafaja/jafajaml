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5"/>
  </p:notesMasterIdLst>
  <p:sldIdLst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853CE5-A1C3-4A42-A936-96380A3741A4}" v="12" dt="2026-10-11T07:38:39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Fajardo" userId="dcc6950d-48e1-4bc5-a8d4-da3eedd51ef7" providerId="ADAL" clId="{C32C1EDC-26CE-480B-95CF-36B5D454BF85}"/>
    <pc:docChg chg="undo custSel mod addSld delSld modSld sldOrd modMainMaster">
      <pc:chgData name="John Fajardo" userId="dcc6950d-48e1-4bc5-a8d4-da3eedd51ef7" providerId="ADAL" clId="{C32C1EDC-26CE-480B-95CF-36B5D454BF85}" dt="2026-10-11T07:49:46.295" v="683" actId="1076"/>
      <pc:docMkLst>
        <pc:docMk/>
      </pc:docMkLst>
      <pc:sldChg chg="addSp delSp modSp mod">
        <pc:chgData name="John Fajardo" userId="dcc6950d-48e1-4bc5-a8d4-da3eedd51ef7" providerId="ADAL" clId="{C32C1EDC-26CE-480B-95CF-36B5D454BF85}" dt="2026-10-11T07:42:33.800" v="655" actId="1076"/>
        <pc:sldMkLst>
          <pc:docMk/>
          <pc:sldMk cId="0" sldId="256"/>
        </pc:sldMkLst>
        <pc:spChg chg="mod">
          <ac:chgData name="John Fajardo" userId="dcc6950d-48e1-4bc5-a8d4-da3eedd51ef7" providerId="ADAL" clId="{C32C1EDC-26CE-480B-95CF-36B5D454BF85}" dt="2026-10-11T07:07:39.919" v="8" actId="1076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John Fajardo" userId="dcc6950d-48e1-4bc5-a8d4-da3eedd51ef7" providerId="ADAL" clId="{C32C1EDC-26CE-480B-95CF-36B5D454BF85}" dt="2026-10-11T07:42:05.206" v="632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42:14.703" v="646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08:15.367" v="19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08:15.367" v="19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08:15.367" v="19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08:15.367" v="19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08:15.367" v="19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08:15.367" v="19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08:15.367" v="19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08:15.367" v="19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42:33.800" v="655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42:30.610" v="654" actId="27636"/>
          <ac:spMkLst>
            <pc:docMk/>
            <pc:sldMk cId="0" sldId="256"/>
            <ac:spMk id="16" creationId="{00000000-0000-0000-0000-000000000000}"/>
          </ac:spMkLst>
        </pc:spChg>
        <pc:spChg chg="add del">
          <ac:chgData name="John Fajardo" userId="dcc6950d-48e1-4bc5-a8d4-da3eedd51ef7" providerId="ADAL" clId="{C32C1EDC-26CE-480B-95CF-36B5D454BF85}" dt="2026-10-11T07:07:16.547" v="4" actId="22"/>
          <ac:spMkLst>
            <pc:docMk/>
            <pc:sldMk cId="0" sldId="256"/>
            <ac:spMk id="18" creationId="{E9A93650-7B14-13EF-72C6-C427D9F98E10}"/>
          </ac:spMkLst>
        </pc:spChg>
        <pc:spChg chg="add del mod">
          <ac:chgData name="John Fajardo" userId="dcc6950d-48e1-4bc5-a8d4-da3eedd51ef7" providerId="ADAL" clId="{C32C1EDC-26CE-480B-95CF-36B5D454BF85}" dt="2026-10-11T07:11:50.337" v="45" actId="478"/>
          <ac:spMkLst>
            <pc:docMk/>
            <pc:sldMk cId="0" sldId="256"/>
            <ac:spMk id="20" creationId="{30A1B07F-CC87-B6A2-37DB-D32AC1835ACA}"/>
          </ac:spMkLst>
        </pc:spChg>
        <pc:spChg chg="add mod">
          <ac:chgData name="John Fajardo" userId="dcc6950d-48e1-4bc5-a8d4-da3eedd51ef7" providerId="ADAL" clId="{C32C1EDC-26CE-480B-95CF-36B5D454BF85}" dt="2026-10-11T07:07:55.440" v="15" actId="571"/>
          <ac:spMkLst>
            <pc:docMk/>
            <pc:sldMk cId="0" sldId="256"/>
            <ac:spMk id="21" creationId="{31FFB6B1-2494-B9B3-46F3-F8FFCAA5B04F}"/>
          </ac:spMkLst>
        </pc:spChg>
      </pc:sldChg>
      <pc:sldChg chg="modSp mod">
        <pc:chgData name="John Fajardo" userId="dcc6950d-48e1-4bc5-a8d4-da3eedd51ef7" providerId="ADAL" clId="{C32C1EDC-26CE-480B-95CF-36B5D454BF85}" dt="2026-10-11T07:14:24.468" v="64" actId="14100"/>
        <pc:sldMkLst>
          <pc:docMk/>
          <pc:sldMk cId="0" sldId="257"/>
        </pc:sldMkLst>
        <pc:spChg chg="mod">
          <ac:chgData name="John Fajardo" userId="dcc6950d-48e1-4bc5-a8d4-da3eedd51ef7" providerId="ADAL" clId="{C32C1EDC-26CE-480B-95CF-36B5D454BF85}" dt="2026-10-11T07:14:24.468" v="64" actId="141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21.378" v="63" actId="403"/>
          <ac:spMkLst>
            <pc:docMk/>
            <pc:sldMk cId="0" sldId="257"/>
            <ac:spMk id="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14.174" v="58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04.266" v="57" actId="403"/>
          <ac:spMkLst>
            <pc:docMk/>
            <pc:sldMk cId="0" sldId="257"/>
            <ac:spMk id="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14.174" v="58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14.174" v="58" actId="1410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04.266" v="57" actId="403"/>
          <ac:spMkLst>
            <pc:docMk/>
            <pc:sldMk cId="0" sldId="257"/>
            <ac:spMk id="1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14.174" v="58" actId="14100"/>
          <ac:spMkLst>
            <pc:docMk/>
            <pc:sldMk cId="0" sldId="257"/>
            <ac:spMk id="2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04.266" v="57" actId="403"/>
          <ac:spMkLst>
            <pc:docMk/>
            <pc:sldMk cId="0" sldId="257"/>
            <ac:spMk id="2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14.174" v="58" actId="14100"/>
          <ac:spMkLst>
            <pc:docMk/>
            <pc:sldMk cId="0" sldId="257"/>
            <ac:spMk id="2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04.266" v="57" actId="403"/>
          <ac:spMkLst>
            <pc:docMk/>
            <pc:sldMk cId="0" sldId="257"/>
            <ac:spMk id="2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14.174" v="58" actId="14100"/>
          <ac:spMkLst>
            <pc:docMk/>
            <pc:sldMk cId="0" sldId="257"/>
            <ac:spMk id="3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4:04.266" v="57" actId="403"/>
          <ac:spMkLst>
            <pc:docMk/>
            <pc:sldMk cId="0" sldId="257"/>
            <ac:spMk id="3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3:48.327" v="54" actId="404"/>
          <ac:spMkLst>
            <pc:docMk/>
            <pc:sldMk cId="0" sldId="257"/>
            <ac:spMk id="3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3:48.327" v="54" actId="404"/>
          <ac:spMkLst>
            <pc:docMk/>
            <pc:sldMk cId="0" sldId="257"/>
            <ac:spMk id="3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3:48.327" v="54" actId="404"/>
          <ac:spMkLst>
            <pc:docMk/>
            <pc:sldMk cId="0" sldId="257"/>
            <ac:spMk id="3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3:48.327" v="54" actId="404"/>
          <ac:spMkLst>
            <pc:docMk/>
            <pc:sldMk cId="0" sldId="257"/>
            <ac:spMk id="4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3:48.327" v="54" actId="404"/>
          <ac:spMkLst>
            <pc:docMk/>
            <pc:sldMk cId="0" sldId="257"/>
            <ac:spMk id="4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3:48.327" v="54" actId="404"/>
          <ac:spMkLst>
            <pc:docMk/>
            <pc:sldMk cId="0" sldId="257"/>
            <ac:spMk id="4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3:48.327" v="54" actId="404"/>
          <ac:spMkLst>
            <pc:docMk/>
            <pc:sldMk cId="0" sldId="257"/>
            <ac:spMk id="44" creationId="{00000000-0000-0000-0000-000000000000}"/>
          </ac:spMkLst>
        </pc:spChg>
      </pc:sldChg>
      <pc:sldChg chg="modSp mod">
        <pc:chgData name="John Fajardo" userId="dcc6950d-48e1-4bc5-a8d4-da3eedd51ef7" providerId="ADAL" clId="{C32C1EDC-26CE-480B-95CF-36B5D454BF85}" dt="2026-10-11T07:15:40.046" v="77" actId="255"/>
        <pc:sldMkLst>
          <pc:docMk/>
          <pc:sldMk cId="0" sldId="258"/>
        </pc:sldMkLst>
        <pc:spChg chg="mod">
          <ac:chgData name="John Fajardo" userId="dcc6950d-48e1-4bc5-a8d4-da3eedd51ef7" providerId="ADAL" clId="{C32C1EDC-26CE-480B-95CF-36B5D454BF85}" dt="2026-10-11T07:15:13.575" v="70" actId="404"/>
          <ac:spMkLst>
            <pc:docMk/>
            <pc:sldMk cId="0" sldId="258"/>
            <ac:spMk id="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29.953" v="76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13.575" v="70" actId="404"/>
          <ac:spMkLst>
            <pc:docMk/>
            <pc:sldMk cId="0" sldId="258"/>
            <ac:spMk id="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40.046" v="77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13.575" v="70" actId="40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40.046" v="77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13.575" v="70" actId="404"/>
          <ac:spMkLst>
            <pc:docMk/>
            <pc:sldMk cId="0" sldId="258"/>
            <ac:spMk id="1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40.046" v="77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13.575" v="70" actId="404"/>
          <ac:spMkLst>
            <pc:docMk/>
            <pc:sldMk cId="0" sldId="258"/>
            <ac:spMk id="2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24.901" v="75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17.155" v="71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23.295" v="74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13.575" v="70" actId="404"/>
          <ac:spMkLst>
            <pc:docMk/>
            <pc:sldMk cId="0" sldId="258"/>
            <ac:spMk id="3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13.575" v="70" actId="404"/>
          <ac:spMkLst>
            <pc:docMk/>
            <pc:sldMk cId="0" sldId="258"/>
            <ac:spMk id="3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5:13.575" v="70" actId="404"/>
          <ac:spMkLst>
            <pc:docMk/>
            <pc:sldMk cId="0" sldId="258"/>
            <ac:spMk id="36" creationId="{00000000-0000-0000-0000-000000000000}"/>
          </ac:spMkLst>
        </pc:spChg>
      </pc:sldChg>
      <pc:sldChg chg="modSp mod">
        <pc:chgData name="John Fajardo" userId="dcc6950d-48e1-4bc5-a8d4-da3eedd51ef7" providerId="ADAL" clId="{C32C1EDC-26CE-480B-95CF-36B5D454BF85}" dt="2026-10-11T07:17:18.131" v="102" actId="403"/>
        <pc:sldMkLst>
          <pc:docMk/>
          <pc:sldMk cId="0" sldId="259"/>
        </pc:sldMkLst>
        <pc:spChg chg="mod">
          <ac:chgData name="John Fajardo" userId="dcc6950d-48e1-4bc5-a8d4-da3eedd51ef7" providerId="ADAL" clId="{C32C1EDC-26CE-480B-95CF-36B5D454BF85}" dt="2026-10-11T07:17:12.989" v="98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7:18.131" v="102" actId="403"/>
          <ac:spMkLst>
            <pc:docMk/>
            <pc:sldMk cId="0" sldId="259"/>
            <ac:spMk id="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7:06.462" v="97" actId="403"/>
          <ac:spMkLst>
            <pc:docMk/>
            <pc:sldMk cId="0" sldId="259"/>
            <ac:spMk id="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7:06.462" v="97" actId="403"/>
          <ac:spMkLst>
            <pc:docMk/>
            <pc:sldMk cId="0" sldId="259"/>
            <ac:spMk id="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6:41.563" v="83" actId="404"/>
          <ac:spMkLst>
            <pc:docMk/>
            <pc:sldMk cId="0" sldId="259"/>
            <ac:spMk id="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6:56.140" v="92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7:06.462" v="97" actId="40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6:41.563" v="83" actId="40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6:56.140" v="92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7:06.462" v="97" actId="403"/>
          <ac:spMkLst>
            <pc:docMk/>
            <pc:sldMk cId="0" sldId="259"/>
            <ac:spMk id="1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6:41.563" v="83" actId="40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6:56.140" v="92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7:06.462" v="97" actId="403"/>
          <ac:spMkLst>
            <pc:docMk/>
            <pc:sldMk cId="0" sldId="259"/>
            <ac:spMk id="2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6:41.563" v="83" actId="40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6:56.140" v="92" actId="403"/>
          <ac:spMkLst>
            <pc:docMk/>
            <pc:sldMk cId="0" sldId="259"/>
            <ac:spMk id="23" creationId="{00000000-0000-0000-0000-000000000000}"/>
          </ac:spMkLst>
        </pc:spChg>
      </pc:sldChg>
      <pc:sldChg chg="delSp modSp mod">
        <pc:chgData name="John Fajardo" userId="dcc6950d-48e1-4bc5-a8d4-da3eedd51ef7" providerId="ADAL" clId="{C32C1EDC-26CE-480B-95CF-36B5D454BF85}" dt="2026-10-11T07:21:58.076" v="239" actId="478"/>
        <pc:sldMkLst>
          <pc:docMk/>
          <pc:sldMk cId="0" sldId="260"/>
        </pc:sldMkLst>
        <pc:spChg chg="mod">
          <ac:chgData name="John Fajardo" userId="dcc6950d-48e1-4bc5-a8d4-da3eedd51ef7" providerId="ADAL" clId="{C32C1EDC-26CE-480B-95CF-36B5D454BF85}" dt="2026-10-11T07:21:55.100" v="238" actId="20577"/>
          <ac:spMkLst>
            <pc:docMk/>
            <pc:sldMk cId="0" sldId="260"/>
            <ac:spMk id="2" creationId="{00000000-0000-0000-0000-000000000000}"/>
          </ac:spMkLst>
        </pc:spChg>
        <pc:spChg chg="del">
          <ac:chgData name="John Fajardo" userId="dcc6950d-48e1-4bc5-a8d4-da3eedd51ef7" providerId="ADAL" clId="{C32C1EDC-26CE-480B-95CF-36B5D454BF85}" dt="2026-10-11T07:21:58.076" v="239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8:23.056" v="124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8:31.058" v="126" actId="14100"/>
          <ac:spMkLst>
            <pc:docMk/>
            <pc:sldMk cId="0" sldId="260"/>
            <ac:spMk id="5" creationId="{00000000-0000-0000-0000-000000000000}"/>
          </ac:spMkLst>
        </pc:spChg>
        <pc:graphicFrameChg chg="modGraphic">
          <ac:chgData name="John Fajardo" userId="dcc6950d-48e1-4bc5-a8d4-da3eedd51ef7" providerId="ADAL" clId="{C32C1EDC-26CE-480B-95CF-36B5D454BF85}" dt="2026-10-11T07:18:54.048" v="129" actId="207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John Fajardo" userId="dcc6950d-48e1-4bc5-a8d4-da3eedd51ef7" providerId="ADAL" clId="{C32C1EDC-26CE-480B-95CF-36B5D454BF85}" dt="2026-10-11T07:29:44.690" v="272" actId="255"/>
        <pc:sldMkLst>
          <pc:docMk/>
          <pc:sldMk cId="0" sldId="261"/>
        </pc:sldMkLst>
        <pc:spChg chg="mod">
          <ac:chgData name="John Fajardo" userId="dcc6950d-48e1-4bc5-a8d4-da3eedd51ef7" providerId="ADAL" clId="{C32C1EDC-26CE-480B-95CF-36B5D454BF85}" dt="2026-10-11T07:29:44.690" v="272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28.914" v="136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50.106" v="143" actId="404"/>
          <ac:spMkLst>
            <pc:docMk/>
            <pc:sldMk cId="0" sldId="261"/>
            <ac:spMk id="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50.106" v="143" actId="404"/>
          <ac:spMkLst>
            <pc:docMk/>
            <pc:sldMk cId="0" sldId="261"/>
            <ac:spMk id="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50.106" v="143" actId="404"/>
          <ac:spMkLst>
            <pc:docMk/>
            <pc:sldMk cId="0" sldId="261"/>
            <ac:spMk id="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50.106" v="143" actId="40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50.106" v="143" actId="404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50.106" v="143" actId="404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50.106" v="143" actId="404"/>
          <ac:spMkLst>
            <pc:docMk/>
            <pc:sldMk cId="0" sldId="261"/>
            <ac:spMk id="1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50.106" v="143" actId="404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50.106" v="143" actId="40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50.106" v="143" actId="404"/>
          <ac:spMkLst>
            <pc:docMk/>
            <pc:sldMk cId="0" sldId="261"/>
            <ac:spMk id="2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24.543" v="134" actId="403"/>
          <ac:spMkLst>
            <pc:docMk/>
            <pc:sldMk cId="0" sldId="261"/>
            <ac:spMk id="2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24.543" v="134" actId="403"/>
          <ac:spMkLst>
            <pc:docMk/>
            <pc:sldMk cId="0" sldId="261"/>
            <ac:spMk id="2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24.543" v="134" actId="403"/>
          <ac:spMkLst>
            <pc:docMk/>
            <pc:sldMk cId="0" sldId="261"/>
            <ac:spMk id="2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24.543" v="134" actId="403"/>
          <ac:spMkLst>
            <pc:docMk/>
            <pc:sldMk cId="0" sldId="261"/>
            <ac:spMk id="2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19:24.543" v="135" actId="27636"/>
          <ac:spMkLst>
            <pc:docMk/>
            <pc:sldMk cId="0" sldId="261"/>
            <ac:spMk id="30" creationId="{00000000-0000-0000-0000-000000000000}"/>
          </ac:spMkLst>
        </pc:spChg>
      </pc:sldChg>
      <pc:sldChg chg="modSp mod">
        <pc:chgData name="John Fajardo" userId="dcc6950d-48e1-4bc5-a8d4-da3eedd51ef7" providerId="ADAL" clId="{C32C1EDC-26CE-480B-95CF-36B5D454BF85}" dt="2026-10-11T07:49:19.886" v="681" actId="255"/>
        <pc:sldMkLst>
          <pc:docMk/>
          <pc:sldMk cId="0" sldId="262"/>
        </pc:sldMkLst>
        <pc:spChg chg="mod">
          <ac:chgData name="John Fajardo" userId="dcc6950d-48e1-4bc5-a8d4-da3eedd51ef7" providerId="ADAL" clId="{C32C1EDC-26CE-480B-95CF-36B5D454BF85}" dt="2026-10-11T07:49:19.886" v="681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13.516" v="145" actId="403"/>
          <ac:spMkLst>
            <pc:docMk/>
            <pc:sldMk cId="0" sldId="262"/>
            <ac:spMk id="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13.516" v="145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13.516" v="145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13.516" v="145" actId="403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13.516" v="145" actId="403"/>
          <ac:spMkLst>
            <pc:docMk/>
            <pc:sldMk cId="0" sldId="262"/>
            <ac:spMk id="1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13.516" v="145" actId="403"/>
          <ac:spMkLst>
            <pc:docMk/>
            <pc:sldMk cId="0" sldId="262"/>
            <ac:spMk id="2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35.141" v="151" actId="14100"/>
          <ac:spMkLst>
            <pc:docMk/>
            <pc:sldMk cId="0" sldId="262"/>
            <ac:spMk id="2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38.662" v="153" actId="403"/>
          <ac:spMkLst>
            <pc:docMk/>
            <pc:sldMk cId="0" sldId="262"/>
            <ac:spMk id="2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13.516" v="145" actId="403"/>
          <ac:spMkLst>
            <pc:docMk/>
            <pc:sldMk cId="0" sldId="262"/>
            <ac:spMk id="2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13.516" v="145" actId="403"/>
          <ac:spMkLst>
            <pc:docMk/>
            <pc:sldMk cId="0" sldId="262"/>
            <ac:spMk id="3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13.516" v="145" actId="403"/>
          <ac:spMkLst>
            <pc:docMk/>
            <pc:sldMk cId="0" sldId="262"/>
            <ac:spMk id="4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0:13.516" v="145" actId="403"/>
          <ac:spMkLst>
            <pc:docMk/>
            <pc:sldMk cId="0" sldId="262"/>
            <ac:spMk id="41" creationId="{00000000-0000-0000-0000-000000000000}"/>
          </ac:spMkLst>
        </pc:spChg>
      </pc:sldChg>
      <pc:sldChg chg="modSp mod">
        <pc:chgData name="John Fajardo" userId="dcc6950d-48e1-4bc5-a8d4-da3eedd51ef7" providerId="ADAL" clId="{C32C1EDC-26CE-480B-95CF-36B5D454BF85}" dt="2026-10-11T07:29:30.661" v="267" actId="1076"/>
        <pc:sldMkLst>
          <pc:docMk/>
          <pc:sldMk cId="0" sldId="263"/>
        </pc:sldMkLst>
        <pc:spChg chg="mod">
          <ac:chgData name="John Fajardo" userId="dcc6950d-48e1-4bc5-a8d4-da3eedd51ef7" providerId="ADAL" clId="{C32C1EDC-26CE-480B-95CF-36B5D454BF85}" dt="2026-10-11T07:29:27.910" v="266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9:30.661" v="267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10.783" v="252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16.144" v="254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21.109" v="256" actId="403"/>
          <ac:spMkLst>
            <pc:docMk/>
            <pc:sldMk cId="0" sldId="263"/>
            <ac:spMk id="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21.109" v="256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10.783" v="252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13.492" v="253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21.109" v="256" actId="40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21.109" v="256" actId="40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10.783" v="252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10.783" v="252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21.109" v="256" actId="40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4:21.109" v="256" actId="40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3:27.395" v="248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9:09.881" v="264" actId="403"/>
          <ac:spMkLst>
            <pc:docMk/>
            <pc:sldMk cId="0" sldId="263"/>
            <ac:spMk id="1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3:27.395" v="248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9:09.881" v="264" actId="403"/>
          <ac:spMkLst>
            <pc:docMk/>
            <pc:sldMk cId="0" sldId="263"/>
            <ac:spMk id="2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3:27.395" v="248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9:09.881" v="264" actId="403"/>
          <ac:spMkLst>
            <pc:docMk/>
            <pc:sldMk cId="0" sldId="263"/>
            <ac:spMk id="2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3:27.395" v="248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3:27.395" v="248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9:09.881" v="264" actId="403"/>
          <ac:spMkLst>
            <pc:docMk/>
            <pc:sldMk cId="0" sldId="263"/>
            <ac:spMk id="2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3:27.395" v="248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3:27.395" v="248" actId="107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29:09.881" v="264" actId="403"/>
          <ac:spMkLst>
            <pc:docMk/>
            <pc:sldMk cId="0" sldId="263"/>
            <ac:spMk id="30" creationId="{00000000-0000-0000-0000-000000000000}"/>
          </ac:spMkLst>
        </pc:spChg>
      </pc:sldChg>
      <pc:sldChg chg="modSp mod">
        <pc:chgData name="John Fajardo" userId="dcc6950d-48e1-4bc5-a8d4-da3eedd51ef7" providerId="ADAL" clId="{C32C1EDC-26CE-480B-95CF-36B5D454BF85}" dt="2026-10-11T07:39:43.086" v="573" actId="14100"/>
        <pc:sldMkLst>
          <pc:docMk/>
          <pc:sldMk cId="0" sldId="264"/>
        </pc:sldMkLst>
        <pc:spChg chg="mod">
          <ac:chgData name="John Fajardo" userId="dcc6950d-48e1-4bc5-a8d4-da3eedd51ef7" providerId="ADAL" clId="{C32C1EDC-26CE-480B-95CF-36B5D454BF85}" dt="2026-10-11T07:34:28.891" v="407" actId="6549"/>
          <ac:spMkLst>
            <pc:docMk/>
            <pc:sldMk cId="0" sldId="264"/>
            <ac:spMk id="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5:20.673" v="520" actId="33524"/>
          <ac:spMkLst>
            <pc:docMk/>
            <pc:sldMk cId="0" sldId="264"/>
            <ac:spMk id="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01.944" v="287" actId="403"/>
          <ac:spMkLst>
            <pc:docMk/>
            <pc:sldMk cId="0" sldId="264"/>
            <ac:spMk id="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2:23.199" v="320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01.944" v="287" actId="403"/>
          <ac:spMkLst>
            <pc:docMk/>
            <pc:sldMk cId="0" sldId="264"/>
            <ac:spMk id="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0:35.704" v="280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2:23.199" v="320" actId="40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01.944" v="287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2:23.199" v="320" actId="40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01.944" v="287" actId="403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0:35.704" v="280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2:23.199" v="320" actId="403"/>
          <ac:spMkLst>
            <pc:docMk/>
            <pc:sldMk cId="0" sldId="264"/>
            <ac:spMk id="1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3:10.229" v="321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14.019" v="289" actId="14100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0:35.704" v="280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0:55.326" v="285" actId="403"/>
          <ac:spMkLst>
            <pc:docMk/>
            <pc:sldMk cId="0" sldId="264"/>
            <ac:spMk id="2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20.855" v="292" actId="14100"/>
          <ac:spMkLst>
            <pc:docMk/>
            <pc:sldMk cId="0" sldId="264"/>
            <ac:spMk id="2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16.101" v="290" actId="14100"/>
          <ac:spMkLst>
            <pc:docMk/>
            <pc:sldMk cId="0" sldId="264"/>
            <ac:spMk id="2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0:35.704" v="280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50.148" v="302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51.794" v="303" actId="107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17.970" v="291" actId="14100"/>
          <ac:spMkLst>
            <pc:docMk/>
            <pc:sldMk cId="0" sldId="264"/>
            <ac:spMk id="2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0:35.704" v="280" actId="107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47.979" v="301" actId="107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1:46.424" v="300" actId="1076"/>
          <ac:spMkLst>
            <pc:docMk/>
            <pc:sldMk cId="0" sldId="264"/>
            <ac:spMk id="3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0:40.115" v="281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2:13.819" v="318" actId="14100"/>
          <ac:spMkLst>
            <pc:docMk/>
            <pc:sldMk cId="0" sldId="264"/>
            <ac:spMk id="3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43.086" v="573" actId="14100"/>
          <ac:spMkLst>
            <pc:docMk/>
            <pc:sldMk cId="0" sldId="264"/>
            <ac:spMk id="35" creationId="{00000000-0000-0000-0000-000000000000}"/>
          </ac:spMkLst>
        </pc:spChg>
      </pc:sldChg>
      <pc:sldChg chg="modSp mod">
        <pc:chgData name="John Fajardo" userId="dcc6950d-48e1-4bc5-a8d4-da3eedd51ef7" providerId="ADAL" clId="{C32C1EDC-26CE-480B-95CF-36B5D454BF85}" dt="2026-10-11T07:37:49.423" v="557" actId="1076"/>
        <pc:sldMkLst>
          <pc:docMk/>
          <pc:sldMk cId="0" sldId="265"/>
        </pc:sldMkLst>
        <pc:spChg chg="mod">
          <ac:chgData name="John Fajardo" userId="dcc6950d-48e1-4bc5-a8d4-da3eedd51ef7" providerId="ADAL" clId="{C32C1EDC-26CE-480B-95CF-36B5D454BF85}" dt="2026-10-11T07:37:20.200" v="551" actId="6549"/>
          <ac:spMkLst>
            <pc:docMk/>
            <pc:sldMk cId="0" sldId="265"/>
            <ac:spMk id="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7:09.213" v="541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7:33.689" v="553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05.043" v="529" actId="403"/>
          <ac:spMkLst>
            <pc:docMk/>
            <pc:sldMk cId="0" sldId="265"/>
            <ac:spMk id="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7:28.601" v="552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7:38.032" v="554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05.043" v="529" actId="40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7:33.689" v="553" actId="403"/>
          <ac:spMkLst>
            <pc:docMk/>
            <pc:sldMk cId="0" sldId="265"/>
            <ac:spMk id="1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7:41.196" v="555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05.043" v="529" actId="403"/>
          <ac:spMkLst>
            <pc:docMk/>
            <pc:sldMk cId="0" sldId="265"/>
            <ac:spMk id="2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7:33.689" v="553" actId="403"/>
          <ac:spMkLst>
            <pc:docMk/>
            <pc:sldMk cId="0" sldId="265"/>
            <ac:spMk id="2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09.444" v="530" actId="14100"/>
          <ac:spMkLst>
            <pc:docMk/>
            <pc:sldMk cId="0" sldId="265"/>
            <ac:spMk id="2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33.967" v="536" actId="403"/>
          <ac:spMkLst>
            <pc:docMk/>
            <pc:sldMk cId="0" sldId="265"/>
            <ac:spMk id="2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51.542" v="538" actId="255"/>
          <ac:spMkLst>
            <pc:docMk/>
            <pc:sldMk cId="0" sldId="265"/>
            <ac:spMk id="2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05.043" v="529" actId="403"/>
          <ac:spMkLst>
            <pc:docMk/>
            <pc:sldMk cId="0" sldId="265"/>
            <ac:spMk id="2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19.672" v="532" actId="403"/>
          <ac:spMkLst>
            <pc:docMk/>
            <pc:sldMk cId="0" sldId="265"/>
            <ac:spMk id="2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33.967" v="536" actId="403"/>
          <ac:spMkLst>
            <pc:docMk/>
            <pc:sldMk cId="0" sldId="265"/>
            <ac:spMk id="2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19.672" v="532" actId="403"/>
          <ac:spMkLst>
            <pc:docMk/>
            <pc:sldMk cId="0" sldId="265"/>
            <ac:spMk id="3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33.967" v="536" actId="403"/>
          <ac:spMkLst>
            <pc:docMk/>
            <pc:sldMk cId="0" sldId="265"/>
            <ac:spMk id="3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05.043" v="529" actId="403"/>
          <ac:spMkLst>
            <pc:docMk/>
            <pc:sldMk cId="0" sldId="265"/>
            <ac:spMk id="3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05.043" v="529" actId="403"/>
          <ac:spMkLst>
            <pc:docMk/>
            <pc:sldMk cId="0" sldId="265"/>
            <ac:spMk id="3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19.672" v="532" actId="403"/>
          <ac:spMkLst>
            <pc:docMk/>
            <pc:sldMk cId="0" sldId="265"/>
            <ac:spMk id="3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33.967" v="536" actId="403"/>
          <ac:spMkLst>
            <pc:docMk/>
            <pc:sldMk cId="0" sldId="265"/>
            <ac:spMk id="3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19.672" v="532" actId="403"/>
          <ac:spMkLst>
            <pc:docMk/>
            <pc:sldMk cId="0" sldId="265"/>
            <ac:spMk id="4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56.937" v="540" actId="404"/>
          <ac:spMkLst>
            <pc:docMk/>
            <pc:sldMk cId="0" sldId="265"/>
            <ac:spMk id="42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6:19.672" v="532" actId="403"/>
          <ac:spMkLst>
            <pc:docMk/>
            <pc:sldMk cId="0" sldId="265"/>
            <ac:spMk id="4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7:44.859" v="556" actId="14100"/>
          <ac:spMkLst>
            <pc:docMk/>
            <pc:sldMk cId="0" sldId="265"/>
            <ac:spMk id="4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7:49.423" v="557" actId="1076"/>
          <ac:spMkLst>
            <pc:docMk/>
            <pc:sldMk cId="0" sldId="265"/>
            <ac:spMk id="4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5:55.484" v="525" actId="14100"/>
          <ac:spMkLst>
            <pc:docMk/>
            <pc:sldMk cId="0" sldId="265"/>
            <ac:spMk id="47" creationId="{00000000-0000-0000-0000-000000000000}"/>
          </ac:spMkLst>
        </pc:spChg>
      </pc:sldChg>
      <pc:sldChg chg="add del setBg">
        <pc:chgData name="John Fajardo" userId="dcc6950d-48e1-4bc5-a8d4-da3eedd51ef7" providerId="ADAL" clId="{C32C1EDC-26CE-480B-95CF-36B5D454BF85}" dt="2026-10-11T07:08:45.417" v="23"/>
        <pc:sldMkLst>
          <pc:docMk/>
          <pc:sldMk cId="0" sldId="266"/>
        </pc:sldMkLst>
      </pc:sldChg>
      <pc:sldChg chg="addSp delSp modSp add mod">
        <pc:chgData name="John Fajardo" userId="dcc6950d-48e1-4bc5-a8d4-da3eedd51ef7" providerId="ADAL" clId="{C32C1EDC-26CE-480B-95CF-36B5D454BF85}" dt="2026-10-11T07:41:59.653" v="631" actId="1076"/>
        <pc:sldMkLst>
          <pc:docMk/>
          <pc:sldMk cId="1531573921" sldId="266"/>
        </pc:sldMkLst>
        <pc:spChg chg="mod">
          <ac:chgData name="John Fajardo" userId="dcc6950d-48e1-4bc5-a8d4-da3eedd51ef7" providerId="ADAL" clId="{C32C1EDC-26CE-480B-95CF-36B5D454BF85}" dt="2026-10-11T07:41:56.469" v="630" actId="20577"/>
          <ac:spMkLst>
            <pc:docMk/>
            <pc:sldMk cId="1531573921" sldId="266"/>
            <ac:spMk id="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41:59.653" v="631" actId="1076"/>
          <ac:spMkLst>
            <pc:docMk/>
            <pc:sldMk cId="1531573921" sldId="266"/>
            <ac:spMk id="5" creationId="{00000000-0000-0000-0000-000000000000}"/>
          </ac:spMkLst>
        </pc:spChg>
        <pc:spChg chg="del mod">
          <ac:chgData name="John Fajardo" userId="dcc6950d-48e1-4bc5-a8d4-da3eedd51ef7" providerId="ADAL" clId="{C32C1EDC-26CE-480B-95CF-36B5D454BF85}" dt="2026-10-11T07:40:30.094" v="575" actId="478"/>
          <ac:spMkLst>
            <pc:docMk/>
            <pc:sldMk cId="1531573921" sldId="266"/>
            <ac:spMk id="6" creationId="{00000000-0000-0000-0000-000000000000}"/>
          </ac:spMkLst>
        </pc:spChg>
        <pc:spChg chg="del mod">
          <ac:chgData name="John Fajardo" userId="dcc6950d-48e1-4bc5-a8d4-da3eedd51ef7" providerId="ADAL" clId="{C32C1EDC-26CE-480B-95CF-36B5D454BF85}" dt="2026-10-11T07:40:31.114" v="576" actId="478"/>
          <ac:spMkLst>
            <pc:docMk/>
            <pc:sldMk cId="1531573921" sldId="266"/>
            <ac:spMk id="7" creationId="{00000000-0000-0000-0000-000000000000}"/>
          </ac:spMkLst>
        </pc:spChg>
        <pc:spChg chg="del mod">
          <ac:chgData name="John Fajardo" userId="dcc6950d-48e1-4bc5-a8d4-da3eedd51ef7" providerId="ADAL" clId="{C32C1EDC-26CE-480B-95CF-36B5D454BF85}" dt="2026-10-11T07:40:31.895" v="577" actId="478"/>
          <ac:spMkLst>
            <pc:docMk/>
            <pc:sldMk cId="1531573921" sldId="266"/>
            <ac:spMk id="8" creationId="{00000000-0000-0000-0000-000000000000}"/>
          </ac:spMkLst>
        </pc:spChg>
        <pc:spChg chg="del mod">
          <ac:chgData name="John Fajardo" userId="dcc6950d-48e1-4bc5-a8d4-da3eedd51ef7" providerId="ADAL" clId="{C32C1EDC-26CE-480B-95CF-36B5D454BF85}" dt="2026-10-11T07:40:33.556" v="578" actId="478"/>
          <ac:spMkLst>
            <pc:docMk/>
            <pc:sldMk cId="1531573921" sldId="266"/>
            <ac:spMk id="9" creationId="{00000000-0000-0000-0000-000000000000}"/>
          </ac:spMkLst>
        </pc:spChg>
        <pc:spChg chg="add mod">
          <ac:chgData name="John Fajardo" userId="dcc6950d-48e1-4bc5-a8d4-da3eedd51ef7" providerId="ADAL" clId="{C32C1EDC-26CE-480B-95CF-36B5D454BF85}" dt="2026-10-11T07:11:19.531" v="44" actId="20577"/>
          <ac:spMkLst>
            <pc:docMk/>
            <pc:sldMk cId="1531573921" sldId="266"/>
            <ac:spMk id="12" creationId="{5AA29DD4-FF0A-2C3B-52B1-068DB3594130}"/>
          </ac:spMkLst>
        </pc:spChg>
      </pc:sldChg>
      <pc:sldChg chg="add del ord">
        <pc:chgData name="John Fajardo" userId="dcc6950d-48e1-4bc5-a8d4-da3eedd51ef7" providerId="ADAL" clId="{C32C1EDC-26CE-480B-95CF-36B5D454BF85}" dt="2026-10-11T07:38:25.159" v="558" actId="2696"/>
        <pc:sldMkLst>
          <pc:docMk/>
          <pc:sldMk cId="213787598" sldId="267"/>
        </pc:sldMkLst>
      </pc:sldChg>
      <pc:sldChg chg="delSp modSp add mod">
        <pc:chgData name="John Fajardo" userId="dcc6950d-48e1-4bc5-a8d4-da3eedd51ef7" providerId="ADAL" clId="{C32C1EDC-26CE-480B-95CF-36B5D454BF85}" dt="2026-10-11T07:49:46.295" v="683" actId="1076"/>
        <pc:sldMkLst>
          <pc:docMk/>
          <pc:sldMk cId="3476569568" sldId="267"/>
        </pc:sldMkLst>
        <pc:spChg chg="mod">
          <ac:chgData name="John Fajardo" userId="dcc6950d-48e1-4bc5-a8d4-da3eedd51ef7" providerId="ADAL" clId="{C32C1EDC-26CE-480B-95CF-36B5D454BF85}" dt="2026-10-11T07:49:46.295" v="683" actId="1076"/>
          <ac:spMkLst>
            <pc:docMk/>
            <pc:sldMk cId="3476569568" sldId="267"/>
            <ac:spMk id="2" creationId="{00000000-0000-0000-0000-000000000000}"/>
          </ac:spMkLst>
        </pc:spChg>
        <pc:spChg chg="del mod">
          <ac:chgData name="John Fajardo" userId="dcc6950d-48e1-4bc5-a8d4-da3eedd51ef7" providerId="ADAL" clId="{C32C1EDC-26CE-480B-95CF-36B5D454BF85}" dt="2026-10-11T07:49:43.485" v="682" actId="478"/>
          <ac:spMkLst>
            <pc:docMk/>
            <pc:sldMk cId="3476569568" sldId="267"/>
            <ac:spMk id="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30.558" v="571" actId="1076"/>
          <ac:spMkLst>
            <pc:docMk/>
            <pc:sldMk cId="3476569568" sldId="267"/>
            <ac:spMk id="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30.558" v="571" actId="1076"/>
          <ac:spMkLst>
            <pc:docMk/>
            <pc:sldMk cId="3476569568" sldId="267"/>
            <ac:spMk id="6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30.558" v="571" actId="1076"/>
          <ac:spMkLst>
            <pc:docMk/>
            <pc:sldMk cId="3476569568" sldId="267"/>
            <ac:spMk id="7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30.558" v="571" actId="1076"/>
          <ac:spMkLst>
            <pc:docMk/>
            <pc:sldMk cId="3476569568" sldId="267"/>
            <ac:spMk id="8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30.558" v="571" actId="1076"/>
          <ac:spMkLst>
            <pc:docMk/>
            <pc:sldMk cId="3476569568" sldId="267"/>
            <ac:spMk id="9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30.558" v="571" actId="1076"/>
          <ac:spMkLst>
            <pc:docMk/>
            <pc:sldMk cId="3476569568" sldId="267"/>
            <ac:spMk id="10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30.558" v="571" actId="1076"/>
          <ac:spMkLst>
            <pc:docMk/>
            <pc:sldMk cId="3476569568" sldId="267"/>
            <ac:spMk id="11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30.558" v="571" actId="1076"/>
          <ac:spMkLst>
            <pc:docMk/>
            <pc:sldMk cId="3476569568" sldId="267"/>
            <ac:spMk id="13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30.558" v="571" actId="1076"/>
          <ac:spMkLst>
            <pc:docMk/>
            <pc:sldMk cId="3476569568" sldId="267"/>
            <ac:spMk id="14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30.558" v="571" actId="1076"/>
          <ac:spMkLst>
            <pc:docMk/>
            <pc:sldMk cId="3476569568" sldId="267"/>
            <ac:spMk id="15" creationId="{00000000-0000-0000-0000-000000000000}"/>
          </ac:spMkLst>
        </pc:spChg>
        <pc:spChg chg="mod">
          <ac:chgData name="John Fajardo" userId="dcc6950d-48e1-4bc5-a8d4-da3eedd51ef7" providerId="ADAL" clId="{C32C1EDC-26CE-480B-95CF-36B5D454BF85}" dt="2026-10-11T07:39:48.305" v="574" actId="1076"/>
          <ac:spMkLst>
            <pc:docMk/>
            <pc:sldMk cId="3476569568" sldId="267"/>
            <ac:spMk id="25" creationId="{00000000-0000-0000-0000-000000000000}"/>
          </ac:spMkLst>
        </pc:spChg>
      </pc:sldChg>
      <pc:sldMasterChg chg="delSp mod">
        <pc:chgData name="John Fajardo" userId="dcc6950d-48e1-4bc5-a8d4-da3eedd51ef7" providerId="ADAL" clId="{C32C1EDC-26CE-480B-95CF-36B5D454BF85}" dt="2026-10-11T07:18:35.217" v="127" actId="33475"/>
        <pc:sldMasterMkLst>
          <pc:docMk/>
          <pc:sldMasterMk cId="0" sldId="2147483648"/>
        </pc:sldMasterMkLst>
        <pc:spChg chg="del">
          <ac:chgData name="John Fajardo" userId="dcc6950d-48e1-4bc5-a8d4-da3eedd51ef7" providerId="ADAL" clId="{C32C1EDC-26CE-480B-95CF-36B5D454BF85}" dt="2026-10-11T07:18:35.217" v="127" actId="33475"/>
          <ac:spMkLst>
            <pc:docMk/>
            <pc:sldMasterMk cId="0" sldId="2147483648"/>
            <ac:spMk id="3" creationId="{AD62DBF4-1000-C062-093D-F75CCD605601}"/>
          </ac:spMkLst>
        </pc:spChg>
      </pc:sldMasterChg>
      <pc:sldMasterChg chg="delSp mod delSldLayout">
        <pc:chgData name="John Fajardo" userId="dcc6950d-48e1-4bc5-a8d4-da3eedd51ef7" providerId="ADAL" clId="{C32C1EDC-26CE-480B-95CF-36B5D454BF85}" dt="2026-10-11T07:38:25.159" v="558" actId="2696"/>
        <pc:sldMasterMkLst>
          <pc:docMk/>
          <pc:sldMasterMk cId="918270168" sldId="2147483651"/>
        </pc:sldMasterMkLst>
        <pc:spChg chg="del">
          <ac:chgData name="John Fajardo" userId="dcc6950d-48e1-4bc5-a8d4-da3eedd51ef7" providerId="ADAL" clId="{C32C1EDC-26CE-480B-95CF-36B5D454BF85}" dt="2026-10-11T07:18:35.217" v="127" actId="33475"/>
          <ac:spMkLst>
            <pc:docMk/>
            <pc:sldMasterMk cId="918270168" sldId="2147483651"/>
            <ac:spMk id="3" creationId="{D1140C9F-4675-38D2-F4D6-F2C2BD170121}"/>
          </ac:spMkLst>
        </pc:spChg>
        <pc:sldLayoutChg chg="del">
          <pc:chgData name="John Fajardo" userId="dcc6950d-48e1-4bc5-a8d4-da3eedd51ef7" providerId="ADAL" clId="{C32C1EDC-26CE-480B-95CF-36B5D454BF85}" dt="2026-10-11T07:38:25.159" v="558" actId="2696"/>
          <pc:sldLayoutMkLst>
            <pc:docMk/>
            <pc:sldMasterMk cId="918270168" sldId="2147483651"/>
            <pc:sldLayoutMk cId="4174516028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Fajardo_Capstone_Clustering_Mktg_Campaign v5.pdf, pages 1–19.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765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John_Fajardo_Capstone.docx, Problem Understanding &amp; Framing.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John_Fajardo_Capstone.docx, end-to-end workflow and success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John_Fajardo_Capstone.docx, Data Collection &amp; Understanding.
Fajardo_Capstone_KMeans.pdf, dataset shape and missing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John_Fajardo_Capstone.docx, feature categories and data dictionary.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John_Fajardo_Capstone.docx, data dictionary and critical thinking.
Fajardo_Capstone_KMeans.pdf, descriptive statistics and response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John_Fajardo_Capstone.docx, preprocessing and StandardScaler.
Fajardo_John_Capstone_Clustering.pdf, one-hot encoding and filter ranges.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John_Fajardo_Capstone.docx, correlation heatmap findings and EDA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John_Fajardo_Capstone.docx, Model Implementation.
Fajardo_Capstone_KMeans.pdf, K-Means k=2 and silhouette 0.44.
Fajardo_John_Capstone_Clustering_PCA.pdf, DBSCAN and PCA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John_Fajardo_Capstone.docx, model results and business insights.
Fajardo_John_Capstone_Clustering_PCA.pdf, reported DBSCAN silhouette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Fajardo_Capstone_Clustering_Mktg_Campaign v5.pdf, pages 17–19. Segment names are business interpretations of the plotted clusters.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335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John_Fajardo_Capstone.docx, Critical Thinking, Ethical AI and Bias Auditing.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4B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PERSONALITY SEGMENTATION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C7D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 A. FAJARDO  |  BUSINESS LEADERSHIP BRIEF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84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2103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70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ork_deck/generated_image_2C901623EA0A_01.png"/>
          <p:cNvPicPr>
            <a:picLocks noChangeAspect="1"/>
          </p:cNvPicPr>
          <p:nvPr/>
        </p:nvPicPr>
        <p:blipFill>
          <a:blip r:embed="rId3"/>
          <a:srcRect l="19867" r="19867"/>
          <a:stretch/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0B2F3A">
              <a:alpha val="32000"/>
            </a:srgbClr>
          </a:solidFill>
          <a:ln w="12700">
            <a:solidFill>
              <a:srgbClr val="0B2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1"/>
          <p:cNvSpPr/>
          <p:nvPr/>
        </p:nvSpPr>
        <p:spPr>
          <a:xfrm>
            <a:off x="621792" y="425196"/>
            <a:ext cx="521208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CUSTOMER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SEGMENTATION FOR SMARTER GROWTH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4944" y="2434590"/>
            <a:ext cx="470916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D8EAE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Turning customer personality clusters into focused campaigns, channels, and offers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3232" y="6053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9C7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Business-facing recommendation | Customer clustering evaluation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5AA29DD4-FF0A-2C3B-52B1-068DB3594130}"/>
              </a:ext>
            </a:extLst>
          </p:cNvPr>
          <p:cNvSpPr/>
          <p:nvPr/>
        </p:nvSpPr>
        <p:spPr>
          <a:xfrm>
            <a:off x="713232" y="4160520"/>
            <a:ext cx="470916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r>
              <a:rPr lang="en-US" dirty="0">
                <a:solidFill>
                  <a:srgbClr val="D8EAEC"/>
                </a:solidFill>
                <a:latin typeface="Aptos"/>
              </a:rPr>
              <a:t>JOHN A. FAJARDO</a:t>
            </a:r>
          </a:p>
          <a:p>
            <a:r>
              <a:rPr lang="en-US" dirty="0">
                <a:solidFill>
                  <a:srgbClr val="D8EAEC"/>
                </a:solidFill>
                <a:latin typeface="Aptos"/>
              </a:rPr>
              <a:t>Student – AIM PGDAIML</a:t>
            </a:r>
          </a:p>
          <a:p>
            <a:endParaRPr lang="en-US" dirty="0">
              <a:solidFill>
                <a:srgbClr val="D8EAEC"/>
              </a:solidFill>
              <a:latin typeface="Aptos"/>
            </a:endParaRPr>
          </a:p>
          <a:p>
            <a:r>
              <a:rPr lang="en-US" dirty="0">
                <a:solidFill>
                  <a:srgbClr val="D8EAEC"/>
                </a:solidFill>
                <a:latin typeface="Aptos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53157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/hero.png"/>
          <p:cNvPicPr>
            <a:picLocks noChangeAspect="1"/>
          </p:cNvPicPr>
          <p:nvPr/>
        </p:nvPicPr>
        <p:blipFill>
          <a:blip r:embed="rId3"/>
          <a:srcRect l="15123" r="15123"/>
          <a:stretch/>
        </p:blipFill>
        <p:spPr>
          <a:xfrm>
            <a:off x="5166360" y="146304"/>
            <a:ext cx="7022592" cy="6711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8719" y="0"/>
            <a:ext cx="6080760" cy="6711696"/>
          </a:xfrm>
          <a:prstGeom prst="rect">
            <a:avLst/>
          </a:prstGeom>
          <a:solidFill>
            <a:srgbClr val="0B1F33">
              <a:alpha val="98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1"/>
          <p:cNvSpPr/>
          <p:nvPr/>
        </p:nvSpPr>
        <p:spPr>
          <a:xfrm>
            <a:off x="4937760" y="146304"/>
            <a:ext cx="2103120" cy="6711696"/>
          </a:xfrm>
          <a:prstGeom prst="rect">
            <a:avLst/>
          </a:prstGeom>
          <a:solidFill>
            <a:srgbClr val="0B1F33">
              <a:alpha val="82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598932" y="850606"/>
            <a:ext cx="5080236" cy="177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D9E4EE"/>
                </a:solidFill>
              </a:rPr>
              <a:t>Problem framing: move from broad, costly marketing to focused customer strategies by people, product, promotion and placement.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317296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1677A8"/>
          </a:solidFill>
          <a:ln w="12700">
            <a:solidFill>
              <a:srgbClr val="1677A8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/>
          <p:nvPr/>
        </p:nvSpPr>
        <p:spPr>
          <a:xfrm>
            <a:off x="713232" y="322783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PEOPLE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01952" y="317296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14A6A1"/>
          </a:solidFill>
          <a:ln w="12700">
            <a:solidFill>
              <a:srgbClr val="14A6A1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Text 7"/>
          <p:cNvSpPr/>
          <p:nvPr/>
        </p:nvSpPr>
        <p:spPr>
          <a:xfrm>
            <a:off x="1975104" y="322783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63824" y="317296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3236976" y="322783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PROMOTION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25696" y="317296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7568B2"/>
          </a:solidFill>
          <a:ln w="12700">
            <a:solidFill>
              <a:srgbClr val="7568B2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/>
          <p:nvPr/>
        </p:nvSpPr>
        <p:spPr>
          <a:xfrm>
            <a:off x="4498848" y="322783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8932" y="4322772"/>
            <a:ext cx="2638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9A23B"/>
                </a:solidFill>
              </a:rPr>
              <a:t>Leadership question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8932" y="4666523"/>
            <a:ext cx="50802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Where should we focus limited resources to improve response, revenue and cost-to-serve?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96024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The clustering workflow links model quality to business value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9786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D6B79"/>
                </a:solidFill>
              </a:rPr>
              <a:t>Success requires technically coherent segments that can be activated, measured and governed.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0352" cy="530352"/>
          </a:xfrm>
          <a:prstGeom prst="ellipse">
            <a:avLst/>
          </a:prstGeom>
          <a:solidFill>
            <a:srgbClr val="1677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594360" y="1956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16152" y="1993392"/>
            <a:ext cx="1051560" cy="201168"/>
          </a:xfrm>
          <a:prstGeom prst="chevron">
            <a:avLst/>
          </a:prstGeom>
          <a:solidFill>
            <a:srgbClr val="CBD6DF"/>
          </a:solidFill>
          <a:ln w="1270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502920" y="2542032"/>
            <a:ext cx="1037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3"/>
                </a:solidFill>
              </a:rPr>
              <a:t>Prepare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Clean, encode and engineer customer behavior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828800"/>
            <a:ext cx="530352" cy="530352"/>
          </a:xfrm>
          <a:prstGeom prst="ellipse">
            <a:avLst/>
          </a:prstGeom>
          <a:solidFill>
            <a:srgbClr val="1677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2487168" y="1956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993392"/>
            <a:ext cx="1051560" cy="201168"/>
          </a:xfrm>
          <a:prstGeom prst="chevron">
            <a:avLst/>
          </a:prstGeom>
          <a:solidFill>
            <a:srgbClr val="CBD6DF"/>
          </a:solidFill>
          <a:ln w="1270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2395728" y="2542032"/>
            <a:ext cx="1037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3"/>
                </a:solidFill>
              </a:rPr>
              <a:t>Scale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67128" y="28803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Standardize features for distance-based models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9976" y="1828800"/>
            <a:ext cx="530352" cy="530352"/>
          </a:xfrm>
          <a:prstGeom prst="ellipse">
            <a:avLst/>
          </a:prstGeom>
          <a:solidFill>
            <a:srgbClr val="1677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4379976" y="1956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1993392"/>
            <a:ext cx="1051560" cy="201168"/>
          </a:xfrm>
          <a:prstGeom prst="chevron">
            <a:avLst/>
          </a:prstGeom>
          <a:solidFill>
            <a:srgbClr val="CBD6DF"/>
          </a:solidFill>
          <a:ln w="1270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4288536" y="2542032"/>
            <a:ext cx="1037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3"/>
                </a:solidFill>
              </a:rPr>
              <a:t>Reduce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59936" y="28803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Use PCA where needed to simplify 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2784" y="1828800"/>
            <a:ext cx="530352" cy="530352"/>
          </a:xfrm>
          <a:prstGeom prst="ellipse">
            <a:avLst/>
          </a:prstGeom>
          <a:solidFill>
            <a:srgbClr val="1677A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6272784" y="1956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94576" y="1993392"/>
            <a:ext cx="1051560" cy="201168"/>
          </a:xfrm>
          <a:prstGeom prst="chevron">
            <a:avLst/>
          </a:prstGeom>
          <a:solidFill>
            <a:srgbClr val="CBD6DF"/>
          </a:solidFill>
          <a:ln w="1270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6181344" y="2542032"/>
            <a:ext cx="1037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3"/>
                </a:solidFill>
              </a:rPr>
              <a:t>Cluster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52744" y="28803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Compare K-Means and DBSCAN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65592" y="1828800"/>
            <a:ext cx="530352" cy="530352"/>
          </a:xfrm>
          <a:prstGeom prst="ellipse">
            <a:avLst/>
          </a:prstGeom>
          <a:solidFill>
            <a:srgbClr val="14A6A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8165592" y="1956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87384" y="1993392"/>
            <a:ext cx="1051560" cy="201168"/>
          </a:xfrm>
          <a:prstGeom prst="chevron">
            <a:avLst/>
          </a:prstGeom>
          <a:solidFill>
            <a:srgbClr val="CBD6DF"/>
          </a:solidFill>
          <a:ln w="12700">
            <a:solidFill>
              <a:srgbClr val="CBD6D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8074152" y="2542032"/>
            <a:ext cx="1037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3"/>
                </a:solidFill>
              </a:rPr>
              <a:t>Validate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845552" y="28803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Elbow + silhouette + stability checks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58400" y="1828800"/>
            <a:ext cx="530352" cy="530352"/>
          </a:xfrm>
          <a:prstGeom prst="ellipse">
            <a:avLst/>
          </a:prstGeom>
          <a:solidFill>
            <a:srgbClr val="14A6A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10058400" y="1956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66960" y="2542032"/>
            <a:ext cx="1037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F33"/>
                </a:solidFill>
              </a:rPr>
              <a:t>Activate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738360" y="28803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Profile segments and pilot campaigns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3977640"/>
            <a:ext cx="33832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4" name="Shape 32"/>
          <p:cNvSpPr/>
          <p:nvPr/>
        </p:nvSpPr>
        <p:spPr>
          <a:xfrm>
            <a:off x="685800" y="3977640"/>
            <a:ext cx="73152" cy="1554480"/>
          </a:xfrm>
          <a:prstGeom prst="rect">
            <a:avLst/>
          </a:prstGeom>
          <a:solidFill>
            <a:srgbClr val="1677A8"/>
          </a:solidFill>
          <a:ln w="1270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/>
          <p:nvPr/>
        </p:nvSpPr>
        <p:spPr>
          <a:xfrm>
            <a:off x="914400" y="4142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Technical success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4507992"/>
            <a:ext cx="29718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Silhouette score for separation and compactness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Elbow method for practical cluster count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Stability across feature sets and seeds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407408" y="3977640"/>
            <a:ext cx="33832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8" name="Shape 36"/>
          <p:cNvSpPr/>
          <p:nvPr/>
        </p:nvSpPr>
        <p:spPr>
          <a:xfrm>
            <a:off x="4407408" y="3977640"/>
            <a:ext cx="73152" cy="1554480"/>
          </a:xfrm>
          <a:prstGeom prst="rect">
            <a:avLst/>
          </a:prstGeom>
          <a:solidFill>
            <a:srgbClr val="14A6A1"/>
          </a:solidFill>
          <a:ln w="12700">
            <a:solidFill>
              <a:srgbClr val="14A6A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9" name="Text 37"/>
          <p:cNvSpPr/>
          <p:nvPr/>
        </p:nvSpPr>
        <p:spPr>
          <a:xfrm>
            <a:off x="4636008" y="4142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Business success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36008" y="4507992"/>
            <a:ext cx="29718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Lower marketing cost and cost-to-serve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Higher sales revenue or campaign uplift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Clear, actionable segment profiles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38160" y="3977640"/>
            <a:ext cx="33832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2400"/>
          </a:p>
        </p:txBody>
      </p:sp>
      <p:sp>
        <p:nvSpPr>
          <p:cNvPr id="42" name="Shape 40"/>
          <p:cNvSpPr/>
          <p:nvPr/>
        </p:nvSpPr>
        <p:spPr>
          <a:xfrm>
            <a:off x="8138160" y="3977640"/>
            <a:ext cx="73152" cy="15544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3" name="Text 41"/>
          <p:cNvSpPr/>
          <p:nvPr/>
        </p:nvSpPr>
        <p:spPr>
          <a:xfrm>
            <a:off x="8366760" y="4142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Governance success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66760" y="4507992"/>
            <a:ext cx="297180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No leakage from outcome-like fields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Fair targeting across customer groups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Pilot versus control before scale</a:t>
            </a:r>
            <a:endParaRPr lang="en-US" sz="12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8138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Data source: Kaggle Customer Personality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9"/>
                </a:solidFill>
              </a:rPr>
              <a:t>A public marketing dataset supports exploratory segmentation, not production deployment without further validation.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320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1677A8"/>
          </a:solidFill>
          <a:ln w="1270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868680" y="1764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2,240 customers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130552"/>
            <a:ext cx="23317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Rows in the original dataset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84448" y="1600200"/>
            <a:ext cx="27432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3200"/>
          </a:p>
        </p:txBody>
      </p:sp>
      <p:sp>
        <p:nvSpPr>
          <p:cNvPr id="9" name="Shape 7"/>
          <p:cNvSpPr/>
          <p:nvPr/>
        </p:nvSpPr>
        <p:spPr>
          <a:xfrm>
            <a:off x="3584448" y="1600200"/>
            <a:ext cx="73152" cy="1508760"/>
          </a:xfrm>
          <a:prstGeom prst="rect">
            <a:avLst/>
          </a:prstGeom>
          <a:solidFill>
            <a:srgbClr val="14A6A1"/>
          </a:solidFill>
          <a:ln w="12700">
            <a:solidFill>
              <a:srgbClr val="14A6A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3813048" y="1764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28 variables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13048" y="2130552"/>
            <a:ext cx="23317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25 integer, 1 float, 2 categorical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28816" y="160020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3200"/>
          </a:p>
        </p:txBody>
      </p:sp>
      <p:sp>
        <p:nvSpPr>
          <p:cNvPr id="13" name="Shape 11"/>
          <p:cNvSpPr/>
          <p:nvPr/>
        </p:nvSpPr>
        <p:spPr>
          <a:xfrm>
            <a:off x="6528816" y="1600200"/>
            <a:ext cx="73152" cy="150876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6757416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24 missing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57416" y="2130552"/>
            <a:ext cx="19202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Income values are missing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3200"/>
          </a:p>
        </p:txBody>
      </p:sp>
      <p:sp>
        <p:nvSpPr>
          <p:cNvPr id="17" name="Shape 15"/>
          <p:cNvSpPr/>
          <p:nvPr/>
        </p:nvSpPr>
        <p:spPr>
          <a:xfrm>
            <a:off x="9052560" y="1600200"/>
            <a:ext cx="73152" cy="1508760"/>
          </a:xfrm>
          <a:prstGeom prst="rect">
            <a:avLst/>
          </a:prstGeom>
          <a:solidFill>
            <a:srgbClr val="3E9B77"/>
          </a:solidFill>
          <a:ln w="12700">
            <a:solidFill>
              <a:srgbClr val="3E9B7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9281160" y="1764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0 duplicates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81160" y="2130552"/>
            <a:ext cx="19202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No duplicated rows reported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10972800" cy="205740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754380" y="3867911"/>
            <a:ext cx="1632204" cy="115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</a:rPr>
              <a:t>What the dataset captures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3291840" y="3813048"/>
            <a:ext cx="438912" cy="438912"/>
          </a:xfrm>
          <a:prstGeom prst="ellipse">
            <a:avLst/>
          </a:prstGeom>
          <a:solidFill>
            <a:srgbClr val="1677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3291840" y="392277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45962" y="4443984"/>
            <a:ext cx="1850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3D"/>
                </a:solidFill>
              </a:rPr>
              <a:t>Customer profile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82112" y="481888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Identity, household, recency and complaint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0" y="3813048"/>
            <a:ext cx="438912" cy="438912"/>
          </a:xfrm>
          <a:prstGeom prst="ellipse">
            <a:avLst/>
          </a:prstGeom>
          <a:solidFill>
            <a:srgbClr val="14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5303520" y="392277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11709" y="4443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3D"/>
                </a:solidFill>
              </a:rPr>
              <a:t>Product spend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93792" y="47365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Wine, fruit, meat, fish, sweets and gold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3813048"/>
            <a:ext cx="438912" cy="43891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/>
          <p:nvPr/>
        </p:nvSpPr>
        <p:spPr>
          <a:xfrm>
            <a:off x="7315200" y="392277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05472" y="4443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3D"/>
                </a:solidFill>
              </a:rPr>
              <a:t>Promotion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205472" y="47365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Deals, campaign acceptance and response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326880" y="3813048"/>
            <a:ext cx="438912" cy="438912"/>
          </a:xfrm>
          <a:prstGeom prst="ellipse">
            <a:avLst/>
          </a:prstGeom>
          <a:solidFill>
            <a:srgbClr val="7568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/>
          <p:nvPr/>
        </p:nvSpPr>
        <p:spPr>
          <a:xfrm>
            <a:off x="9326880" y="392277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17152" y="4443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3D"/>
                </a:solidFill>
              </a:rPr>
              <a:t>Placement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217152" y="47365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Web, catalogue, store and web visits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" y="58978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7788"/>
                </a:solidFill>
              </a:rPr>
              <a:t>Source: kaggle.com/datasets/imakash3011/customer-personality-analysis</a:t>
            </a:r>
            <a:endParaRPr lang="en-US" sz="9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1" y="594360"/>
            <a:ext cx="932602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</a:rPr>
              <a:t>Feature landscape mirrors the 4P commercial decision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D6B79"/>
                </a:solidFill>
              </a:rPr>
              <a:t>The data can inform who to target, what to offer, how to promote and where to sell.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606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2606040" cy="621792"/>
          </a:xfrm>
          <a:prstGeom prst="rect">
            <a:avLst/>
          </a:prstGeom>
          <a:solidFill>
            <a:srgbClr val="1677A8"/>
          </a:solidFill>
          <a:ln w="1270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 sz="3600"/>
          </a:p>
        </p:txBody>
      </p:sp>
      <p:sp>
        <p:nvSpPr>
          <p:cNvPr id="6" name="Text 4"/>
          <p:cNvSpPr/>
          <p:nvPr/>
        </p:nvSpPr>
        <p:spPr>
          <a:xfrm>
            <a:off x="777240" y="170078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PEOPLE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0392" y="2395728"/>
            <a:ext cx="2103120" cy="3182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ID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Year_Birth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Education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Marital_Status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Income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Kidhome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Teenhome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Recency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Complain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55961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77A8"/>
                </a:solidFill>
              </a:rPr>
              <a:t>9 features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1508760"/>
            <a:ext cx="2606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3474720" y="1508760"/>
            <a:ext cx="2606040" cy="621792"/>
          </a:xfrm>
          <a:prstGeom prst="rect">
            <a:avLst/>
          </a:prstGeom>
          <a:solidFill>
            <a:srgbClr val="14A6A1"/>
          </a:solidFill>
          <a:ln w="12700">
            <a:solidFill>
              <a:srgbClr val="14A6A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3657600" y="170078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PRODUCT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30752" y="2395728"/>
            <a:ext cx="2103120" cy="3182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MntWines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MntFruits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MntMeatProducts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MntFishProducts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MntSweetProducts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MntGoldProds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55961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A6A1"/>
                </a:solidFill>
              </a:rPr>
              <a:t>6 features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55080" y="1508760"/>
            <a:ext cx="2606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Shape 13"/>
          <p:cNvSpPr/>
          <p:nvPr/>
        </p:nvSpPr>
        <p:spPr>
          <a:xfrm>
            <a:off x="6355080" y="1508760"/>
            <a:ext cx="2606040" cy="62179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6537960" y="170078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PROMOTION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11112" y="2395728"/>
            <a:ext cx="2103120" cy="3182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NumDealsPurchases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AcceptedCmp1–5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Response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55961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A23B"/>
                </a:solidFill>
              </a:rPr>
              <a:t>7 features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235440" y="1508760"/>
            <a:ext cx="2606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9235440" y="1508760"/>
            <a:ext cx="2606040" cy="621792"/>
          </a:xfrm>
          <a:prstGeom prst="rect">
            <a:avLst/>
          </a:prstGeom>
          <a:solidFill>
            <a:srgbClr val="7568B2"/>
          </a:solidFill>
          <a:ln w="12700">
            <a:solidFill>
              <a:srgbClr val="7568B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9418320" y="170078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PLACE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491472" y="2395728"/>
            <a:ext cx="2103120" cy="3182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NumWebPurchases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NumCatalogPurchases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NumStorePurchases</a:t>
            </a:r>
            <a:endParaRPr lang="en-US" sz="1400" dirty="0"/>
          </a:p>
          <a:p>
            <a:pPr marL="139700" indent="-139700"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</a:rPr>
              <a:t>NumWebVisitsMonth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38360" y="55961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568B2"/>
                </a:solidFill>
              </a:rPr>
              <a:t>4 features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1" y="594360"/>
            <a:ext cx="1038928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0B1F33"/>
                </a:solidFill>
              </a:rPr>
              <a:t>Parameters relevant to customer segmentation and activation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416097"/>
              </p:ext>
            </p:extLst>
          </p:nvPr>
        </p:nvGraphicFramePr>
        <p:xfrm>
          <a:off x="594360" y="1444752"/>
          <a:ext cx="11018520" cy="4224528"/>
        </p:xfrm>
        <a:graphic>
          <a:graphicData uri="http://schemas.openxmlformats.org/drawingml/2006/table">
            <a:tbl>
              <a:tblPr/>
              <a:tblGrid>
                <a:gridCol w="1489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6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7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5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D3D"/>
                          </a:solidFill>
                        </a:rPr>
                        <a:t>Domain</a:t>
                      </a:r>
                      <a:endParaRPr lang="en-US" sz="1600" b="1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D3D"/>
                          </a:solidFill>
                        </a:rPr>
                        <a:t>Feature</a:t>
                      </a:r>
                      <a:endParaRPr lang="en-US" sz="1600" b="1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D3D"/>
                          </a:solidFill>
                        </a:rPr>
                        <a:t>Business meaning</a:t>
                      </a:r>
                      <a:endParaRPr lang="en-US" sz="1600" b="1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2D3D"/>
                          </a:solidFill>
                        </a:rPr>
                        <a:t>Interpretation</a:t>
                      </a:r>
                      <a:endParaRPr lang="en-US" sz="1600" b="1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Profile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Income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Yearly household income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Continuous; 24 missing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Profile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Recency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Days since last purchase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0–99 in source summary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Product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MntWines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Wine spend in last 2 years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Right-skewed spend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Product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MntMeatProducts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Meat spend in last 2 years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Right-skewed spend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Promotion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AcceptedCmp1–5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Accepted campaign offer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Binary 0/1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Promotion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Response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Accepted latest campaign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Binary 0/1; 14.9% positive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Place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NumWebPurchases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Purchases via website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Count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Place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NumCatalogPurchases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Purchases via catalogue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Count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Place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NumStorePurchases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Purchases in stores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Count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Place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NumWebVisitsMonth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Website visits last month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D3D"/>
                          </a:solidFill>
                        </a:rPr>
                        <a:t>Count; weak purchase link</a:t>
                      </a:r>
                      <a:endParaRPr lang="en-US" sz="16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5932967"/>
            <a:ext cx="10835640" cy="714721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F0D59A"/>
            </a:solidFill>
            <a:prstDash val="solid"/>
          </a:ln>
        </p:spPr>
        <p:txBody>
          <a:bodyPr/>
          <a:lstStyle/>
          <a:p>
            <a:endParaRPr lang="en-PH" sz="2800"/>
          </a:p>
        </p:txBody>
      </p:sp>
      <p:sp>
        <p:nvSpPr>
          <p:cNvPr id="4" name="Text 3"/>
          <p:cNvSpPr/>
          <p:nvPr/>
        </p:nvSpPr>
        <p:spPr>
          <a:xfrm>
            <a:off x="914400" y="6227064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571B"/>
                </a:solidFill>
              </a:rPr>
              <a:t>Decision rule: exclude identifiers and constants from clustering; treat campaign outcomes carefully to avoid leakage.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9709" y="714083"/>
            <a:ext cx="10936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</a:rPr>
              <a:t>Preprocessing makes distance-based clustering trustworthy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7141" y="1324817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D6B79"/>
                </a:solidFill>
              </a:rPr>
              <a:t>The analysis reduced obvious outliers, encoded categories and standardized numeric scales.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874520" cy="1920240"/>
          </a:xfrm>
          <a:prstGeom prst="roundRect">
            <a:avLst/>
          </a:prstGeom>
          <a:solidFill>
            <a:srgbClr val="EEF5FB"/>
          </a:solidFill>
          <a:ln w="1905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777240" y="2084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</a:rPr>
              <a:t>1. Quality checks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Missing values: 24 Income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Duplicates: 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32888" y="2633472"/>
            <a:ext cx="292608" cy="384048"/>
          </a:xfrm>
          <a:prstGeom prst="chevron">
            <a:avLst/>
          </a:prstGeom>
          <a:solidFill>
            <a:srgbClr val="A8B6C2"/>
          </a:solidFill>
          <a:ln w="12700">
            <a:solidFill>
              <a:srgbClr val="A8B6C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2880360" y="1874520"/>
            <a:ext cx="1874520" cy="1920240"/>
          </a:xfrm>
          <a:prstGeom prst="roundRect">
            <a:avLst/>
          </a:prstGeom>
          <a:solidFill>
            <a:srgbClr val="F0FAF9"/>
          </a:solidFill>
          <a:ln w="19050">
            <a:solidFill>
              <a:srgbClr val="14A6A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3063240" y="2084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</a:rPr>
              <a:t>2. Outlier rules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35808" y="26517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Year_Birth: 1920–2000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Income: 0–120,000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Spend and channel caps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18888" y="2633472"/>
            <a:ext cx="292608" cy="384048"/>
          </a:xfrm>
          <a:prstGeom prst="chevron">
            <a:avLst/>
          </a:prstGeom>
          <a:solidFill>
            <a:srgbClr val="A8B6C2"/>
          </a:solidFill>
          <a:ln w="12700">
            <a:solidFill>
              <a:srgbClr val="A8B6C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5166360" y="1874520"/>
            <a:ext cx="1874520" cy="1920240"/>
          </a:xfrm>
          <a:prstGeom prst="roundRect">
            <a:avLst/>
          </a:prstGeom>
          <a:solidFill>
            <a:srgbClr val="EEF5FB"/>
          </a:solidFill>
          <a:ln w="1905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5349240" y="2084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</a:rPr>
              <a:t>3. Encode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21808" y="26517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One-hot encode Education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and Marital_Status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4888" y="2633472"/>
            <a:ext cx="292608" cy="384048"/>
          </a:xfrm>
          <a:prstGeom prst="chevron">
            <a:avLst/>
          </a:prstGeom>
          <a:solidFill>
            <a:srgbClr val="A8B6C2"/>
          </a:solidFill>
          <a:ln w="12700">
            <a:solidFill>
              <a:srgbClr val="A8B6C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7452360" y="1874520"/>
            <a:ext cx="1874520" cy="1920240"/>
          </a:xfrm>
          <a:prstGeom prst="roundRect">
            <a:avLst/>
          </a:prstGeom>
          <a:solidFill>
            <a:srgbClr val="F0FAF9"/>
          </a:solidFill>
          <a:ln w="19050">
            <a:solidFill>
              <a:srgbClr val="14A6A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7635240" y="2084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</a:rPr>
              <a:t>4. Scale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07808" y="26517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StandardScaler aligns Income,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spend and count variables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90888" y="2633472"/>
            <a:ext cx="292608" cy="384048"/>
          </a:xfrm>
          <a:prstGeom prst="chevron">
            <a:avLst/>
          </a:prstGeom>
          <a:solidFill>
            <a:srgbClr val="A8B6C2"/>
          </a:solidFill>
          <a:ln w="12700">
            <a:solidFill>
              <a:srgbClr val="A8B6C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9738360" y="1874520"/>
            <a:ext cx="1874520" cy="1920240"/>
          </a:xfrm>
          <a:prstGeom prst="roundRect">
            <a:avLst/>
          </a:prstGeom>
          <a:solidFill>
            <a:srgbClr val="EEF5FB"/>
          </a:solidFill>
          <a:ln w="1905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9921240" y="20848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</a:rPr>
              <a:t>5. Retain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93808" y="26517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2,038 rows after reported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B79"/>
                </a:solidFill>
              </a:rPr>
              <a:t>range-based filtering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315968"/>
            <a:ext cx="5212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777240" y="4315968"/>
            <a:ext cx="73152" cy="1280160"/>
          </a:xfrm>
          <a:prstGeom prst="rect">
            <a:avLst/>
          </a:prstGeom>
          <a:solidFill>
            <a:srgbClr val="1677A8"/>
          </a:solidFill>
          <a:ln w="1270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1005840" y="4480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Why scaling matters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4846320"/>
            <a:ext cx="48006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Without scaling, household income can dominate geometric distance while low-range variables such as website visits contribute little.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9632" y="4315968"/>
            <a:ext cx="52120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3200"/>
          </a:p>
        </p:txBody>
      </p:sp>
      <p:sp>
        <p:nvSpPr>
          <p:cNvPr id="28" name="Shape 26"/>
          <p:cNvSpPr/>
          <p:nvPr/>
        </p:nvSpPr>
        <p:spPr>
          <a:xfrm>
            <a:off x="6199632" y="4315968"/>
            <a:ext cx="73152" cy="128016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Text 27"/>
          <p:cNvSpPr/>
          <p:nvPr/>
        </p:nvSpPr>
        <p:spPr>
          <a:xfrm>
            <a:off x="6428232" y="4480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Leadership caution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28232" y="4846320"/>
            <a:ext cx="48006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Hard thresholds simplify analysis but may remove valuable high-value customers. Document rationale and test sensitivity.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1" y="594360"/>
            <a:ext cx="1105913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</a:rPr>
              <a:t>Customer data reveals commercial patterns and modeling risks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Correlations suggest cross-sell and channel opportunities, while skew and imbalance require caution.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Selected correlations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</a:rPr>
              <a:t>Fruit–Fish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883664"/>
            <a:ext cx="3075127" cy="228600"/>
          </a:xfrm>
          <a:prstGeom prst="rect">
            <a:avLst/>
          </a:prstGeom>
          <a:solidFill>
            <a:srgbClr val="14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7" name="Text 5"/>
          <p:cNvSpPr/>
          <p:nvPr/>
        </p:nvSpPr>
        <p:spPr>
          <a:xfrm>
            <a:off x="5132527" y="18653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</a:rPr>
              <a:t>0.59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4144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</a:rPr>
              <a:t>Fruit–Sweets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2450592"/>
            <a:ext cx="2970886" cy="228600"/>
          </a:xfrm>
          <a:prstGeom prst="rect">
            <a:avLst/>
          </a:prstGeom>
          <a:solidFill>
            <a:srgbClr val="14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10" name="Text 8"/>
          <p:cNvSpPr/>
          <p:nvPr/>
        </p:nvSpPr>
        <p:spPr>
          <a:xfrm>
            <a:off x="5028286" y="24323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</a:rPr>
              <a:t>0.57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0083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</a:rPr>
              <a:t>Wine–Meat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3017520"/>
            <a:ext cx="2918765" cy="228600"/>
          </a:xfrm>
          <a:prstGeom prst="rect">
            <a:avLst/>
          </a:prstGeom>
          <a:solidFill>
            <a:srgbClr val="14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13" name="Text 11"/>
          <p:cNvSpPr/>
          <p:nvPr/>
        </p:nvSpPr>
        <p:spPr>
          <a:xfrm>
            <a:off x="4976165" y="2999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</a:rPr>
              <a:t>0.56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5753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</a:rPr>
              <a:t>Catalog–Store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0" y="3584448"/>
            <a:ext cx="2710282" cy="228600"/>
          </a:xfrm>
          <a:prstGeom prst="rect">
            <a:avLst/>
          </a:prstGeom>
          <a:solidFill>
            <a:srgbClr val="7568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16" name="Text 14"/>
          <p:cNvSpPr/>
          <p:nvPr/>
        </p:nvSpPr>
        <p:spPr>
          <a:xfrm>
            <a:off x="4767682" y="35661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</a:rPr>
              <a:t>0.52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142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</a:rPr>
              <a:t>Cmp1–Cmp5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4151376"/>
            <a:ext cx="2084832" cy="228600"/>
          </a:xfrm>
          <a:prstGeom prst="rect">
            <a:avLst/>
          </a:prstGeom>
          <a:solidFill>
            <a:srgbClr val="E9A2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19" name="Text 17"/>
          <p:cNvSpPr/>
          <p:nvPr/>
        </p:nvSpPr>
        <p:spPr>
          <a:xfrm>
            <a:off x="4142232" y="4133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</a:rPr>
              <a:t>0.40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4663440" cy="1"/>
          </a:xfrm>
          <a:prstGeom prst="line">
            <a:avLst/>
          </a:prstGeom>
          <a:noFill/>
          <a:ln w="12700">
            <a:solidFill>
              <a:srgbClr val="CBD5DE"/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21" name="Text 19"/>
          <p:cNvSpPr/>
          <p:nvPr/>
        </p:nvSpPr>
        <p:spPr>
          <a:xfrm>
            <a:off x="685800" y="5074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Channel signal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77643" y="5056633"/>
            <a:ext cx="3366364" cy="24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5353"/>
                </a:solidFill>
              </a:rPr>
              <a:t>Web visits vs web purchases: −0.056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5532545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Traffic alone is not conversion.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97880" y="15087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2400"/>
          </a:p>
        </p:txBody>
      </p:sp>
      <p:sp>
        <p:nvSpPr>
          <p:cNvPr id="25" name="Shape 23"/>
          <p:cNvSpPr/>
          <p:nvPr/>
        </p:nvSpPr>
        <p:spPr>
          <a:xfrm>
            <a:off x="5897880" y="1508760"/>
            <a:ext cx="73152" cy="1234440"/>
          </a:xfrm>
          <a:prstGeom prst="rect">
            <a:avLst/>
          </a:prstGeom>
          <a:solidFill>
            <a:srgbClr val="14A6A1"/>
          </a:solidFill>
          <a:ln w="12700">
            <a:solidFill>
              <a:srgbClr val="14A6A1"/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26" name="Text 24"/>
          <p:cNvSpPr/>
          <p:nvPr/>
        </p:nvSpPr>
        <p:spPr>
          <a:xfrm>
            <a:off x="6126480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Cross-sell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6480" y="2039112"/>
            <a:ext cx="21945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Wine and meat buyers overlap; fruit, fish and sweets also move together.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32520" y="150876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2400"/>
          </a:p>
        </p:txBody>
      </p:sp>
      <p:sp>
        <p:nvSpPr>
          <p:cNvPr id="29" name="Shape 27"/>
          <p:cNvSpPr/>
          <p:nvPr/>
        </p:nvSpPr>
        <p:spPr>
          <a:xfrm>
            <a:off x="8732520" y="1508760"/>
            <a:ext cx="73152" cy="123444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30" name="Text 28"/>
          <p:cNvSpPr/>
          <p:nvPr/>
        </p:nvSpPr>
        <p:spPr>
          <a:xfrm>
            <a:off x="8961120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Campaign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61120" y="2039112"/>
            <a:ext cx="21945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Customers accepting campaign 1 are more likely to accept campaign 5.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97880" y="301752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2400"/>
          </a:p>
        </p:txBody>
      </p:sp>
      <p:sp>
        <p:nvSpPr>
          <p:cNvPr id="33" name="Shape 31"/>
          <p:cNvSpPr/>
          <p:nvPr/>
        </p:nvSpPr>
        <p:spPr>
          <a:xfrm>
            <a:off x="5897880" y="3017520"/>
            <a:ext cx="73152" cy="1234440"/>
          </a:xfrm>
          <a:prstGeom prst="rect">
            <a:avLst/>
          </a:prstGeom>
          <a:solidFill>
            <a:srgbClr val="7568B2"/>
          </a:solidFill>
          <a:ln w="12700">
            <a:solidFill>
              <a:srgbClr val="7568B2"/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34" name="Text 32"/>
          <p:cNvSpPr/>
          <p:nvPr/>
        </p:nvSpPr>
        <p:spPr>
          <a:xfrm>
            <a:off x="6126480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Channel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26480" y="3547872"/>
            <a:ext cx="21945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Catalogue and store purchases rise together, supporting assisted retail.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732520" y="301752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2400"/>
          </a:p>
        </p:txBody>
      </p:sp>
      <p:sp>
        <p:nvSpPr>
          <p:cNvPr id="37" name="Shape 35"/>
          <p:cNvSpPr/>
          <p:nvPr/>
        </p:nvSpPr>
        <p:spPr>
          <a:xfrm>
            <a:off x="8732520" y="3017520"/>
            <a:ext cx="73152" cy="1234440"/>
          </a:xfrm>
          <a:prstGeom prst="rect">
            <a:avLst/>
          </a:prstGeom>
          <a:solidFill>
            <a:srgbClr val="1677A8"/>
          </a:solidFill>
          <a:ln w="1270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38" name="Text 36"/>
          <p:cNvSpPr/>
          <p:nvPr/>
        </p:nvSpPr>
        <p:spPr>
          <a:xfrm>
            <a:off x="8961120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Income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61120" y="3547872"/>
            <a:ext cx="21945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Higher income is associated with more wine and store purchases.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97880" y="452628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2400"/>
          </a:p>
        </p:txBody>
      </p:sp>
      <p:sp>
        <p:nvSpPr>
          <p:cNvPr id="41" name="Shape 39"/>
          <p:cNvSpPr/>
          <p:nvPr/>
        </p:nvSpPr>
        <p:spPr>
          <a:xfrm>
            <a:off x="5897880" y="4526280"/>
            <a:ext cx="73152" cy="1234440"/>
          </a:xfrm>
          <a:prstGeom prst="rect">
            <a:avLst/>
          </a:prstGeom>
          <a:solidFill>
            <a:srgbClr val="C95353"/>
          </a:solidFill>
          <a:ln w="12700">
            <a:solidFill>
              <a:srgbClr val="C95353"/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42" name="Text 40"/>
          <p:cNvSpPr/>
          <p:nvPr/>
        </p:nvSpPr>
        <p:spPr>
          <a:xfrm>
            <a:off x="6126480" y="4690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Modeling implication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126480" y="5056632"/>
            <a:ext cx="50292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6B79"/>
                </a:solidFill>
              </a:rPr>
              <a:t>Strong skew, rare campaign responses and proxy variables can create segments that look mathematically clean but are commercially narrow or unfair.</a:t>
            </a:r>
            <a:endParaRPr lang="en-US" sz="12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sz="1000" b="0"/>
              <a:t>8</a:t>
            </a:fld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85455" y="763790"/>
            <a:ext cx="1088136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</a:rPr>
              <a:t>Model implementation: compare simple segments with density-based anomalies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6380" y="1593023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D6B79"/>
                </a:solidFill>
              </a:rPr>
              <a:t>K-Means offers interpretable baseline segments; DBSCAN exposes irregular behavior and noise.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6380" y="1988820"/>
            <a:ext cx="33832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585455" y="1988820"/>
            <a:ext cx="73152" cy="2880360"/>
          </a:xfrm>
          <a:prstGeom prst="rect">
            <a:avLst/>
          </a:prstGeom>
          <a:solidFill>
            <a:srgbClr val="1677A8"/>
          </a:solidFill>
          <a:ln w="1270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80004" y="21534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K-Means baseline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4980" y="2519172"/>
            <a:ext cx="297180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Standardize selected numeric features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Use elbow plot to choose 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Reported implementation selects k = 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Silhouette score = 0.44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Best for simple, spherical segments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3708" y="1988820"/>
            <a:ext cx="33832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4385558" y="1981962"/>
            <a:ext cx="73152" cy="2880360"/>
          </a:xfrm>
          <a:prstGeom prst="rect">
            <a:avLst/>
          </a:prstGeom>
          <a:solidFill>
            <a:srgbClr val="14A6A1"/>
          </a:solidFill>
          <a:ln w="12700">
            <a:solidFill>
              <a:srgbClr val="14A6A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4592308" y="21534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DBSCAN exploration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2308" y="2519172"/>
            <a:ext cx="297180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Tune eps and min_samples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Detect arbitrary shapes and noise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Performance varies sharply by feature pair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Useful for anomaly discovery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Harder to operationalize consistently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1036" y="1988820"/>
            <a:ext cx="338328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8086060" y="1988820"/>
            <a:ext cx="73152" cy="2880360"/>
          </a:xfrm>
          <a:prstGeom prst="rect">
            <a:avLst/>
          </a:prstGeom>
          <a:solidFill>
            <a:srgbClr val="7568B2"/>
          </a:solidFill>
          <a:ln w="12700">
            <a:solidFill>
              <a:srgbClr val="7568B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8359636" y="21534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PCA role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59636" y="2519172"/>
            <a:ext cx="297180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Reduce dimensionality for visualization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Mitigate multicollinearity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Preserve major variance patterns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Improves communication, not automatically quality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B79"/>
                </a:solidFill>
              </a:rPr>
              <a:t>• Explain loadings before business use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5367528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Recommended decision path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81104" y="5303520"/>
            <a:ext cx="1353312" cy="566928"/>
          </a:xfrm>
          <a:prstGeom prst="roundRect">
            <a:avLst/>
          </a:prstGeom>
          <a:solidFill>
            <a:srgbClr val="E7EEF4"/>
          </a:solidFill>
          <a:ln w="12700">
            <a:solidFill>
              <a:srgbClr val="BBC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2954256" y="5468112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Baseline K-Means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70992" y="5449824"/>
            <a:ext cx="182880" cy="237744"/>
          </a:xfrm>
          <a:prstGeom prst="chevron">
            <a:avLst/>
          </a:prstGeom>
          <a:solidFill>
            <a:srgbClr val="9AA9B6"/>
          </a:solidFill>
          <a:ln w="12700">
            <a:solidFill>
              <a:srgbClr val="9AA9B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4527024" y="5303520"/>
            <a:ext cx="1353312" cy="566928"/>
          </a:xfrm>
          <a:prstGeom prst="roundRect">
            <a:avLst/>
          </a:prstGeom>
          <a:solidFill>
            <a:srgbClr val="E7EEF4"/>
          </a:solidFill>
          <a:ln w="12700">
            <a:solidFill>
              <a:srgbClr val="BBC9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4600176" y="5468112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Stress-test features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16912" y="5449824"/>
            <a:ext cx="182880" cy="237744"/>
          </a:xfrm>
          <a:prstGeom prst="chevron">
            <a:avLst/>
          </a:prstGeom>
          <a:solidFill>
            <a:srgbClr val="9AA9B6"/>
          </a:solidFill>
          <a:ln w="12700">
            <a:solidFill>
              <a:srgbClr val="9AA9B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6172944" y="5303520"/>
            <a:ext cx="1353312" cy="566928"/>
          </a:xfrm>
          <a:prstGeom prst="roundRect">
            <a:avLst/>
          </a:prstGeom>
          <a:solidFill>
            <a:srgbClr val="E7EEF4"/>
          </a:solidFill>
          <a:ln w="12700">
            <a:solidFill>
              <a:srgbClr val="BBC9D4"/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24" name="Text 22"/>
          <p:cNvSpPr/>
          <p:nvPr/>
        </p:nvSpPr>
        <p:spPr>
          <a:xfrm>
            <a:off x="6246096" y="5468112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Compare DBSCAN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62832" y="5449824"/>
            <a:ext cx="182880" cy="237744"/>
          </a:xfrm>
          <a:prstGeom prst="chevron">
            <a:avLst/>
          </a:prstGeom>
          <a:solidFill>
            <a:srgbClr val="9AA9B6"/>
          </a:solidFill>
          <a:ln w="12700">
            <a:solidFill>
              <a:srgbClr val="9AA9B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Shape 24"/>
          <p:cNvSpPr/>
          <p:nvPr/>
        </p:nvSpPr>
        <p:spPr>
          <a:xfrm>
            <a:off x="7818864" y="5303520"/>
            <a:ext cx="1353312" cy="566928"/>
          </a:xfrm>
          <a:prstGeom prst="roundRect">
            <a:avLst/>
          </a:prstGeom>
          <a:solidFill>
            <a:srgbClr val="E7EEF4"/>
          </a:solidFill>
          <a:ln w="12700">
            <a:solidFill>
              <a:srgbClr val="BBC9D4"/>
            </a:solidFill>
            <a:prstDash val="solid"/>
          </a:ln>
        </p:spPr>
        <p:txBody>
          <a:bodyPr/>
          <a:lstStyle/>
          <a:p>
            <a:endParaRPr lang="en-PH" sz="2400"/>
          </a:p>
        </p:txBody>
      </p:sp>
      <p:sp>
        <p:nvSpPr>
          <p:cNvPr id="27" name="Text 25"/>
          <p:cNvSpPr/>
          <p:nvPr/>
        </p:nvSpPr>
        <p:spPr>
          <a:xfrm>
            <a:off x="7892016" y="5468112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Profile segments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08752" y="5449824"/>
            <a:ext cx="182880" cy="237744"/>
          </a:xfrm>
          <a:prstGeom prst="chevron">
            <a:avLst/>
          </a:prstGeom>
          <a:solidFill>
            <a:srgbClr val="9AA9B6"/>
          </a:solidFill>
          <a:ln w="12700">
            <a:solidFill>
              <a:srgbClr val="9AA9B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9464784" y="5303520"/>
            <a:ext cx="1353312" cy="566928"/>
          </a:xfrm>
          <a:prstGeom prst="roundRect">
            <a:avLst/>
          </a:prstGeom>
          <a:solidFill>
            <a:srgbClr val="3E9B77"/>
          </a:solidFill>
          <a:ln w="12700">
            <a:solidFill>
              <a:srgbClr val="3E9B7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9464784" y="5481828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 activation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6480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10881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1F33"/>
                </a:solidFill>
              </a:rPr>
              <a:t>Maximizing business with insights 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90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D6B79"/>
                </a:solidFill>
              </a:rPr>
              <a:t>The most useful output is the business profile and action, not the score alone. Although higher scores in the model shows higher chances of winning the customer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</a:rPr>
              <a:t>Income + AcceptedCmp1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2258568"/>
            <a:ext cx="4114800" cy="274320"/>
          </a:xfrm>
          <a:prstGeom prst="rect">
            <a:avLst/>
          </a:prstGeom>
          <a:solidFill>
            <a:srgbClr val="E1E7EC"/>
          </a:solidFill>
          <a:ln w="12700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2926080" y="2258568"/>
            <a:ext cx="3254807" cy="274320"/>
          </a:xfrm>
          <a:prstGeom prst="rect">
            <a:avLst/>
          </a:prstGeom>
          <a:solidFill>
            <a:srgbClr val="3E9B77"/>
          </a:solidFill>
          <a:ln w="12700">
            <a:solidFill>
              <a:srgbClr val="3E9B7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150608" y="22402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9B77"/>
                </a:solidFill>
              </a:rPr>
              <a:t>0.791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535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</a:rPr>
              <a:t>Year_Birth + AcceptedCmp1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2971800"/>
            <a:ext cx="4114800" cy="274320"/>
          </a:xfrm>
          <a:prstGeom prst="rect">
            <a:avLst/>
          </a:prstGeom>
          <a:solidFill>
            <a:srgbClr val="E1E7EC"/>
          </a:solidFill>
          <a:ln w="12700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2926080" y="2971800"/>
            <a:ext cx="3193085" cy="274320"/>
          </a:xfrm>
          <a:prstGeom prst="rect">
            <a:avLst/>
          </a:prstGeom>
          <a:solidFill>
            <a:srgbClr val="3E9B77"/>
          </a:solidFill>
          <a:ln w="12700">
            <a:solidFill>
              <a:srgbClr val="3E9B7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7150608" y="2953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9B77"/>
                </a:solidFill>
              </a:rPr>
              <a:t>0.776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667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</a:rPr>
              <a:t>K-Means selected features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0" y="3685032"/>
            <a:ext cx="4114800" cy="274320"/>
          </a:xfrm>
          <a:prstGeom prst="rect">
            <a:avLst/>
          </a:prstGeom>
          <a:solidFill>
            <a:srgbClr val="E1E7EC"/>
          </a:solidFill>
          <a:ln w="12700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2926080" y="3685032"/>
            <a:ext cx="1810512" cy="27432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7150608" y="366674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A23B"/>
                </a:solidFill>
              </a:rPr>
              <a:t>0.440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3799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</a:rPr>
              <a:t>Income + Store Purchases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0" y="4398264"/>
            <a:ext cx="4114800" cy="274320"/>
          </a:xfrm>
          <a:prstGeom prst="rect">
            <a:avLst/>
          </a:prstGeom>
          <a:solidFill>
            <a:srgbClr val="E1E7EC"/>
          </a:solidFill>
          <a:ln w="12700">
            <a:solidFill>
              <a:srgbClr val="E1E7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2926080" y="4398264"/>
            <a:ext cx="230429" cy="274320"/>
          </a:xfrm>
          <a:prstGeom prst="rect">
            <a:avLst/>
          </a:prstGeom>
          <a:solidFill>
            <a:srgbClr val="C95353"/>
          </a:solidFill>
          <a:ln w="12700">
            <a:solidFill>
              <a:srgbClr val="C9535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7150608" y="43799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5353"/>
                </a:solidFill>
              </a:rPr>
              <a:t>0.056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94320" y="20802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Business interpretation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909560" y="2651760"/>
            <a:ext cx="375818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7909560" y="2651760"/>
            <a:ext cx="73152" cy="1024128"/>
          </a:xfrm>
          <a:prstGeom prst="rect">
            <a:avLst/>
          </a:prstGeom>
          <a:solidFill>
            <a:srgbClr val="1677A8"/>
          </a:solidFill>
          <a:ln w="1270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8138160" y="2816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Targeting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38160" y="3182112"/>
            <a:ext cx="3413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Campaign 1 acceptors average about $78.3k income versus $48.4k for non-acceptors.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09560" y="3867912"/>
            <a:ext cx="375818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2400"/>
          </a:p>
        </p:txBody>
      </p:sp>
      <p:sp>
        <p:nvSpPr>
          <p:cNvPr id="26" name="Shape 24"/>
          <p:cNvSpPr/>
          <p:nvPr/>
        </p:nvSpPr>
        <p:spPr>
          <a:xfrm>
            <a:off x="7909560" y="3867912"/>
            <a:ext cx="73152" cy="1024128"/>
          </a:xfrm>
          <a:prstGeom prst="rect">
            <a:avLst/>
          </a:prstGeom>
          <a:solidFill>
            <a:srgbClr val="14A6A1"/>
          </a:solidFill>
          <a:ln w="12700">
            <a:solidFill>
              <a:srgbClr val="14A6A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8138160" y="3945317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Product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47304" y="4252598"/>
            <a:ext cx="3413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Wine and meat affinity supports paired offers; healthy-food categories form another theme.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909560" y="5084064"/>
            <a:ext cx="375818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 sz="2000"/>
          </a:p>
        </p:txBody>
      </p:sp>
      <p:sp>
        <p:nvSpPr>
          <p:cNvPr id="30" name="Shape 28"/>
          <p:cNvSpPr/>
          <p:nvPr/>
        </p:nvSpPr>
        <p:spPr>
          <a:xfrm>
            <a:off x="7909560" y="5084064"/>
            <a:ext cx="73152" cy="1024128"/>
          </a:xfrm>
          <a:prstGeom prst="rect">
            <a:avLst/>
          </a:prstGeom>
          <a:solidFill>
            <a:srgbClr val="7568B2"/>
          </a:solidFill>
          <a:ln w="12700">
            <a:solidFill>
              <a:srgbClr val="7568B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/>
          <p:nvPr/>
        </p:nvSpPr>
        <p:spPr>
          <a:xfrm>
            <a:off x="8138160" y="5192091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Placement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38160" y="5467899"/>
            <a:ext cx="3413760" cy="41892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Catalogue appears to support store purchasing, while website visits alone do not signal purchase.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0132" y="5256099"/>
            <a:ext cx="7086600" cy="777240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E6C779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Text 32"/>
          <p:cNvSpPr/>
          <p:nvPr/>
        </p:nvSpPr>
        <p:spPr>
          <a:xfrm>
            <a:off x="866164" y="5320107"/>
            <a:ext cx="65836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551A"/>
                </a:solidFill>
              </a:rPr>
              <a:t>Critical read: the 0.78–0.79 results are driven by a binary campaign field. Validate natural segment structure before using these as personas.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70124"/>
            <a:ext cx="3429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778304"/>
            <a:ext cx="8961119" cy="414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B2F3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customer groups require different treatment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4" name="Image 0" descr="/mnt/data/work_deck/generated_image_272A12FE3551_01.png"/>
          <p:cNvPicPr>
            <a:picLocks noChangeAspect="1"/>
          </p:cNvPicPr>
          <p:nvPr/>
        </p:nvPicPr>
        <p:blipFill>
          <a:blip r:embed="rId3"/>
          <a:srcRect t="33042" b="33042"/>
          <a:stretch/>
        </p:blipFill>
        <p:spPr>
          <a:xfrm>
            <a:off x="580644" y="1920240"/>
            <a:ext cx="11000232" cy="2487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" y="1920240"/>
            <a:ext cx="11000232" cy="2487168"/>
          </a:xfrm>
          <a:prstGeom prst="rect">
            <a:avLst/>
          </a:prstGeom>
          <a:solidFill>
            <a:srgbClr val="0B2F3A">
              <a:alpha val="28000"/>
            </a:srgbClr>
          </a:solidFill>
          <a:ln w="12700">
            <a:solidFill>
              <a:srgbClr val="0B2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900684" y="23134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VALUE DEVELOPMENT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900684" y="2834640"/>
            <a:ext cx="4389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5F0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Lower income and lower category spend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5F0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Higher need for relevance and value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752844" y="23134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PREMIUM GROWTH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52844" y="2834640"/>
            <a:ext cx="4389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0E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Higher income and stronger wine spend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0E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More active across web and store channels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17804" y="4846320"/>
            <a:ext cx="5349240" cy="1280160"/>
          </a:xfrm>
          <a:prstGeom prst="roundRect">
            <a:avLst>
              <a:gd name="adj" fmla="val 3571"/>
            </a:avLst>
          </a:prstGeom>
          <a:solidFill>
            <a:srgbClr val="EAF5F4"/>
          </a:solidFill>
          <a:ln w="12700">
            <a:solidFill>
              <a:srgbClr val="CDE5E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946404" y="5093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E7C8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Targeting objective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46404" y="54589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72B3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Increase participation and frequency at efficient cost.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341364" y="4846320"/>
            <a:ext cx="5029200" cy="1280160"/>
          </a:xfrm>
          <a:prstGeom prst="roundRect">
            <a:avLst>
              <a:gd name="adj" fmla="val 3571"/>
            </a:avLst>
          </a:prstGeom>
          <a:solidFill>
            <a:srgbClr val="FFF0ED"/>
          </a:solidFill>
          <a:ln w="12700">
            <a:solidFill>
              <a:srgbClr val="F4D1C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/>
          <p:nvPr/>
        </p:nvSpPr>
        <p:spPr>
          <a:xfrm>
            <a:off x="6569964" y="5093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26B5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Targeting objective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69964" y="54589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72B3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Grow basket value, premium mix, and loyalty.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5836" y="6462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Apto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7656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109453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</a:rPr>
              <a:t>Responsible activation: scale only after bias and value checks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0817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D6B79"/>
                </a:solidFill>
              </a:rPr>
              <a:t>Ethical AI is a commercial control: protect customers, reduce reputational risk and improve decision quality.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4360" y="1856232"/>
            <a:ext cx="5120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5" name="Shape 3"/>
          <p:cNvSpPr/>
          <p:nvPr/>
        </p:nvSpPr>
        <p:spPr>
          <a:xfrm>
            <a:off x="594360" y="1856232"/>
            <a:ext cx="91440" cy="640080"/>
          </a:xfrm>
          <a:prstGeom prst="rect">
            <a:avLst/>
          </a:prstGeom>
          <a:solidFill>
            <a:srgbClr val="C95353"/>
          </a:solidFill>
          <a:ln w="12700">
            <a:solidFill>
              <a:srgbClr val="C95353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6" name="Text 4"/>
          <p:cNvSpPr/>
          <p:nvPr/>
        </p:nvSpPr>
        <p:spPr>
          <a:xfrm>
            <a:off x="841248" y="19659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Proxy bias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57400" y="1947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Age, income and education may encode socioeconomic disadvantage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660904"/>
            <a:ext cx="5120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9" name="Shape 7"/>
          <p:cNvSpPr/>
          <p:nvPr/>
        </p:nvSpPr>
        <p:spPr>
          <a:xfrm>
            <a:off x="594360" y="2660904"/>
            <a:ext cx="91440" cy="64008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10" name="Text 8"/>
          <p:cNvSpPr/>
          <p:nvPr/>
        </p:nvSpPr>
        <p:spPr>
          <a:xfrm>
            <a:off x="822960" y="28529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Exclusion risk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75688" y="28254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Lower offer acceptance among basic-education customers could trigger reduced access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465576"/>
            <a:ext cx="5120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13" name="Shape 11"/>
          <p:cNvSpPr/>
          <p:nvPr/>
        </p:nvSpPr>
        <p:spPr>
          <a:xfrm>
            <a:off x="594360" y="3465576"/>
            <a:ext cx="91440" cy="640080"/>
          </a:xfrm>
          <a:prstGeom prst="rect">
            <a:avLst/>
          </a:prstGeom>
          <a:solidFill>
            <a:srgbClr val="7568B2"/>
          </a:solidFill>
          <a:ln w="12700">
            <a:solidFill>
              <a:srgbClr val="7568B2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14" name="Text 12"/>
          <p:cNvSpPr/>
          <p:nvPr/>
        </p:nvSpPr>
        <p:spPr>
          <a:xfrm>
            <a:off x="841248" y="3575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Data gaps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57400" y="35570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No gender or race fields are available for direct fairness auditing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270248"/>
            <a:ext cx="5120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17" name="Shape 15"/>
          <p:cNvSpPr/>
          <p:nvPr/>
        </p:nvSpPr>
        <p:spPr>
          <a:xfrm>
            <a:off x="594360" y="4270248"/>
            <a:ext cx="91440" cy="640080"/>
          </a:xfrm>
          <a:prstGeom prst="rect">
            <a:avLst/>
          </a:prstGeom>
          <a:solidFill>
            <a:srgbClr val="1677A8"/>
          </a:solidFill>
          <a:ln w="12700">
            <a:solidFill>
              <a:srgbClr val="1677A8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18" name="Text 16"/>
          <p:cNvSpPr/>
          <p:nvPr/>
        </p:nvSpPr>
        <p:spPr>
          <a:xfrm>
            <a:off x="841248" y="43799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Imbalance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75688" y="44256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Response is 14.9%; AcceptedCmp2 is 1.3%, making patterns unstable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5074920"/>
            <a:ext cx="5120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21" name="Shape 19"/>
          <p:cNvSpPr/>
          <p:nvPr/>
        </p:nvSpPr>
        <p:spPr>
          <a:xfrm>
            <a:off x="594360" y="5074920"/>
            <a:ext cx="91440" cy="640080"/>
          </a:xfrm>
          <a:prstGeom prst="rect">
            <a:avLst/>
          </a:prstGeom>
          <a:solidFill>
            <a:srgbClr val="14A6A1"/>
          </a:solidFill>
          <a:ln w="12700">
            <a:solidFill>
              <a:srgbClr val="14A6A1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22" name="Text 20"/>
          <p:cNvSpPr/>
          <p:nvPr/>
        </p:nvSpPr>
        <p:spPr>
          <a:xfrm>
            <a:off x="841248" y="51846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Leakage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057400" y="51663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Campaign response fields can dominate clustering and recreate prior decisions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1856232"/>
            <a:ext cx="43115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</a:rPr>
              <a:t>Leadership guardrails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6172200" y="2340864"/>
            <a:ext cx="402336" cy="402336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 sz="4800"/>
          </a:p>
        </p:txBody>
      </p:sp>
      <p:sp>
        <p:nvSpPr>
          <p:cNvPr id="26" name="Text 24"/>
          <p:cNvSpPr/>
          <p:nvPr/>
        </p:nvSpPr>
        <p:spPr>
          <a:xfrm>
            <a:off x="6172200" y="245059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23591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3D"/>
                </a:solidFill>
              </a:rPr>
              <a:t>Audit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827264" y="227685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Compare segment membership and targeting rates by age band, education and marital status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72200" y="3054096"/>
            <a:ext cx="402336" cy="402336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 sz="4800"/>
          </a:p>
        </p:txBody>
      </p:sp>
      <p:sp>
        <p:nvSpPr>
          <p:cNvPr id="30" name="Text 28"/>
          <p:cNvSpPr/>
          <p:nvPr/>
        </p:nvSpPr>
        <p:spPr>
          <a:xfrm>
            <a:off x="6172200" y="316382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30723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3D"/>
                </a:solidFill>
              </a:rPr>
              <a:t>Measure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27264" y="299008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Track demographic parity difference and disparate impact; investigate ratios below 0.8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72200" y="3767328"/>
            <a:ext cx="402336" cy="402336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 sz="4800"/>
          </a:p>
        </p:txBody>
      </p:sp>
      <p:sp>
        <p:nvSpPr>
          <p:cNvPr id="34" name="Text 32"/>
          <p:cNvSpPr/>
          <p:nvPr/>
        </p:nvSpPr>
        <p:spPr>
          <a:xfrm>
            <a:off x="6172200" y="387705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37856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3D"/>
                </a:solidFill>
              </a:rPr>
              <a:t>Explain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27264" y="370332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Use a surrogate classifier with SHAP to explain segment assignment drivers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72200" y="4480560"/>
            <a:ext cx="402336" cy="402336"/>
          </a:xfrm>
          <a:prstGeom prst="ellipse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 sz="4800"/>
          </a:p>
        </p:txBody>
      </p:sp>
      <p:sp>
        <p:nvSpPr>
          <p:cNvPr id="38" name="Text 36"/>
          <p:cNvSpPr/>
          <p:nvPr/>
        </p:nvSpPr>
        <p:spPr>
          <a:xfrm>
            <a:off x="6172200" y="459028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44988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3D"/>
                </a:solidFill>
              </a:rPr>
              <a:t>Experiment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827264" y="441655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Pilot targeted campaigns against a control group before scaling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72200" y="5193792"/>
            <a:ext cx="402336" cy="402336"/>
          </a:xfrm>
          <a:prstGeom prst="ellipse">
            <a:avLst/>
          </a:prstGeom>
          <a:solidFill>
            <a:srgbClr val="3E9B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42" name="Text 40"/>
          <p:cNvSpPr/>
          <p:nvPr/>
        </p:nvSpPr>
        <p:spPr>
          <a:xfrm>
            <a:off x="6172200" y="530352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720840" y="5212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D3D"/>
                </a:solidFill>
              </a:rPr>
              <a:t>Monitor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827264" y="512978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6B79"/>
                </a:solidFill>
              </a:rPr>
              <a:t>Review fairness, cost savings, marketing cost and revenue uplift together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126480" y="5925312"/>
            <a:ext cx="5257800" cy="70408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PH" sz="3200"/>
          </a:p>
        </p:txBody>
      </p:sp>
      <p:sp>
        <p:nvSpPr>
          <p:cNvPr id="46" name="Text 44"/>
          <p:cNvSpPr/>
          <p:nvPr/>
        </p:nvSpPr>
        <p:spPr>
          <a:xfrm>
            <a:off x="6355080" y="616305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Decision: approve a controlled pilot, not full-scale automation.</a:t>
            </a:r>
            <a:endParaRPr lang="en-US" sz="20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3" y="6437376"/>
            <a:ext cx="357679" cy="1920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9E"/>
                </a:solidFill>
              </a:defRPr>
            </a:lvl1pPr>
          </a:lstStyle>
          <a:p>
            <a:pPr algn="r"/>
            <a:fld id="{F7021451-1387-4CA6-816F-3879F97B5CBC}" type="slidenum">
              <a:rPr lang="en-US" sz="1100" b="0"/>
              <a:t>12</a:t>
            </a:fld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1617</Words>
  <Application>Microsoft Office PowerPoint</Application>
  <PresentationFormat>Widescreen</PresentationFormat>
  <Paragraphs>316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for Smarter Growth</dc:title>
  <dc:subject>Customer Personality Segmentation</dc:subject>
  <dc:creator>John Fajardo</dc:creator>
  <cp:lastModifiedBy>John Fajardo</cp:lastModifiedBy>
  <cp:revision>3</cp:revision>
  <dcterms:created xsi:type="dcterms:W3CDTF">2026-10-11T07:05:09Z</dcterms:created>
  <dcterms:modified xsi:type="dcterms:W3CDTF">2026-10-11T07:49:53Z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850223-87a8-40c3-9eb2-432606efca2a_Enabled">
    <vt:lpwstr>true</vt:lpwstr>
  </property>
  <property fmtid="{D5CDD505-2E9C-101B-9397-08002B2CF9AE}" pid="3" name="MSIP_Label_7f850223-87a8-40c3-9eb2-432606efca2a_SetDate">
    <vt:lpwstr>2026-10-11T07:18:35Z</vt:lpwstr>
  </property>
  <property fmtid="{D5CDD505-2E9C-101B-9397-08002B2CF9AE}" pid="4" name="MSIP_Label_7f850223-87a8-40c3-9eb2-432606efca2a_Method">
    <vt:lpwstr>Privileged</vt:lpwstr>
  </property>
  <property fmtid="{D5CDD505-2E9C-101B-9397-08002B2CF9AE}" pid="5" name="MSIP_Label_7f850223-87a8-40c3-9eb2-432606efca2a_Name">
    <vt:lpwstr>7f850223-87a8-40c3-9eb2-432606efca2a</vt:lpwstr>
  </property>
  <property fmtid="{D5CDD505-2E9C-101B-9397-08002B2CF9AE}" pid="6" name="MSIP_Label_7f850223-87a8-40c3-9eb2-432606efca2a_SiteId">
    <vt:lpwstr>fcb2b37b-5da0-466b-9b83-0014b67a7c78</vt:lpwstr>
  </property>
  <property fmtid="{D5CDD505-2E9C-101B-9397-08002B2CF9AE}" pid="7" name="MSIP_Label_7f850223-87a8-40c3-9eb2-432606efca2a_ActionId">
    <vt:lpwstr>21bf278f-ea22-401d-960e-8bcd68f929f5</vt:lpwstr>
  </property>
  <property fmtid="{D5CDD505-2E9C-101B-9397-08002B2CF9AE}" pid="8" name="MSIP_Label_7f850223-87a8-40c3-9eb2-432606efca2a_ContentBits">
    <vt:lpwstr>0</vt:lpwstr>
  </property>
  <property fmtid="{D5CDD505-2E9C-101B-9397-08002B2CF9AE}" pid="9" name="MSIP_Label_7f850223-87a8-40c3-9eb2-432606efca2a_Tag">
    <vt:lpwstr>10, 0, 1, 1</vt:lpwstr>
  </property>
</Properties>
</file>