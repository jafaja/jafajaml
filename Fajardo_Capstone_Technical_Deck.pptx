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6" r:id="rId2"/>
    <p:sldId id="256" r:id="rId3"/>
    <p:sldId id="257"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Problem framing" id="{7F93A880-BCAD-9F01-703A-6CD7AB0E3A82}">
          <p14:sldIdLst>
            <p14:sldId id="266"/>
            <p14:sldId id="256"/>
            <p14:sldId id="257"/>
          </p14:sldIdLst>
        </p14:section>
        <p14:section name="2 Data collection" id="{3B46F2E6-2F42-77C8-D23A-9DB84ABB03EA}">
          <p14:sldIdLst>
            <p14:sldId id="258"/>
            <p14:sldId id="259"/>
            <p14:sldId id="260"/>
          </p14:sldIdLst>
        </p14:section>
        <p14:section name="3 Preprocessing and EDA" id="{75D914D0-C2D8-A0CF-E89E-B07D2F3E19CF}">
          <p14:sldIdLst>
            <p14:sldId id="261"/>
            <p14:sldId id="262"/>
          </p14:sldIdLst>
        </p14:section>
        <p14:section name="4 Model implementation" id="{10AE8EEA-2048-47F3-CA80-BF429D0851B5}">
          <p14:sldIdLst>
            <p14:sldId id="263"/>
            <p14:sldId id="264"/>
          </p14:sldIdLst>
        </p14:section>
        <p14:section name="5 Ethical AI" id="{8DCC4463-3DFD-DCBA-DB3E-707875A56DE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6FCCC-D4D5-414C-B46B-7F87C17E457B}" v="6" dt="2026-10-11T06:36:07.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8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Fajardo" userId="dcc6950d-48e1-4bc5-a8d4-da3eedd51ef7" providerId="ADAL" clId="{C32C1EDC-26CE-480B-95CF-36B5D454BF85}"/>
    <pc:docChg chg="undo custSel mod addSld modSld sldOrd modMainMaster modSection">
      <pc:chgData name="John Fajardo" userId="dcc6950d-48e1-4bc5-a8d4-da3eedd51ef7" providerId="ADAL" clId="{C32C1EDC-26CE-480B-95CF-36B5D454BF85}" dt="2026-10-11T07:11:32.320" v="562" actId="20577"/>
      <pc:docMkLst>
        <pc:docMk/>
      </pc:docMkLst>
      <pc:sldChg chg="modSp mod">
        <pc:chgData name="John Fajardo" userId="dcc6950d-48e1-4bc5-a8d4-da3eedd51ef7" providerId="ADAL" clId="{C32C1EDC-26CE-480B-95CF-36B5D454BF85}" dt="2026-10-11T06:19:03.706" v="498" actId="6549"/>
        <pc:sldMkLst>
          <pc:docMk/>
          <pc:sldMk cId="0" sldId="258"/>
        </pc:sldMkLst>
        <pc:spChg chg="mod">
          <ac:chgData name="John Fajardo" userId="dcc6950d-48e1-4bc5-a8d4-da3eedd51ef7" providerId="ADAL" clId="{C32C1EDC-26CE-480B-95CF-36B5D454BF85}" dt="2026-10-11T06:19:03.706" v="498" actId="6549"/>
          <ac:spMkLst>
            <pc:docMk/>
            <pc:sldMk cId="0" sldId="258"/>
            <ac:spMk id="7" creationId="{00000000-0000-0000-0000-000000000000}"/>
          </ac:spMkLst>
        </pc:spChg>
      </pc:sldChg>
      <pc:sldChg chg="modSp mod">
        <pc:chgData name="John Fajardo" userId="dcc6950d-48e1-4bc5-a8d4-da3eedd51ef7" providerId="ADAL" clId="{C32C1EDC-26CE-480B-95CF-36B5D454BF85}" dt="2026-10-11T06:20:51.738" v="531" actId="20577"/>
        <pc:sldMkLst>
          <pc:docMk/>
          <pc:sldMk cId="0" sldId="262"/>
        </pc:sldMkLst>
        <pc:spChg chg="mod">
          <ac:chgData name="John Fajardo" userId="dcc6950d-48e1-4bc5-a8d4-da3eedd51ef7" providerId="ADAL" clId="{C32C1EDC-26CE-480B-95CF-36B5D454BF85}" dt="2026-10-11T06:20:51.738" v="531" actId="20577"/>
          <ac:spMkLst>
            <pc:docMk/>
            <pc:sldMk cId="0" sldId="262"/>
            <ac:spMk id="13" creationId="{00000000-0000-0000-0000-000000000000}"/>
          </ac:spMkLst>
        </pc:spChg>
      </pc:sldChg>
      <pc:sldChg chg="modSp mod">
        <pc:chgData name="John Fajardo" userId="dcc6950d-48e1-4bc5-a8d4-da3eedd51ef7" providerId="ADAL" clId="{C32C1EDC-26CE-480B-95CF-36B5D454BF85}" dt="2026-10-11T06:21:28.168" v="532" actId="6549"/>
        <pc:sldMkLst>
          <pc:docMk/>
          <pc:sldMk cId="0" sldId="265"/>
        </pc:sldMkLst>
        <pc:spChg chg="mod">
          <ac:chgData name="John Fajardo" userId="dcc6950d-48e1-4bc5-a8d4-da3eedd51ef7" providerId="ADAL" clId="{C32C1EDC-26CE-480B-95CF-36B5D454BF85}" dt="2026-10-11T06:21:28.168" v="532" actId="6549"/>
          <ac:spMkLst>
            <pc:docMk/>
            <pc:sldMk cId="0" sldId="265"/>
            <ac:spMk id="9" creationId="{00000000-0000-0000-0000-000000000000}"/>
          </ac:spMkLst>
        </pc:spChg>
      </pc:sldChg>
      <pc:sldChg chg="addSp delSp modSp add mod ord">
        <pc:chgData name="John Fajardo" userId="dcc6950d-48e1-4bc5-a8d4-da3eedd51ef7" providerId="ADAL" clId="{C32C1EDC-26CE-480B-95CF-36B5D454BF85}" dt="2026-10-11T07:11:32.320" v="562" actId="20577"/>
        <pc:sldMkLst>
          <pc:docMk/>
          <pc:sldMk cId="4062534200" sldId="266"/>
        </pc:sldMkLst>
        <pc:spChg chg="mod">
          <ac:chgData name="John Fajardo" userId="dcc6950d-48e1-4bc5-a8d4-da3eedd51ef7" providerId="ADAL" clId="{C32C1EDC-26CE-480B-95CF-36B5D454BF85}" dt="2026-10-11T05:55:21.120" v="5" actId="6549"/>
          <ac:spMkLst>
            <pc:docMk/>
            <pc:sldMk cId="4062534200" sldId="266"/>
            <ac:spMk id="2" creationId="{EA5AC4F4-44B1-837D-D7E9-69163FFB7359}"/>
          </ac:spMkLst>
        </pc:spChg>
        <pc:spChg chg="mod">
          <ac:chgData name="John Fajardo" userId="dcc6950d-48e1-4bc5-a8d4-da3eedd51ef7" providerId="ADAL" clId="{C32C1EDC-26CE-480B-95CF-36B5D454BF85}" dt="2026-10-11T06:00:47.133" v="248" actId="20577"/>
          <ac:spMkLst>
            <pc:docMk/>
            <pc:sldMk cId="4062534200" sldId="266"/>
            <ac:spMk id="3" creationId="{F5F41CFC-7D1C-FF2B-0F56-5239DEA39F9B}"/>
          </ac:spMkLst>
        </pc:spChg>
        <pc:spChg chg="del">
          <ac:chgData name="John Fajardo" userId="dcc6950d-48e1-4bc5-a8d4-da3eedd51ef7" providerId="ADAL" clId="{C32C1EDC-26CE-480B-95CF-36B5D454BF85}" dt="2026-10-11T05:55:36.222" v="34" actId="478"/>
          <ac:spMkLst>
            <pc:docMk/>
            <pc:sldMk cId="4062534200" sldId="266"/>
            <ac:spMk id="5" creationId="{A208E6E1-9218-C3EE-F0F5-BB4CD6079EA2}"/>
          </ac:spMkLst>
        </pc:spChg>
        <pc:spChg chg="mod">
          <ac:chgData name="John Fajardo" userId="dcc6950d-48e1-4bc5-a8d4-da3eedd51ef7" providerId="ADAL" clId="{C32C1EDC-26CE-480B-95CF-36B5D454BF85}" dt="2026-10-11T06:00:27.473" v="221" actId="14100"/>
          <ac:spMkLst>
            <pc:docMk/>
            <pc:sldMk cId="4062534200" sldId="266"/>
            <ac:spMk id="6" creationId="{B5ADDB16-CE15-E452-1E1A-844507BD1775}"/>
          </ac:spMkLst>
        </pc:spChg>
        <pc:spChg chg="mod">
          <ac:chgData name="John Fajardo" userId="dcc6950d-48e1-4bc5-a8d4-da3eedd51ef7" providerId="ADAL" clId="{C32C1EDC-26CE-480B-95CF-36B5D454BF85}" dt="2026-10-11T06:01:51.038" v="258" actId="6549"/>
          <ac:spMkLst>
            <pc:docMk/>
            <pc:sldMk cId="4062534200" sldId="266"/>
            <ac:spMk id="7" creationId="{91F34D45-4340-D4CB-6BC5-C3076E5092D7}"/>
          </ac:spMkLst>
        </pc:spChg>
        <pc:spChg chg="mod">
          <ac:chgData name="John Fajardo" userId="dcc6950d-48e1-4bc5-a8d4-da3eedd51ef7" providerId="ADAL" clId="{C32C1EDC-26CE-480B-95CF-36B5D454BF85}" dt="2026-10-11T06:17:46.580" v="433" actId="20577"/>
          <ac:spMkLst>
            <pc:docMk/>
            <pc:sldMk cId="4062534200" sldId="266"/>
            <ac:spMk id="8" creationId="{ACD7CED4-C2C1-31A1-39C7-62CE6374091A}"/>
          </ac:spMkLst>
        </pc:spChg>
        <pc:spChg chg="mod">
          <ac:chgData name="John Fajardo" userId="dcc6950d-48e1-4bc5-a8d4-da3eedd51ef7" providerId="ADAL" clId="{C32C1EDC-26CE-480B-95CF-36B5D454BF85}" dt="2026-10-11T06:00:55.745" v="249" actId="1076"/>
          <ac:spMkLst>
            <pc:docMk/>
            <pc:sldMk cId="4062534200" sldId="266"/>
            <ac:spMk id="9" creationId="{06334F32-52F6-E66C-162A-699FE0774358}"/>
          </ac:spMkLst>
        </pc:spChg>
        <pc:spChg chg="mod">
          <ac:chgData name="John Fajardo" userId="dcc6950d-48e1-4bc5-a8d4-da3eedd51ef7" providerId="ADAL" clId="{C32C1EDC-26CE-480B-95CF-36B5D454BF85}" dt="2026-10-11T06:02:01.270" v="260" actId="6549"/>
          <ac:spMkLst>
            <pc:docMk/>
            <pc:sldMk cId="4062534200" sldId="266"/>
            <ac:spMk id="10" creationId="{B156B580-9D3E-4849-D178-AA099EBC10BC}"/>
          </ac:spMkLst>
        </pc:spChg>
        <pc:spChg chg="del mod">
          <ac:chgData name="John Fajardo" userId="dcc6950d-48e1-4bc5-a8d4-da3eedd51ef7" providerId="ADAL" clId="{C32C1EDC-26CE-480B-95CF-36B5D454BF85}" dt="2026-10-11T06:01:34.504" v="253" actId="478"/>
          <ac:spMkLst>
            <pc:docMk/>
            <pc:sldMk cId="4062534200" sldId="266"/>
            <ac:spMk id="11" creationId="{A2D64D5E-0415-5DD5-7D2F-5BD66DED5D8F}"/>
          </ac:spMkLst>
        </pc:spChg>
        <pc:spChg chg="mod">
          <ac:chgData name="John Fajardo" userId="dcc6950d-48e1-4bc5-a8d4-da3eedd51ef7" providerId="ADAL" clId="{C32C1EDC-26CE-480B-95CF-36B5D454BF85}" dt="2026-10-11T06:02:13.664" v="262" actId="1076"/>
          <ac:spMkLst>
            <pc:docMk/>
            <pc:sldMk cId="4062534200" sldId="266"/>
            <ac:spMk id="12" creationId="{C719513B-EE43-496E-D18D-823D6BFA754D}"/>
          </ac:spMkLst>
        </pc:spChg>
        <pc:spChg chg="mod">
          <ac:chgData name="John Fajardo" userId="dcc6950d-48e1-4bc5-a8d4-da3eedd51ef7" providerId="ADAL" clId="{C32C1EDC-26CE-480B-95CF-36B5D454BF85}" dt="2026-10-11T06:02:13.664" v="262" actId="1076"/>
          <ac:spMkLst>
            <pc:docMk/>
            <pc:sldMk cId="4062534200" sldId="266"/>
            <ac:spMk id="13" creationId="{269950B1-8E54-6F95-BD42-7BCB092E10D6}"/>
          </ac:spMkLst>
        </pc:spChg>
        <pc:spChg chg="mod">
          <ac:chgData name="John Fajardo" userId="dcc6950d-48e1-4bc5-a8d4-da3eedd51ef7" providerId="ADAL" clId="{C32C1EDC-26CE-480B-95CF-36B5D454BF85}" dt="2026-10-11T06:18:20.827" v="497" actId="20577"/>
          <ac:spMkLst>
            <pc:docMk/>
            <pc:sldMk cId="4062534200" sldId="266"/>
            <ac:spMk id="14" creationId="{DB19750A-869E-B5A4-9C79-C8414CD114A7}"/>
          </ac:spMkLst>
        </pc:spChg>
        <pc:spChg chg="del">
          <ac:chgData name="John Fajardo" userId="dcc6950d-48e1-4bc5-a8d4-da3eedd51ef7" providerId="ADAL" clId="{C32C1EDC-26CE-480B-95CF-36B5D454BF85}" dt="2026-10-11T05:59:29.318" v="195" actId="478"/>
          <ac:spMkLst>
            <pc:docMk/>
            <pc:sldMk cId="4062534200" sldId="266"/>
            <ac:spMk id="15" creationId="{38517FFE-5EB8-5DAD-4F44-1C53B0C15DEA}"/>
          </ac:spMkLst>
        </pc:spChg>
        <pc:spChg chg="del">
          <ac:chgData name="John Fajardo" userId="dcc6950d-48e1-4bc5-a8d4-da3eedd51ef7" providerId="ADAL" clId="{C32C1EDC-26CE-480B-95CF-36B5D454BF85}" dt="2026-10-11T05:59:56.046" v="211" actId="478"/>
          <ac:spMkLst>
            <pc:docMk/>
            <pc:sldMk cId="4062534200" sldId="266"/>
            <ac:spMk id="16" creationId="{BAE97D82-AF73-48BF-DB67-D89C5DF35853}"/>
          </ac:spMkLst>
        </pc:spChg>
        <pc:spChg chg="del mod">
          <ac:chgData name="John Fajardo" userId="dcc6950d-48e1-4bc5-a8d4-da3eedd51ef7" providerId="ADAL" clId="{C32C1EDC-26CE-480B-95CF-36B5D454BF85}" dt="2026-10-11T05:59:54.252" v="209" actId="478"/>
          <ac:spMkLst>
            <pc:docMk/>
            <pc:sldMk cId="4062534200" sldId="266"/>
            <ac:spMk id="17" creationId="{6C6FF855-9395-360F-5076-D0AA577B5514}"/>
          </ac:spMkLst>
        </pc:spChg>
        <pc:spChg chg="del">
          <ac:chgData name="John Fajardo" userId="dcc6950d-48e1-4bc5-a8d4-da3eedd51ef7" providerId="ADAL" clId="{C32C1EDC-26CE-480B-95CF-36B5D454BF85}" dt="2026-10-11T05:59:55.427" v="210" actId="478"/>
          <ac:spMkLst>
            <pc:docMk/>
            <pc:sldMk cId="4062534200" sldId="266"/>
            <ac:spMk id="18" creationId="{E927B3E1-C84F-ACB5-503E-F5CAD5CCD230}"/>
          </ac:spMkLst>
        </pc:spChg>
        <pc:spChg chg="del">
          <ac:chgData name="John Fajardo" userId="dcc6950d-48e1-4bc5-a8d4-da3eedd51ef7" providerId="ADAL" clId="{C32C1EDC-26CE-480B-95CF-36B5D454BF85}" dt="2026-10-11T05:59:57.033" v="212" actId="478"/>
          <ac:spMkLst>
            <pc:docMk/>
            <pc:sldMk cId="4062534200" sldId="266"/>
            <ac:spMk id="19" creationId="{08DFCEE1-78B9-818D-BA55-1708DCEE6236}"/>
          </ac:spMkLst>
        </pc:spChg>
        <pc:spChg chg="del">
          <ac:chgData name="John Fajardo" userId="dcc6950d-48e1-4bc5-a8d4-da3eedd51ef7" providerId="ADAL" clId="{C32C1EDC-26CE-480B-95CF-36B5D454BF85}" dt="2026-10-11T05:59:58.080" v="213" actId="478"/>
          <ac:spMkLst>
            <pc:docMk/>
            <pc:sldMk cId="4062534200" sldId="266"/>
            <ac:spMk id="20" creationId="{378AC2A5-166F-2CDC-6909-788980020664}"/>
          </ac:spMkLst>
        </pc:spChg>
        <pc:spChg chg="del">
          <ac:chgData name="John Fajardo" userId="dcc6950d-48e1-4bc5-a8d4-da3eedd51ef7" providerId="ADAL" clId="{C32C1EDC-26CE-480B-95CF-36B5D454BF85}" dt="2026-10-11T05:59:39.975" v="198" actId="478"/>
          <ac:spMkLst>
            <pc:docMk/>
            <pc:sldMk cId="4062534200" sldId="266"/>
            <ac:spMk id="21" creationId="{FB96FFF2-3E4D-5C7F-C5A9-068BBEFCDE23}"/>
          </ac:spMkLst>
        </pc:spChg>
        <pc:spChg chg="del">
          <ac:chgData name="John Fajardo" userId="dcc6950d-48e1-4bc5-a8d4-da3eedd51ef7" providerId="ADAL" clId="{C32C1EDC-26CE-480B-95CF-36B5D454BF85}" dt="2026-10-11T05:59:34.953" v="196" actId="478"/>
          <ac:spMkLst>
            <pc:docMk/>
            <pc:sldMk cId="4062534200" sldId="266"/>
            <ac:spMk id="22" creationId="{2A69294C-2E42-225F-DB31-71A80B92D99D}"/>
          </ac:spMkLst>
        </pc:spChg>
        <pc:spChg chg="del">
          <ac:chgData name="John Fajardo" userId="dcc6950d-48e1-4bc5-a8d4-da3eedd51ef7" providerId="ADAL" clId="{C32C1EDC-26CE-480B-95CF-36B5D454BF85}" dt="2026-10-11T05:59:34.953" v="196" actId="478"/>
          <ac:spMkLst>
            <pc:docMk/>
            <pc:sldMk cId="4062534200" sldId="266"/>
            <ac:spMk id="23" creationId="{59617F42-F259-5F27-ED77-B6B7CA084D1B}"/>
          </ac:spMkLst>
        </pc:spChg>
        <pc:spChg chg="del">
          <ac:chgData name="John Fajardo" userId="dcc6950d-48e1-4bc5-a8d4-da3eedd51ef7" providerId="ADAL" clId="{C32C1EDC-26CE-480B-95CF-36B5D454BF85}" dt="2026-10-11T05:59:41.502" v="199" actId="478"/>
          <ac:spMkLst>
            <pc:docMk/>
            <pc:sldMk cId="4062534200" sldId="266"/>
            <ac:spMk id="24" creationId="{EEA276FD-1AFE-E6C5-856F-95B8E47573D5}"/>
          </ac:spMkLst>
        </pc:spChg>
        <pc:spChg chg="del">
          <ac:chgData name="John Fajardo" userId="dcc6950d-48e1-4bc5-a8d4-da3eedd51ef7" providerId="ADAL" clId="{C32C1EDC-26CE-480B-95CF-36B5D454BF85}" dt="2026-10-11T05:59:38.936" v="197" actId="478"/>
          <ac:spMkLst>
            <pc:docMk/>
            <pc:sldMk cId="4062534200" sldId="266"/>
            <ac:spMk id="25" creationId="{394B49BB-9475-E064-24BD-F5398C5652BE}"/>
          </ac:spMkLst>
        </pc:spChg>
        <pc:spChg chg="del">
          <ac:chgData name="John Fajardo" userId="dcc6950d-48e1-4bc5-a8d4-da3eedd51ef7" providerId="ADAL" clId="{C32C1EDC-26CE-480B-95CF-36B5D454BF85}" dt="2026-10-11T05:59:42.472" v="200" actId="478"/>
          <ac:spMkLst>
            <pc:docMk/>
            <pc:sldMk cId="4062534200" sldId="266"/>
            <ac:spMk id="26" creationId="{7953F073-E02A-6449-AB36-8F721DC7EFFE}"/>
          </ac:spMkLst>
        </pc:spChg>
        <pc:spChg chg="del">
          <ac:chgData name="John Fajardo" userId="dcc6950d-48e1-4bc5-a8d4-da3eedd51ef7" providerId="ADAL" clId="{C32C1EDC-26CE-480B-95CF-36B5D454BF85}" dt="2026-10-11T05:59:49.667" v="206" actId="478"/>
          <ac:spMkLst>
            <pc:docMk/>
            <pc:sldMk cId="4062534200" sldId="266"/>
            <ac:spMk id="27" creationId="{E234FE4A-668F-CFC1-52D5-EAD7734FE2E9}"/>
          </ac:spMkLst>
        </pc:spChg>
        <pc:spChg chg="mod">
          <ac:chgData name="John Fajardo" userId="dcc6950d-48e1-4bc5-a8d4-da3eedd51ef7" providerId="ADAL" clId="{C32C1EDC-26CE-480B-95CF-36B5D454BF85}" dt="2026-10-11T06:04:25.242" v="397" actId="1076"/>
          <ac:spMkLst>
            <pc:docMk/>
            <pc:sldMk cId="4062534200" sldId="266"/>
            <ac:spMk id="28" creationId="{0803DDD1-2DDB-8B7B-0C12-38DC49979ADF}"/>
          </ac:spMkLst>
        </pc:spChg>
        <pc:spChg chg="del">
          <ac:chgData name="John Fajardo" userId="dcc6950d-48e1-4bc5-a8d4-da3eedd51ef7" providerId="ADAL" clId="{C32C1EDC-26CE-480B-95CF-36B5D454BF85}" dt="2026-10-11T05:59:50.414" v="207" actId="478"/>
          <ac:spMkLst>
            <pc:docMk/>
            <pc:sldMk cId="4062534200" sldId="266"/>
            <ac:spMk id="29" creationId="{5862F50C-69C4-25D2-56A7-39EC65670B5B}"/>
          </ac:spMkLst>
        </pc:spChg>
        <pc:spChg chg="del">
          <ac:chgData name="John Fajardo" userId="dcc6950d-48e1-4bc5-a8d4-da3eedd51ef7" providerId="ADAL" clId="{C32C1EDC-26CE-480B-95CF-36B5D454BF85}" dt="2026-10-11T05:59:48.429" v="205" actId="478"/>
          <ac:spMkLst>
            <pc:docMk/>
            <pc:sldMk cId="4062534200" sldId="266"/>
            <ac:spMk id="30" creationId="{6E9DF279-6D4E-7D2C-CEC1-FB851536ED0D}"/>
          </ac:spMkLst>
        </pc:spChg>
        <pc:spChg chg="del">
          <ac:chgData name="John Fajardo" userId="dcc6950d-48e1-4bc5-a8d4-da3eedd51ef7" providerId="ADAL" clId="{C32C1EDC-26CE-480B-95CF-36B5D454BF85}" dt="2026-10-11T05:59:51.998" v="208" actId="478"/>
          <ac:spMkLst>
            <pc:docMk/>
            <pc:sldMk cId="4062534200" sldId="266"/>
            <ac:spMk id="31" creationId="{9395D099-A075-AEBF-C6DE-4D7B823238B9}"/>
          </ac:spMkLst>
        </pc:spChg>
        <pc:spChg chg="del mod">
          <ac:chgData name="John Fajardo" userId="dcc6950d-48e1-4bc5-a8d4-da3eedd51ef7" providerId="ADAL" clId="{C32C1EDC-26CE-480B-95CF-36B5D454BF85}" dt="2026-10-11T06:01:00.414" v="252" actId="478"/>
          <ac:spMkLst>
            <pc:docMk/>
            <pc:sldMk cId="4062534200" sldId="266"/>
            <ac:spMk id="32" creationId="{7FD3761A-7CED-04A4-3B48-8965391DAA1C}"/>
          </ac:spMkLst>
        </pc:spChg>
        <pc:spChg chg="del">
          <ac:chgData name="John Fajardo" userId="dcc6950d-48e1-4bc5-a8d4-da3eedd51ef7" providerId="ADAL" clId="{C32C1EDC-26CE-480B-95CF-36B5D454BF85}" dt="2026-10-11T05:59:43.725" v="201" actId="478"/>
          <ac:spMkLst>
            <pc:docMk/>
            <pc:sldMk cId="4062534200" sldId="266"/>
            <ac:spMk id="33" creationId="{4433D074-73A7-0422-E246-00BFC4BF5466}"/>
          </ac:spMkLst>
        </pc:spChg>
        <pc:spChg chg="del">
          <ac:chgData name="John Fajardo" userId="dcc6950d-48e1-4bc5-a8d4-da3eedd51ef7" providerId="ADAL" clId="{C32C1EDC-26CE-480B-95CF-36B5D454BF85}" dt="2026-10-11T05:59:34.953" v="196" actId="478"/>
          <ac:spMkLst>
            <pc:docMk/>
            <pc:sldMk cId="4062534200" sldId="266"/>
            <ac:spMk id="34" creationId="{7799A76A-E35D-1C54-3654-AF61A0383FDA}"/>
          </ac:spMkLst>
        </pc:spChg>
        <pc:spChg chg="del">
          <ac:chgData name="John Fajardo" userId="dcc6950d-48e1-4bc5-a8d4-da3eedd51ef7" providerId="ADAL" clId="{C32C1EDC-26CE-480B-95CF-36B5D454BF85}" dt="2026-10-11T05:59:34.953" v="196" actId="478"/>
          <ac:spMkLst>
            <pc:docMk/>
            <pc:sldMk cId="4062534200" sldId="266"/>
            <ac:spMk id="35" creationId="{76FD812F-1E70-2FD3-9ED8-AF3B995F030F}"/>
          </ac:spMkLst>
        </pc:spChg>
        <pc:spChg chg="del">
          <ac:chgData name="John Fajardo" userId="dcc6950d-48e1-4bc5-a8d4-da3eedd51ef7" providerId="ADAL" clId="{C32C1EDC-26CE-480B-95CF-36B5D454BF85}" dt="2026-10-11T05:59:45.347" v="202" actId="478"/>
          <ac:spMkLst>
            <pc:docMk/>
            <pc:sldMk cId="4062534200" sldId="266"/>
            <ac:spMk id="36" creationId="{0EFC511B-6BAE-CBBF-1590-E963F9D6CFFE}"/>
          </ac:spMkLst>
        </pc:spChg>
        <pc:spChg chg="del">
          <ac:chgData name="John Fajardo" userId="dcc6950d-48e1-4bc5-a8d4-da3eedd51ef7" providerId="ADAL" clId="{C32C1EDC-26CE-480B-95CF-36B5D454BF85}" dt="2026-10-11T05:59:46.629" v="203" actId="478"/>
          <ac:spMkLst>
            <pc:docMk/>
            <pc:sldMk cId="4062534200" sldId="266"/>
            <ac:spMk id="37" creationId="{C16DF07C-D973-FE42-572F-EE68747B10E7}"/>
          </ac:spMkLst>
        </pc:spChg>
        <pc:spChg chg="del">
          <ac:chgData name="John Fajardo" userId="dcc6950d-48e1-4bc5-a8d4-da3eedd51ef7" providerId="ADAL" clId="{C32C1EDC-26CE-480B-95CF-36B5D454BF85}" dt="2026-10-11T05:59:47.678" v="204" actId="478"/>
          <ac:spMkLst>
            <pc:docMk/>
            <pc:sldMk cId="4062534200" sldId="266"/>
            <ac:spMk id="38" creationId="{D7289D3E-9812-F7C1-6203-0ABEA4D49EC0}"/>
          </ac:spMkLst>
        </pc:spChg>
        <pc:spChg chg="add mod">
          <ac:chgData name="John Fajardo" userId="dcc6950d-48e1-4bc5-a8d4-da3eedd51ef7" providerId="ADAL" clId="{C32C1EDC-26CE-480B-95CF-36B5D454BF85}" dt="2026-10-11T06:17:58.819" v="476" actId="20577"/>
          <ac:spMkLst>
            <pc:docMk/>
            <pc:sldMk cId="4062534200" sldId="266"/>
            <ac:spMk id="40" creationId="{232FFE1F-C2D4-0669-B1B3-B3733AB7B2D9}"/>
          </ac:spMkLst>
        </pc:spChg>
        <pc:spChg chg="add mod">
          <ac:chgData name="John Fajardo" userId="dcc6950d-48e1-4bc5-a8d4-da3eedd51ef7" providerId="ADAL" clId="{C32C1EDC-26CE-480B-95CF-36B5D454BF85}" dt="2026-10-11T07:11:32.320" v="562" actId="20577"/>
          <ac:spMkLst>
            <pc:docMk/>
            <pc:sldMk cId="4062534200" sldId="266"/>
            <ac:spMk id="42" creationId="{4276AD8E-A2DB-3263-E99B-307F2F755D6C}"/>
          </ac:spMkLst>
        </pc:spChg>
        <pc:grpChg chg="add mod">
          <ac:chgData name="John Fajardo" userId="dcc6950d-48e1-4bc5-a8d4-da3eedd51ef7" providerId="ADAL" clId="{C32C1EDC-26CE-480B-95CF-36B5D454BF85}" dt="2026-10-11T06:36:11.992" v="560" actId="1076"/>
          <ac:grpSpMkLst>
            <pc:docMk/>
            <pc:sldMk cId="4062534200" sldId="266"/>
            <ac:grpSpMk id="50" creationId="{49B5688A-6BDD-FF99-FDC3-42D31F07BFEF}"/>
          </ac:grpSpMkLst>
        </pc:grpChg>
        <pc:picChg chg="add del mod">
          <ac:chgData name="John Fajardo" userId="dcc6950d-48e1-4bc5-a8d4-da3eedd51ef7" providerId="ADAL" clId="{C32C1EDC-26CE-480B-95CF-36B5D454BF85}" dt="2026-10-11T06:32:58.162" v="533" actId="478"/>
          <ac:picMkLst>
            <pc:docMk/>
            <pc:sldMk cId="4062534200" sldId="266"/>
            <ac:picMk id="43" creationId="{A5581293-1D9B-2C03-ABA1-1370C695C120}"/>
          </ac:picMkLst>
        </pc:picChg>
        <pc:picChg chg="add mod">
          <ac:chgData name="John Fajardo" userId="dcc6950d-48e1-4bc5-a8d4-da3eedd51ef7" providerId="ADAL" clId="{C32C1EDC-26CE-480B-95CF-36B5D454BF85}" dt="2026-10-11T06:36:07.378" v="559" actId="164"/>
          <ac:picMkLst>
            <pc:docMk/>
            <pc:sldMk cId="4062534200" sldId="266"/>
            <ac:picMk id="44" creationId="{E0788622-031B-E8E6-86EA-D980AEFBF83C}"/>
          </ac:picMkLst>
        </pc:picChg>
        <pc:picChg chg="add del">
          <ac:chgData name="John Fajardo" userId="dcc6950d-48e1-4bc5-a8d4-da3eedd51ef7" providerId="ADAL" clId="{C32C1EDC-26CE-480B-95CF-36B5D454BF85}" dt="2026-10-11T06:33:31.258" v="540" actId="478"/>
          <ac:picMkLst>
            <pc:docMk/>
            <pc:sldMk cId="4062534200" sldId="266"/>
            <ac:picMk id="45" creationId="{32753D9E-8D95-91E2-D807-EDFEDA2DB34C}"/>
          </ac:picMkLst>
        </pc:picChg>
        <pc:picChg chg="add mod">
          <ac:chgData name="John Fajardo" userId="dcc6950d-48e1-4bc5-a8d4-da3eedd51ef7" providerId="ADAL" clId="{C32C1EDC-26CE-480B-95CF-36B5D454BF85}" dt="2026-10-11T06:36:07.378" v="559" actId="164"/>
          <ac:picMkLst>
            <pc:docMk/>
            <pc:sldMk cId="4062534200" sldId="266"/>
            <ac:picMk id="47" creationId="{760C62DD-6B39-EAA3-45D4-7DBE3915BE8A}"/>
          </ac:picMkLst>
        </pc:picChg>
        <pc:picChg chg="add mod">
          <ac:chgData name="John Fajardo" userId="dcc6950d-48e1-4bc5-a8d4-da3eedd51ef7" providerId="ADAL" clId="{C32C1EDC-26CE-480B-95CF-36B5D454BF85}" dt="2026-10-11T06:36:07.378" v="559" actId="164"/>
          <ac:picMkLst>
            <pc:docMk/>
            <pc:sldMk cId="4062534200" sldId="266"/>
            <ac:picMk id="49" creationId="{C9598DFA-EDEB-B20A-6EF5-81EEC42A059D}"/>
          </ac:picMkLst>
        </pc:picChg>
      </pc:sldChg>
      <pc:sldMasterChg chg="addSp delSp mod">
        <pc:chgData name="John Fajardo" userId="dcc6950d-48e1-4bc5-a8d4-da3eedd51ef7" providerId="ADAL" clId="{C32C1EDC-26CE-480B-95CF-36B5D454BF85}" dt="2026-10-11T05:55:16.522" v="3" actId="33475"/>
        <pc:sldMasterMkLst>
          <pc:docMk/>
          <pc:sldMasterMk cId="0" sldId="2147483648"/>
        </pc:sldMasterMkLst>
        <pc:spChg chg="add del">
          <ac:chgData name="John Fajardo" userId="dcc6950d-48e1-4bc5-a8d4-da3eedd51ef7" providerId="ADAL" clId="{C32C1EDC-26CE-480B-95CF-36B5D454BF85}" dt="2026-10-11T05:55:16.522" v="3" actId="33475"/>
          <ac:spMkLst>
            <pc:docMk/>
            <pc:sldMasterMk cId="0" sldId="2147483648"/>
            <ac:spMk id="3" creationId="{59E18ADD-09C5-5FDB-D100-6B1B395A8D42}"/>
          </ac:spMkLst>
        </pc:sp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c:v>
                </c:pt>
              </c:strCache>
            </c:strRef>
          </c:tx>
          <c:spPr>
            <a:solidFill>
              <a:srgbClr val="2D7D86"/>
            </a:solidFill>
            <a:effectLst/>
          </c:spPr>
          <c:invertIfNegative val="0"/>
          <c:dPt>
            <c:idx val="0"/>
            <c:invertIfNegative val="0"/>
            <c:bubble3D val="0"/>
            <c:extLst>
              <c:ext xmlns:c16="http://schemas.microsoft.com/office/drawing/2014/chart" uri="{C3380CC4-5D6E-409C-BE32-E72D297353CC}">
                <c16:uniqueId val="{00000001-345D-4C8F-B28A-859E223E560E}"/>
              </c:ext>
            </c:extLst>
          </c:dPt>
          <c:dPt>
            <c:idx val="1"/>
            <c:invertIfNegative val="0"/>
            <c:bubble3D val="0"/>
            <c:extLst>
              <c:ext xmlns:c16="http://schemas.microsoft.com/office/drawing/2014/chart" uri="{C3380CC4-5D6E-409C-BE32-E72D297353CC}">
                <c16:uniqueId val="{00000003-345D-4C8F-B28A-859E223E560E}"/>
              </c:ext>
            </c:extLst>
          </c:dPt>
          <c:dPt>
            <c:idx val="2"/>
            <c:invertIfNegative val="0"/>
            <c:bubble3D val="0"/>
            <c:extLst>
              <c:ext xmlns:c16="http://schemas.microsoft.com/office/drawing/2014/chart" uri="{C3380CC4-5D6E-409C-BE32-E72D297353CC}">
                <c16:uniqueId val="{00000005-345D-4C8F-B28A-859E223E560E}"/>
              </c:ext>
            </c:extLst>
          </c:dPt>
          <c:dPt>
            <c:idx val="3"/>
            <c:invertIfNegative val="0"/>
            <c:bubble3D val="0"/>
            <c:extLst>
              <c:ext xmlns:c16="http://schemas.microsoft.com/office/drawing/2014/chart" uri="{C3380CC4-5D6E-409C-BE32-E72D297353CC}">
                <c16:uniqueId val="{00000007-345D-4C8F-B28A-859E223E560E}"/>
              </c:ext>
            </c:extLst>
          </c:dPt>
          <c:dPt>
            <c:idx val="4"/>
            <c:invertIfNegative val="0"/>
            <c:bubble3D val="0"/>
            <c:extLst>
              <c:ext xmlns:c16="http://schemas.microsoft.com/office/drawing/2014/chart" uri="{C3380CC4-5D6E-409C-BE32-E72D297353CC}">
                <c16:uniqueId val="{00000009-345D-4C8F-B28A-859E223E560E}"/>
              </c:ext>
            </c:extLst>
          </c:dPt>
          <c:dPt>
            <c:idx val="5"/>
            <c:invertIfNegative val="0"/>
            <c:bubble3D val="0"/>
            <c:spPr>
              <a:solidFill>
                <a:srgbClr val="C8553D"/>
              </a:solidFill>
              <a:effectLst/>
            </c:spPr>
            <c:extLst>
              <c:ext xmlns:c16="http://schemas.microsoft.com/office/drawing/2014/chart" uri="{C3380CC4-5D6E-409C-BE32-E72D297353CC}">
                <c16:uniqueId val="{0000000B-345D-4C8F-B28A-859E223E560E}"/>
              </c:ext>
            </c:extLst>
          </c:dPt>
          <c:dPt>
            <c:idx val="6"/>
            <c:invertIfNegative val="0"/>
            <c:bubble3D val="0"/>
            <c:spPr>
              <a:solidFill>
                <a:srgbClr val="C8553D"/>
              </a:solidFill>
              <a:effectLst/>
            </c:spPr>
            <c:extLst>
              <c:ext xmlns:c16="http://schemas.microsoft.com/office/drawing/2014/chart" uri="{C3380CC4-5D6E-409C-BE32-E72D297353CC}">
                <c16:uniqueId val="{0000000D-345D-4C8F-B28A-859E223E560E}"/>
              </c:ext>
            </c:extLst>
          </c:dPt>
          <c:dPt>
            <c:idx val="7"/>
            <c:invertIfNegative val="0"/>
            <c:bubble3D val="0"/>
            <c:spPr>
              <a:solidFill>
                <a:srgbClr val="C8553D"/>
              </a:solidFill>
              <a:effectLst/>
            </c:spPr>
            <c:extLst>
              <c:ext xmlns:c16="http://schemas.microsoft.com/office/drawing/2014/chart" uri="{C3380CC4-5D6E-409C-BE32-E72D297353CC}">
                <c16:uniqueId val="{0000000F-345D-4C8F-B28A-859E223E560E}"/>
              </c:ext>
            </c:extLst>
          </c:dPt>
          <c:dLbls>
            <c:numFmt formatCode="0.00" sourceLinked="0"/>
            <c:spPr>
              <a:noFill/>
              <a:ln>
                <a:noFill/>
              </a:ln>
              <a:effectLst/>
            </c:spPr>
            <c:txPr>
              <a:bodyPr/>
              <a:lstStyle/>
              <a:p>
                <a:pPr>
                  <a:defRPr sz="12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Fruits - Fish</c:v>
                </c:pt>
                <c:pt idx="1">
                  <c:v>Fruits - Sweets</c:v>
                </c:pt>
                <c:pt idx="2">
                  <c:v>Wines - Meat</c:v>
                </c:pt>
                <c:pt idx="3">
                  <c:v>Catalog - Store</c:v>
                </c:pt>
                <c:pt idx="4">
                  <c:v>Cmp1 - Cmp5</c:v>
                </c:pt>
                <c:pt idx="5">
                  <c:v>Web purch. - Web visits</c:v>
                </c:pt>
                <c:pt idx="6">
                  <c:v>Income - Kidhome</c:v>
                </c:pt>
                <c:pt idx="7">
                  <c:v>Catalog - Web visits</c:v>
                </c:pt>
              </c:strCache>
            </c:strRef>
          </c:cat>
          <c:val>
            <c:numRef>
              <c:f>Sheet1!$B$2:$B$9</c:f>
              <c:numCache>
                <c:formatCode>General</c:formatCode>
                <c:ptCount val="8"/>
                <c:pt idx="0">
                  <c:v>0.59</c:v>
                </c:pt>
                <c:pt idx="1">
                  <c:v>0.56999999999999995</c:v>
                </c:pt>
                <c:pt idx="2">
                  <c:v>0.56000000000000005</c:v>
                </c:pt>
                <c:pt idx="3">
                  <c:v>0.52</c:v>
                </c:pt>
                <c:pt idx="4">
                  <c:v>0.4</c:v>
                </c:pt>
                <c:pt idx="5">
                  <c:v>-5.6000000000000001E-2</c:v>
                </c:pt>
                <c:pt idx="6">
                  <c:v>-0.43</c:v>
                </c:pt>
                <c:pt idx="7">
                  <c:v>-0.52</c:v>
                </c:pt>
              </c:numCache>
            </c:numRef>
          </c:val>
          <c:extLst>
            <c:ext xmlns:c16="http://schemas.microsoft.com/office/drawing/2014/chart" uri="{C3380CC4-5D6E-409C-BE32-E72D297353CC}">
              <c16:uniqueId val="{00000010-345D-4C8F-B28A-859E223E560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max val="0.8"/>
          <c:min val="-0.8"/>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Inertia</c:v>
                </c:pt>
              </c:strCache>
            </c:strRef>
          </c:tx>
          <c:spPr>
            <a:ln w="38100" cap="flat">
              <a:solidFill>
                <a:srgbClr val="2D7D86"/>
              </a:solidFill>
              <a:prstDash val="solid"/>
              <a:round/>
            </a:ln>
            <a:effectLst/>
          </c:spPr>
          <c:marker>
            <c:symbol val="circle"/>
            <c:size val="8"/>
            <c:spPr>
              <a:solidFill>
                <a:srgbClr val="2D7D86"/>
              </a:solidFill>
              <a:ln w="9525" cap="flat">
                <a:solidFill>
                  <a:srgbClr val="2D7D86"/>
                </a:solidFill>
                <a:prstDash val="solid"/>
                <a:round/>
              </a:ln>
              <a:effectLst/>
            </c:spPr>
          </c:marker>
          <c:cat>
            <c:strRef>
              <c:f>Sheet1!$A$2:$A$12</c:f>
              <c:strCache>
                <c:ptCount val="11"/>
                <c:pt idx="0">
                  <c:v>2</c:v>
                </c:pt>
                <c:pt idx="1">
                  <c:v>3</c:v>
                </c:pt>
                <c:pt idx="2">
                  <c:v>4</c:v>
                </c:pt>
                <c:pt idx="3">
                  <c:v>5</c:v>
                </c:pt>
                <c:pt idx="4">
                  <c:v>6</c:v>
                </c:pt>
                <c:pt idx="5">
                  <c:v>7</c:v>
                </c:pt>
                <c:pt idx="6">
                  <c:v>8</c:v>
                </c:pt>
                <c:pt idx="7">
                  <c:v>9</c:v>
                </c:pt>
                <c:pt idx="8">
                  <c:v>10</c:v>
                </c:pt>
                <c:pt idx="9">
                  <c:v>11</c:v>
                </c:pt>
                <c:pt idx="10">
                  <c:v>12</c:v>
                </c:pt>
              </c:strCache>
            </c:strRef>
          </c:cat>
          <c:val>
            <c:numRef>
              <c:f>Sheet1!$B$2:$B$12</c:f>
              <c:numCache>
                <c:formatCode>General</c:formatCode>
                <c:ptCount val="11"/>
                <c:pt idx="0">
                  <c:v>5080</c:v>
                </c:pt>
                <c:pt idx="1">
                  <c:v>3960</c:v>
                </c:pt>
                <c:pt idx="2">
                  <c:v>3520</c:v>
                </c:pt>
                <c:pt idx="3">
                  <c:v>3240</c:v>
                </c:pt>
                <c:pt idx="4">
                  <c:v>2810</c:v>
                </c:pt>
                <c:pt idx="5">
                  <c:v>2600</c:v>
                </c:pt>
                <c:pt idx="6">
                  <c:v>2440</c:v>
                </c:pt>
                <c:pt idx="7">
                  <c:v>2350</c:v>
                </c:pt>
                <c:pt idx="8">
                  <c:v>2250</c:v>
                </c:pt>
                <c:pt idx="9">
                  <c:v>2150</c:v>
                </c:pt>
                <c:pt idx="10">
                  <c:v>1930</c:v>
                </c:pt>
              </c:numCache>
            </c:numRef>
          </c:val>
          <c:smooth val="0"/>
          <c:extLst>
            <c:ext xmlns:c16="http://schemas.microsoft.com/office/drawing/2014/chart" uri="{C3380CC4-5D6E-409C-BE32-E72D297353CC}">
              <c16:uniqueId val="{00000000-5B8D-4F12-813A-B477CBBA15E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1B2A33"/>
                    </a:solidFill>
                    <a:latin typeface="Arial"/>
                  </a:defRPr>
                </a:pPr>
                <a:r>
                  <a:rPr lang="en-PH" sz="1200" b="0" i="0" u="none" strike="noStrike">
                    <a:solidFill>
                      <a:srgbClr val="1B2A33"/>
                    </a:solidFill>
                    <a:latin typeface="Arial"/>
                  </a:rPr>
                  <a:t>Number of clusters (k)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DE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Silhouette</c:v>
                </c:pt>
              </c:strCache>
            </c:strRef>
          </c:tx>
          <c:spPr>
            <a:solidFill>
              <a:srgbClr val="2D7D86"/>
            </a:solidFill>
            <a:effectLst/>
          </c:spPr>
          <c:invertIfNegative val="0"/>
          <c:dLbls>
            <c:numFmt formatCode="0.00" sourceLinked="0"/>
            <c:spPr>
              <a:noFill/>
              <a:ln>
                <a:noFill/>
              </a:ln>
              <a:effectLst/>
            </c:spPr>
            <c:txPr>
              <a:bodyPr/>
              <a:lstStyle/>
              <a:p>
                <a:pPr>
                  <a:defRPr sz="12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K-Means k=2</c:v>
                </c:pt>
                <c:pt idx="1">
                  <c:v>DBSCAN Income x Cmp1</c:v>
                </c:pt>
                <c:pt idx="2">
                  <c:v>DBSCAN Birth x Cmp1</c:v>
                </c:pt>
                <c:pt idx="3">
                  <c:v>DBSCAN Income x Store</c:v>
                </c:pt>
              </c:strCache>
            </c:strRef>
          </c:cat>
          <c:val>
            <c:numRef>
              <c:f>Sheet1!$B$2:$B$5</c:f>
              <c:numCache>
                <c:formatCode>General</c:formatCode>
                <c:ptCount val="4"/>
                <c:pt idx="0">
                  <c:v>0.44</c:v>
                </c:pt>
                <c:pt idx="1">
                  <c:v>0.79100000000000004</c:v>
                </c:pt>
                <c:pt idx="2">
                  <c:v>0.77600000000000002</c:v>
                </c:pt>
                <c:pt idx="3">
                  <c:v>5.6000000000000001E-2</c:v>
                </c:pt>
              </c:numCache>
            </c:numRef>
          </c:val>
          <c:extLst>
            <c:ext xmlns:c16="http://schemas.microsoft.com/office/drawing/2014/chart" uri="{C3380CC4-5D6E-409C-BE32-E72D297353CC}">
              <c16:uniqueId val="{00000000-CECC-4BE0-A6FD-B920303A66FA}"/>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707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5608-3114-BA83-FB1A-7BE92C1C8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C5561-27C6-28BD-AA96-5C05D9866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4CC43-9C9E-AB6F-752D-66F052526940}"/>
              </a:ext>
            </a:extLst>
          </p:cNvPr>
          <p:cNvSpPr>
            <a:spLocks noGrp="1"/>
          </p:cNvSpPr>
          <p:nvPr>
            <p:ph type="body" idx="1"/>
          </p:nvPr>
        </p:nvSpPr>
        <p:spPr/>
        <p:txBody>
          <a:bodyPr/>
          <a:lstStyle/>
          <a:p>
            <a:r>
              <a:rPr lang="en-US" dirty="0"/>
              <a:t>Business problem: companies spend development and marketing money across the whole customer base without knowing who is most likely to buy. This raises cost-to-serve. Framed as an unsupervised clustering task. Scope is deliberately limited to selected insights from selected features. The four tiles map to the 4Ps: People, Products, Promotion, Placement.</a:t>
            </a:r>
          </a:p>
        </p:txBody>
      </p:sp>
      <p:sp>
        <p:nvSpPr>
          <p:cNvPr id="4" name="Slide Number Placeholder 3">
            <a:extLst>
              <a:ext uri="{FF2B5EF4-FFF2-40B4-BE49-F238E27FC236}">
                <a16:creationId xmlns:a16="http://schemas.microsoft.com/office/drawing/2014/main" id="{9078F7FF-CC05-4F93-8FF8-6691DB4C4EDF}"/>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602185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 companies spend development and marketing money across the whole customer base without knowing who is most likely to buy. This raises cost-to-serve. Framed as an unsupervised clustering task. Scope is deliberately limited to selected insights from selected features. The four tiles map to the 4Ps: People, Products, Promotion, Placement.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Three-stage workflow from the report. Primary technical metric is silhouette score (-1 to 1). Business KPIs: cost savings, lower marketing cost, higher sales revenue. K-Means is the industry-standard baseline; DBSCAN handles irregular shapes and noise but struggles with varying densities.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dataset from Kaggle, provided by Dr. Omar Romero-Hernandez. 2,240 rows, 28 columns. 24 missing Income values, no duplicates. Raw outliers: Income max 666,666 and birth year 1893.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customer-profile features, six product-spend features, seven promotion features and four placement features: 26 informative columns plus two constants (Z_CostContact = 3, Z_Revenue = 11).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data dictionary. Ranges are from the raw describe() output, before outlier filtering. Education and Marital_Status are the only object columns; Income is the only float.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filters remove extreme values (Income 666,666; birth year 1893). between() excludes NaN, so the 24 null-Income rows also drop out; 202 rows removed in total (2,240 to 2,038). One-hot encoding via pd.get_dummies took the frame from 28 to 39 columns. Boxplots compared MinMax, Standard and Robust scalers; StandardScaler was used for clustering.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Correlations are from the heatmaps in the notebook (Income vs Kidhome shows -0.43 in the heatmap output; the written report says -0.49). Feature selection used SelectKBest with f_classif (k=5) but the demo ran on synthetic make_classification data, so the selected feature_N names do not map to real columns; it must be rerun on the customer features. PCA with 2 components was used to visualise DBSCAN clusters.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elbow sweep k=2..29 on StandardScaler output, then k=2 with random_state=42, silhouette 0.44. The elbow curve declines smoothly with no sharp elbow; inertia values on the chart are read approximately off the notebook plot. DBSCAN: 2-feature pairs, eps=0.3, min_samples=3, silhouette excludes noise, PCA-2D plot for visual inspection.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Silhouette scores: K-Means k=2 0.44 (multi-feature); DBSCAN Income x AcceptedCmp1 0.791 (2 clusters, 2 noise points: accepters mean income 78,272 vs 48,377); DBSCAN Year_Birth x AcceptedCmp1 0.776; DBSCAN Income x NumStorePurchases 0.056 with 15 clusters and 13 noise points; DBSCAN Income x MntWines found only 1 cluster plus 6 noise points (mean income 103,018, wines 610), so silhouette could not be computed. The high scores are driven by the binary feature separating the clusters.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limitations are identified from the notebooks; the fairness audit and SHAP/LIME explanations are planned, not yet executed. Dataset has no gender or race fields, so age, income, education and marital status are the available sensitive or proxy attributes. Disparate impact uses the 0.8 (four-fifths) rule of thumb.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64240"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Customer Personality Clustering  |  Technical deck</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43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64240"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Customer Personality Clustering  |  Technical deck</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577B4-E62B-8B94-5BA0-326A92FB571D}"/>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EA5AC4F4-44B1-837D-D7E9-69163FFB7359}"/>
              </a:ext>
            </a:extLst>
          </p:cNvPr>
          <p:cNvSpPr txBox="1"/>
          <p:nvPr/>
        </p:nvSpPr>
        <p:spPr>
          <a:xfrm>
            <a:off x="548640" y="274320"/>
            <a:ext cx="8229600" cy="274320"/>
          </a:xfrm>
          <a:prstGeom prst="rect">
            <a:avLst/>
          </a:prstGeom>
          <a:noFill/>
          <a:ln/>
        </p:spPr>
        <p:txBody>
          <a:bodyPr wrap="square" lIns="0" tIns="0" rIns="0" bIns="0" rtlCol="0" anchor="ctr"/>
          <a:lstStyle/>
          <a:p>
            <a:pPr marL="0" indent="0">
              <a:buNone/>
            </a:pPr>
            <a:endParaRPr lang="en-US" sz="1200" dirty="0"/>
          </a:p>
        </p:txBody>
      </p:sp>
      <p:sp>
        <p:nvSpPr>
          <p:cNvPr id="3" name="Text 0">
            <a:extLst>
              <a:ext uri="{FF2B5EF4-FFF2-40B4-BE49-F238E27FC236}">
                <a16:creationId xmlns:a16="http://schemas.microsoft.com/office/drawing/2014/main" id="{F5F41CFC-7D1C-FF2B-0F56-5239DEA39F9B}"/>
              </a:ext>
            </a:extLst>
          </p:cNvPr>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dirty="0"/>
              <a:t>Capstone Project: Technical Presentation</a:t>
            </a:r>
            <a:endParaRPr lang="en-US" sz="3000" dirty="0"/>
          </a:p>
        </p:txBody>
      </p:sp>
      <p:sp>
        <p:nvSpPr>
          <p:cNvPr id="6" name="TaskCard0">
            <a:extLst>
              <a:ext uri="{FF2B5EF4-FFF2-40B4-BE49-F238E27FC236}">
                <a16:creationId xmlns:a16="http://schemas.microsoft.com/office/drawing/2014/main" id="{B5ADDB16-CE15-E452-1E1A-844507BD1775}"/>
              </a:ext>
            </a:extLst>
          </p:cNvPr>
          <p:cNvSpPr/>
          <p:nvPr/>
        </p:nvSpPr>
        <p:spPr>
          <a:xfrm>
            <a:off x="548640" y="1655489"/>
            <a:ext cx="5212080" cy="1234440"/>
          </a:xfrm>
          <a:prstGeom prst="roundRect">
            <a:avLst>
              <a:gd name="adj" fmla="val 8000"/>
            </a:avLst>
          </a:prstGeom>
          <a:solidFill>
            <a:schemeClr val="accent3"/>
          </a:solidFill>
          <a:ln/>
        </p:spPr>
        <p:txBody>
          <a:bodyPr/>
          <a:lstStyle/>
          <a:p>
            <a:endParaRPr lang="en-PH"/>
          </a:p>
        </p:txBody>
      </p:sp>
      <p:sp>
        <p:nvSpPr>
          <p:cNvPr id="7" name="Text 4">
            <a:extLst>
              <a:ext uri="{FF2B5EF4-FFF2-40B4-BE49-F238E27FC236}">
                <a16:creationId xmlns:a16="http://schemas.microsoft.com/office/drawing/2014/main" id="{91F34D45-4340-D4CB-6BC5-C3076E5092D7}"/>
              </a:ext>
            </a:extLst>
          </p:cNvPr>
          <p:cNvSpPr txBox="1"/>
          <p:nvPr/>
        </p:nvSpPr>
        <p:spPr>
          <a:xfrm>
            <a:off x="777240" y="1805408"/>
            <a:ext cx="4754880" cy="274320"/>
          </a:xfrm>
          <a:prstGeom prst="rect">
            <a:avLst/>
          </a:prstGeom>
          <a:noFill/>
          <a:ln/>
        </p:spPr>
        <p:txBody>
          <a:bodyPr wrap="square" lIns="0" tIns="0" rIns="0" bIns="0" rtlCol="0" anchor="ctr"/>
          <a:lstStyle/>
          <a:p>
            <a:r>
              <a:rPr lang="en-US" sz="2400" b="1" kern="0" spc="100" dirty="0">
                <a:solidFill>
                  <a:schemeClr val="accent2"/>
                </a:solidFill>
              </a:rPr>
              <a:t>PROJECT DOMAIN</a:t>
            </a:r>
            <a:endParaRPr lang="en-US" sz="2400" dirty="0"/>
          </a:p>
        </p:txBody>
      </p:sp>
      <p:sp>
        <p:nvSpPr>
          <p:cNvPr id="8" name="Text 5">
            <a:extLst>
              <a:ext uri="{FF2B5EF4-FFF2-40B4-BE49-F238E27FC236}">
                <a16:creationId xmlns:a16="http://schemas.microsoft.com/office/drawing/2014/main" id="{ACD7CED4-C2C1-31A1-39C7-62CE6374091A}"/>
              </a:ext>
            </a:extLst>
          </p:cNvPr>
          <p:cNvSpPr txBox="1"/>
          <p:nvPr/>
        </p:nvSpPr>
        <p:spPr>
          <a:xfrm>
            <a:off x="915463" y="2148308"/>
            <a:ext cx="4754880" cy="457200"/>
          </a:xfrm>
          <a:prstGeom prst="rect">
            <a:avLst/>
          </a:prstGeom>
          <a:noFill/>
          <a:ln/>
        </p:spPr>
        <p:txBody>
          <a:bodyPr wrap="square" lIns="0" tIns="0" rIns="0" bIns="0" rtlCol="0" anchor="t"/>
          <a:lstStyle/>
          <a:p>
            <a:r>
              <a:rPr lang="en-PH" sz="2000" dirty="0">
                <a:solidFill>
                  <a:schemeClr val="bg1"/>
                </a:solidFill>
              </a:rPr>
              <a:t>Clustering Option (Unsupervised)</a:t>
            </a:r>
            <a:endParaRPr lang="en-US" sz="2000" dirty="0">
              <a:solidFill>
                <a:schemeClr val="bg1"/>
              </a:solidFill>
            </a:endParaRPr>
          </a:p>
        </p:txBody>
      </p:sp>
      <p:sp>
        <p:nvSpPr>
          <p:cNvPr id="9" name="TaskCard1">
            <a:extLst>
              <a:ext uri="{FF2B5EF4-FFF2-40B4-BE49-F238E27FC236}">
                <a16:creationId xmlns:a16="http://schemas.microsoft.com/office/drawing/2014/main" id="{06334F32-52F6-E66C-162A-699FE0774358}"/>
              </a:ext>
            </a:extLst>
          </p:cNvPr>
          <p:cNvSpPr/>
          <p:nvPr/>
        </p:nvSpPr>
        <p:spPr>
          <a:xfrm>
            <a:off x="541197" y="3189236"/>
            <a:ext cx="5212080" cy="1234440"/>
          </a:xfrm>
          <a:prstGeom prst="roundRect">
            <a:avLst>
              <a:gd name="adj" fmla="val 8000"/>
            </a:avLst>
          </a:prstGeom>
          <a:solidFill>
            <a:schemeClr val="accent3"/>
          </a:solidFill>
          <a:ln/>
        </p:spPr>
        <p:txBody>
          <a:bodyPr/>
          <a:lstStyle/>
          <a:p>
            <a:endParaRPr lang="en-PH"/>
          </a:p>
        </p:txBody>
      </p:sp>
      <p:sp>
        <p:nvSpPr>
          <p:cNvPr id="10" name="Text 7">
            <a:extLst>
              <a:ext uri="{FF2B5EF4-FFF2-40B4-BE49-F238E27FC236}">
                <a16:creationId xmlns:a16="http://schemas.microsoft.com/office/drawing/2014/main" id="{B156B580-9D3E-4849-D178-AA099EBC10BC}"/>
              </a:ext>
            </a:extLst>
          </p:cNvPr>
          <p:cNvSpPr txBox="1"/>
          <p:nvPr/>
        </p:nvSpPr>
        <p:spPr>
          <a:xfrm>
            <a:off x="769797" y="3280676"/>
            <a:ext cx="4754880" cy="274320"/>
          </a:xfrm>
          <a:prstGeom prst="rect">
            <a:avLst/>
          </a:prstGeom>
          <a:noFill/>
          <a:ln/>
        </p:spPr>
        <p:txBody>
          <a:bodyPr wrap="square" lIns="0" tIns="0" rIns="0" bIns="0" rtlCol="0" anchor="ctr"/>
          <a:lstStyle/>
          <a:p>
            <a:pPr marL="0" indent="0">
              <a:buNone/>
            </a:pPr>
            <a:r>
              <a:rPr lang="en-US" sz="2400" b="1" kern="0" spc="100" dirty="0">
                <a:solidFill>
                  <a:schemeClr val="accent2"/>
                </a:solidFill>
              </a:rPr>
              <a:t>TOPIC</a:t>
            </a:r>
            <a:endParaRPr lang="en-US" sz="2400" dirty="0"/>
          </a:p>
        </p:txBody>
      </p:sp>
      <p:sp>
        <p:nvSpPr>
          <p:cNvPr id="12" name="TaskCard2">
            <a:extLst>
              <a:ext uri="{FF2B5EF4-FFF2-40B4-BE49-F238E27FC236}">
                <a16:creationId xmlns:a16="http://schemas.microsoft.com/office/drawing/2014/main" id="{C719513B-EE43-496E-D18D-823D6BFA754D}"/>
              </a:ext>
            </a:extLst>
          </p:cNvPr>
          <p:cNvSpPr/>
          <p:nvPr/>
        </p:nvSpPr>
        <p:spPr>
          <a:xfrm>
            <a:off x="548640" y="4823460"/>
            <a:ext cx="5212080" cy="1234440"/>
          </a:xfrm>
          <a:prstGeom prst="roundRect">
            <a:avLst>
              <a:gd name="adj" fmla="val 8000"/>
            </a:avLst>
          </a:prstGeom>
          <a:solidFill>
            <a:schemeClr val="accent3"/>
          </a:solidFill>
          <a:ln/>
        </p:spPr>
        <p:txBody>
          <a:bodyPr/>
          <a:lstStyle/>
          <a:p>
            <a:endParaRPr lang="en-PH"/>
          </a:p>
        </p:txBody>
      </p:sp>
      <p:sp>
        <p:nvSpPr>
          <p:cNvPr id="13" name="Text 10">
            <a:extLst>
              <a:ext uri="{FF2B5EF4-FFF2-40B4-BE49-F238E27FC236}">
                <a16:creationId xmlns:a16="http://schemas.microsoft.com/office/drawing/2014/main" id="{269950B1-8E54-6F95-BD42-7BCB092E10D6}"/>
              </a:ext>
            </a:extLst>
          </p:cNvPr>
          <p:cNvSpPr txBox="1"/>
          <p:nvPr/>
        </p:nvSpPr>
        <p:spPr>
          <a:xfrm>
            <a:off x="777240" y="4914900"/>
            <a:ext cx="4754880" cy="274320"/>
          </a:xfrm>
          <a:prstGeom prst="rect">
            <a:avLst/>
          </a:prstGeom>
          <a:noFill/>
          <a:ln/>
        </p:spPr>
        <p:txBody>
          <a:bodyPr wrap="square" lIns="0" tIns="0" rIns="0" bIns="0" rtlCol="0" anchor="ctr"/>
          <a:lstStyle/>
          <a:p>
            <a:pPr marL="0" indent="0">
              <a:buNone/>
            </a:pPr>
            <a:r>
              <a:rPr lang="en-US" sz="2400" b="1" kern="0" spc="100" dirty="0">
                <a:solidFill>
                  <a:schemeClr val="accent2"/>
                </a:solidFill>
              </a:rPr>
              <a:t>SCOPE</a:t>
            </a:r>
            <a:endParaRPr lang="en-US" sz="2400" dirty="0"/>
          </a:p>
        </p:txBody>
      </p:sp>
      <p:sp>
        <p:nvSpPr>
          <p:cNvPr id="14" name="Text 11">
            <a:extLst>
              <a:ext uri="{FF2B5EF4-FFF2-40B4-BE49-F238E27FC236}">
                <a16:creationId xmlns:a16="http://schemas.microsoft.com/office/drawing/2014/main" id="{DB19750A-869E-B5A4-9C79-C8414CD114A7}"/>
              </a:ext>
            </a:extLst>
          </p:cNvPr>
          <p:cNvSpPr txBox="1"/>
          <p:nvPr/>
        </p:nvSpPr>
        <p:spPr>
          <a:xfrm>
            <a:off x="777240" y="5297140"/>
            <a:ext cx="4754880" cy="457200"/>
          </a:xfrm>
          <a:prstGeom prst="rect">
            <a:avLst/>
          </a:prstGeom>
          <a:noFill/>
          <a:ln/>
        </p:spPr>
        <p:txBody>
          <a:bodyPr wrap="square" lIns="0" tIns="0" rIns="0" bIns="0" rtlCol="0" anchor="t"/>
          <a:lstStyle/>
          <a:p>
            <a:pPr marL="0" indent="0">
              <a:buNone/>
            </a:pPr>
            <a:r>
              <a:rPr lang="en-US" sz="2000" dirty="0">
                <a:solidFill>
                  <a:schemeClr val="bg1"/>
                </a:solidFill>
              </a:rPr>
              <a:t>Selected insights from selected features, not every business question on the dataset</a:t>
            </a:r>
            <a:endParaRPr lang="en-US" sz="2000" dirty="0"/>
          </a:p>
        </p:txBody>
      </p:sp>
      <p:sp>
        <p:nvSpPr>
          <p:cNvPr id="28" name="Badge">
            <a:extLst>
              <a:ext uri="{FF2B5EF4-FFF2-40B4-BE49-F238E27FC236}">
                <a16:creationId xmlns:a16="http://schemas.microsoft.com/office/drawing/2014/main" id="{0803DDD1-2DDB-8B7B-0C12-38DC49979ADF}"/>
              </a:ext>
            </a:extLst>
          </p:cNvPr>
          <p:cNvSpPr/>
          <p:nvPr/>
        </p:nvSpPr>
        <p:spPr>
          <a:xfrm>
            <a:off x="5858898" y="5287039"/>
            <a:ext cx="548640" cy="548640"/>
          </a:xfrm>
          <a:prstGeom prst="ellipse">
            <a:avLst/>
          </a:prstGeom>
          <a:solidFill>
            <a:schemeClr val="accent2"/>
          </a:solidFill>
          <a:ln/>
        </p:spPr>
        <p:txBody>
          <a:bodyPr/>
          <a:lstStyle/>
          <a:p>
            <a:endParaRPr lang="en-PH"/>
          </a:p>
        </p:txBody>
      </p:sp>
      <p:sp>
        <p:nvSpPr>
          <p:cNvPr id="4" name="Slide Number Placeholder 0">
            <a:extLst>
              <a:ext uri="{FF2B5EF4-FFF2-40B4-BE49-F238E27FC236}">
                <a16:creationId xmlns:a16="http://schemas.microsoft.com/office/drawing/2014/main" id="{4A2B2BD5-B4F7-2F38-0502-78CCE639C596}"/>
              </a:ext>
            </a:extLst>
          </p:cNvPr>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a:t>
            </a:fld>
            <a:endParaRPr lang="en-US"/>
          </a:p>
        </p:txBody>
      </p:sp>
      <p:sp>
        <p:nvSpPr>
          <p:cNvPr id="40" name="Text 5">
            <a:extLst>
              <a:ext uri="{FF2B5EF4-FFF2-40B4-BE49-F238E27FC236}">
                <a16:creationId xmlns:a16="http://schemas.microsoft.com/office/drawing/2014/main" id="{232FFE1F-C2D4-0669-B1B3-B3733AB7B2D9}"/>
              </a:ext>
            </a:extLst>
          </p:cNvPr>
          <p:cNvSpPr txBox="1"/>
          <p:nvPr/>
        </p:nvSpPr>
        <p:spPr>
          <a:xfrm>
            <a:off x="915463" y="3646435"/>
            <a:ext cx="4754880" cy="618283"/>
          </a:xfrm>
          <a:prstGeom prst="rect">
            <a:avLst/>
          </a:prstGeom>
          <a:noFill/>
          <a:ln/>
        </p:spPr>
        <p:txBody>
          <a:bodyPr wrap="square" lIns="0" tIns="0" rIns="0" bIns="0" rtlCol="0" anchor="t"/>
          <a:lstStyle/>
          <a:p>
            <a:r>
              <a:rPr lang="en-US" sz="2000" dirty="0">
                <a:solidFill>
                  <a:schemeClr val="bg1"/>
                </a:solidFill>
              </a:rPr>
              <a:t>Customer segmentation and preference</a:t>
            </a:r>
          </a:p>
        </p:txBody>
      </p:sp>
      <p:sp>
        <p:nvSpPr>
          <p:cNvPr id="42" name="Text 4">
            <a:extLst>
              <a:ext uri="{FF2B5EF4-FFF2-40B4-BE49-F238E27FC236}">
                <a16:creationId xmlns:a16="http://schemas.microsoft.com/office/drawing/2014/main" id="{4276AD8E-A2DB-3263-E99B-307F2F755D6C}"/>
              </a:ext>
            </a:extLst>
          </p:cNvPr>
          <p:cNvSpPr txBox="1"/>
          <p:nvPr/>
        </p:nvSpPr>
        <p:spPr>
          <a:xfrm>
            <a:off x="6636138" y="4902671"/>
            <a:ext cx="5215266" cy="1317376"/>
          </a:xfrm>
          <a:prstGeom prst="rect">
            <a:avLst/>
          </a:prstGeom>
          <a:noFill/>
          <a:ln/>
        </p:spPr>
        <p:txBody>
          <a:bodyPr wrap="square" lIns="0" tIns="0" rIns="0" bIns="0" rtlCol="0" anchor="ctr"/>
          <a:lstStyle/>
          <a:p>
            <a:r>
              <a:rPr lang="en-US" sz="2400" b="1" kern="0" spc="100" dirty="0">
                <a:solidFill>
                  <a:schemeClr val="accent2"/>
                </a:solidFill>
              </a:rPr>
              <a:t>JOHN A. FAJARDO</a:t>
            </a:r>
          </a:p>
          <a:p>
            <a:r>
              <a:rPr lang="en-US" sz="2400" b="1" kern="0" spc="100" dirty="0">
                <a:solidFill>
                  <a:schemeClr val="accent2"/>
                </a:solidFill>
              </a:rPr>
              <a:t>Student – AIM PGDAIML</a:t>
            </a:r>
          </a:p>
          <a:p>
            <a:endParaRPr lang="en-US" sz="2400" b="1" kern="0" spc="100" dirty="0">
              <a:solidFill>
                <a:schemeClr val="accent2"/>
              </a:solidFill>
            </a:endParaRPr>
          </a:p>
          <a:p>
            <a:r>
              <a:rPr lang="en-US" sz="2400" b="1" kern="0" spc="100" dirty="0">
                <a:solidFill>
                  <a:schemeClr val="accent2"/>
                </a:solidFill>
              </a:rPr>
              <a:t>October 2026</a:t>
            </a:r>
            <a:endParaRPr lang="en-US" sz="2400" dirty="0"/>
          </a:p>
        </p:txBody>
      </p:sp>
      <p:grpSp>
        <p:nvGrpSpPr>
          <p:cNvPr id="50" name="Group 49">
            <a:extLst>
              <a:ext uri="{FF2B5EF4-FFF2-40B4-BE49-F238E27FC236}">
                <a16:creationId xmlns:a16="http://schemas.microsoft.com/office/drawing/2014/main" id="{49B5688A-6BDD-FF99-FDC3-42D31F07BFEF}"/>
              </a:ext>
            </a:extLst>
          </p:cNvPr>
          <p:cNvGrpSpPr/>
          <p:nvPr/>
        </p:nvGrpSpPr>
        <p:grpSpPr>
          <a:xfrm>
            <a:off x="6373996" y="1554480"/>
            <a:ext cx="5477408" cy="3177113"/>
            <a:chOff x="8915890" y="1655489"/>
            <a:chExt cx="5477408" cy="3177113"/>
          </a:xfrm>
        </p:grpSpPr>
        <p:pic>
          <p:nvPicPr>
            <p:cNvPr id="44" name="Picture 43" descr="Customer Segmentation in Python. A customer analytics guide into… | by Ogunbajo Adeyinka | Medium">
              <a:extLst>
                <a:ext uri="{FF2B5EF4-FFF2-40B4-BE49-F238E27FC236}">
                  <a16:creationId xmlns:a16="http://schemas.microsoft.com/office/drawing/2014/main" id="{E0788622-031B-E8E6-86EA-D980AEFBF83C}"/>
                </a:ext>
              </a:extLst>
            </p:cNvPr>
            <p:cNvPicPr>
              <a:picLocks noChangeAspect="1"/>
            </p:cNvPicPr>
            <p:nvPr/>
          </p:nvPicPr>
          <p:blipFill>
            <a:blip r:embed="rId3"/>
            <a:stretch>
              <a:fillRect/>
            </a:stretch>
          </p:blipFill>
          <p:spPr>
            <a:xfrm>
              <a:off x="11643360" y="1655489"/>
              <a:ext cx="2749938" cy="3177113"/>
            </a:xfrm>
            <a:prstGeom prst="rect">
              <a:avLst/>
            </a:prstGeom>
          </p:spPr>
        </p:pic>
        <p:pic>
          <p:nvPicPr>
            <p:cNvPr id="47" name="Picture 46">
              <a:extLst>
                <a:ext uri="{FF2B5EF4-FFF2-40B4-BE49-F238E27FC236}">
                  <a16:creationId xmlns:a16="http://schemas.microsoft.com/office/drawing/2014/main" id="{760C62DD-6B39-EAA3-45D4-7DBE3915BE8A}"/>
                </a:ext>
              </a:extLst>
            </p:cNvPr>
            <p:cNvPicPr>
              <a:picLocks noChangeAspect="1"/>
            </p:cNvPicPr>
            <p:nvPr/>
          </p:nvPicPr>
          <p:blipFill>
            <a:blip r:embed="rId4"/>
            <a:stretch>
              <a:fillRect/>
            </a:stretch>
          </p:blipFill>
          <p:spPr>
            <a:xfrm>
              <a:off x="8915890" y="1655489"/>
              <a:ext cx="2600889" cy="1979934"/>
            </a:xfrm>
            <a:prstGeom prst="rect">
              <a:avLst/>
            </a:prstGeom>
          </p:spPr>
        </p:pic>
        <p:pic>
          <p:nvPicPr>
            <p:cNvPr id="49" name="Picture 48">
              <a:extLst>
                <a:ext uri="{FF2B5EF4-FFF2-40B4-BE49-F238E27FC236}">
                  <a16:creationId xmlns:a16="http://schemas.microsoft.com/office/drawing/2014/main" id="{C9598DFA-EDEB-B20A-6EF5-81EEC42A059D}"/>
                </a:ext>
              </a:extLst>
            </p:cNvPr>
            <p:cNvPicPr>
              <a:picLocks noChangeAspect="1"/>
            </p:cNvPicPr>
            <p:nvPr/>
          </p:nvPicPr>
          <p:blipFill>
            <a:blip r:embed="rId5"/>
            <a:stretch>
              <a:fillRect/>
            </a:stretch>
          </p:blipFill>
          <p:spPr>
            <a:xfrm>
              <a:off x="8915890" y="2991491"/>
              <a:ext cx="2600889" cy="1820622"/>
            </a:xfrm>
            <a:prstGeom prst="rect">
              <a:avLst/>
            </a:prstGeom>
          </p:spPr>
        </p:pic>
      </p:grpSp>
    </p:spTree>
    <p:extLst>
      <p:ext uri="{BB962C8B-B14F-4D97-AF65-F5344CB8AC3E}">
        <p14:creationId xmlns:p14="http://schemas.microsoft.com/office/powerpoint/2010/main" val="4062534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STEP 1  |  PROBLEM UNDERSTANDING &amp; FRAMING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bg1"/>
                </a:solidFill>
              </a:rPr>
              <a:t>Problem: marketing to customers we don't understand</a:t>
            </a:r>
            <a:endParaRPr lang="en-US" sz="3000" dirty="0"/>
          </a:p>
        </p:txBody>
      </p:sp>
      <p:sp>
        <p:nvSpPr>
          <p:cNvPr id="5" name="Body"/>
          <p:cNvSpPr txBox="1"/>
          <p:nvPr/>
        </p:nvSpPr>
        <p:spPr>
          <a:xfrm>
            <a:off x="548640" y="1554480"/>
            <a:ext cx="5212080" cy="1188720"/>
          </a:xfrm>
          <a:prstGeom prst="rect">
            <a:avLst/>
          </a:prstGeom>
          <a:noFill/>
          <a:ln/>
        </p:spPr>
        <p:txBody>
          <a:bodyPr wrap="square" lIns="0" tIns="0" rIns="0" bIns="0" rtlCol="0" anchor="t"/>
          <a:lstStyle/>
          <a:p>
            <a:pPr marL="0" indent="0">
              <a:buNone/>
            </a:pPr>
            <a:r>
              <a:rPr lang="en-US" sz="1800" dirty="0">
                <a:solidFill>
                  <a:schemeClr val="bg1"/>
                </a:solidFill>
              </a:rPr>
              <a:t>Companies market and develop products blindly across their entire customer base, raising cost-to-serve and cutting profitability.</a:t>
            </a:r>
            <a:endParaRPr lang="en-US" sz="1800" dirty="0"/>
          </a:p>
        </p:txBody>
      </p:sp>
      <p:sp>
        <p:nvSpPr>
          <p:cNvPr id="6" name="TaskCard0"/>
          <p:cNvSpPr/>
          <p:nvPr/>
        </p:nvSpPr>
        <p:spPr>
          <a:xfrm>
            <a:off x="548640" y="2971800"/>
            <a:ext cx="5212080" cy="914400"/>
          </a:xfrm>
          <a:prstGeom prst="roundRect">
            <a:avLst>
              <a:gd name="adj" fmla="val 8000"/>
            </a:avLst>
          </a:prstGeom>
          <a:solidFill>
            <a:schemeClr val="accent3"/>
          </a:solidFill>
          <a:ln/>
        </p:spPr>
        <p:txBody>
          <a:bodyPr/>
          <a:lstStyle/>
          <a:p>
            <a:endParaRPr lang="en-PH"/>
          </a:p>
        </p:txBody>
      </p:sp>
      <p:sp>
        <p:nvSpPr>
          <p:cNvPr id="7" name="Text 4"/>
          <p:cNvSpPr txBox="1"/>
          <p:nvPr/>
        </p:nvSpPr>
        <p:spPr>
          <a:xfrm>
            <a:off x="777240" y="3063240"/>
            <a:ext cx="475488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TASK TYPE</a:t>
            </a:r>
            <a:endParaRPr lang="en-US" sz="1200" dirty="0"/>
          </a:p>
        </p:txBody>
      </p:sp>
      <p:sp>
        <p:nvSpPr>
          <p:cNvPr id="8" name="Text 5"/>
          <p:cNvSpPr txBox="1"/>
          <p:nvPr/>
        </p:nvSpPr>
        <p:spPr>
          <a:xfrm>
            <a:off x="777240" y="3337560"/>
            <a:ext cx="4754880" cy="457200"/>
          </a:xfrm>
          <a:prstGeom prst="rect">
            <a:avLst/>
          </a:prstGeom>
          <a:noFill/>
          <a:ln/>
        </p:spPr>
        <p:txBody>
          <a:bodyPr wrap="square" lIns="0" tIns="0" rIns="0" bIns="0" rtlCol="0" anchor="t"/>
          <a:lstStyle/>
          <a:p>
            <a:pPr marL="0" indent="0">
              <a:buNone/>
            </a:pPr>
            <a:r>
              <a:rPr lang="en-US" sz="1400" dirty="0">
                <a:solidFill>
                  <a:schemeClr val="bg1"/>
                </a:solidFill>
              </a:rPr>
              <a:t>Unsupervised clustering (customer segmentation)</a:t>
            </a:r>
            <a:endParaRPr lang="en-US" sz="1400" dirty="0"/>
          </a:p>
        </p:txBody>
      </p:sp>
      <p:sp>
        <p:nvSpPr>
          <p:cNvPr id="9" name="TaskCard1"/>
          <p:cNvSpPr/>
          <p:nvPr/>
        </p:nvSpPr>
        <p:spPr>
          <a:xfrm>
            <a:off x="548640" y="4023360"/>
            <a:ext cx="5212080" cy="914400"/>
          </a:xfrm>
          <a:prstGeom prst="roundRect">
            <a:avLst>
              <a:gd name="adj" fmla="val 8000"/>
            </a:avLst>
          </a:prstGeom>
          <a:solidFill>
            <a:schemeClr val="accent3"/>
          </a:solidFill>
          <a:ln/>
        </p:spPr>
        <p:txBody>
          <a:bodyPr/>
          <a:lstStyle/>
          <a:p>
            <a:endParaRPr lang="en-PH"/>
          </a:p>
        </p:txBody>
      </p:sp>
      <p:sp>
        <p:nvSpPr>
          <p:cNvPr id="10" name="Text 7"/>
          <p:cNvSpPr txBox="1"/>
          <p:nvPr/>
        </p:nvSpPr>
        <p:spPr>
          <a:xfrm>
            <a:off x="777240" y="4114800"/>
            <a:ext cx="475488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GOAL</a:t>
            </a:r>
            <a:endParaRPr lang="en-US" sz="1200" dirty="0"/>
          </a:p>
        </p:txBody>
      </p:sp>
      <p:sp>
        <p:nvSpPr>
          <p:cNvPr id="11" name="Text 8"/>
          <p:cNvSpPr txBox="1"/>
          <p:nvPr/>
        </p:nvSpPr>
        <p:spPr>
          <a:xfrm>
            <a:off x="777240" y="4389120"/>
            <a:ext cx="4754880" cy="457200"/>
          </a:xfrm>
          <a:prstGeom prst="rect">
            <a:avLst/>
          </a:prstGeom>
          <a:noFill/>
          <a:ln/>
        </p:spPr>
        <p:txBody>
          <a:bodyPr wrap="square" lIns="0" tIns="0" rIns="0" bIns="0" rtlCol="0" anchor="t"/>
          <a:lstStyle/>
          <a:p>
            <a:pPr marL="0" indent="0">
              <a:buNone/>
            </a:pPr>
            <a:r>
              <a:rPr lang="en-US" sz="1400" dirty="0">
                <a:solidFill>
                  <a:schemeClr val="bg1"/>
                </a:solidFill>
              </a:rPr>
              <a:t>Group customers by profile, behaviour and preference to target spend</a:t>
            </a:r>
            <a:endParaRPr lang="en-US" sz="1400" dirty="0"/>
          </a:p>
        </p:txBody>
      </p:sp>
      <p:sp>
        <p:nvSpPr>
          <p:cNvPr id="12" name="TaskCard2"/>
          <p:cNvSpPr/>
          <p:nvPr/>
        </p:nvSpPr>
        <p:spPr>
          <a:xfrm>
            <a:off x="548640" y="5074920"/>
            <a:ext cx="5212080" cy="914400"/>
          </a:xfrm>
          <a:prstGeom prst="roundRect">
            <a:avLst>
              <a:gd name="adj" fmla="val 8000"/>
            </a:avLst>
          </a:prstGeom>
          <a:solidFill>
            <a:schemeClr val="accent3"/>
          </a:solidFill>
          <a:ln/>
        </p:spPr>
        <p:txBody>
          <a:bodyPr/>
          <a:lstStyle/>
          <a:p>
            <a:endParaRPr lang="en-PH"/>
          </a:p>
        </p:txBody>
      </p:sp>
      <p:sp>
        <p:nvSpPr>
          <p:cNvPr id="13" name="Text 10"/>
          <p:cNvSpPr txBox="1"/>
          <p:nvPr/>
        </p:nvSpPr>
        <p:spPr>
          <a:xfrm>
            <a:off x="777240" y="5166360"/>
            <a:ext cx="475488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SCOPE</a:t>
            </a:r>
            <a:endParaRPr lang="en-US" sz="1200" dirty="0"/>
          </a:p>
        </p:txBody>
      </p:sp>
      <p:sp>
        <p:nvSpPr>
          <p:cNvPr id="14" name="Text 11"/>
          <p:cNvSpPr txBox="1"/>
          <p:nvPr/>
        </p:nvSpPr>
        <p:spPr>
          <a:xfrm>
            <a:off x="777240" y="5440680"/>
            <a:ext cx="4754880" cy="457200"/>
          </a:xfrm>
          <a:prstGeom prst="rect">
            <a:avLst/>
          </a:prstGeom>
          <a:noFill/>
          <a:ln/>
        </p:spPr>
        <p:txBody>
          <a:bodyPr wrap="square" lIns="0" tIns="0" rIns="0" bIns="0" rtlCol="0" anchor="t"/>
          <a:lstStyle/>
          <a:p>
            <a:pPr marL="0" indent="0">
              <a:buNone/>
            </a:pPr>
            <a:r>
              <a:rPr lang="en-US" sz="1400" dirty="0">
                <a:solidFill>
                  <a:schemeClr val="bg1"/>
                </a:solidFill>
              </a:rPr>
              <a:t>Selected insights from selected features, not every business question</a:t>
            </a:r>
            <a:endParaRPr lang="en-US" sz="1400" dirty="0"/>
          </a:p>
        </p:txBody>
      </p:sp>
      <p:sp>
        <p:nvSpPr>
          <p:cNvPr id="15" name="FPCard0"/>
          <p:cNvSpPr/>
          <p:nvPr/>
        </p:nvSpPr>
        <p:spPr>
          <a:xfrm>
            <a:off x="6309360" y="1554480"/>
            <a:ext cx="2560320" cy="2194560"/>
          </a:xfrm>
          <a:prstGeom prst="roundRect">
            <a:avLst>
              <a:gd name="adj" fmla="val 3333"/>
            </a:avLst>
          </a:prstGeom>
          <a:solidFill>
            <a:schemeClr val="accent3"/>
          </a:solidFill>
          <a:ln/>
        </p:spPr>
        <p:txBody>
          <a:bodyPr/>
          <a:lstStyle/>
          <a:p>
            <a:endParaRPr lang="en-PH"/>
          </a:p>
        </p:txBody>
      </p:sp>
      <p:sp>
        <p:nvSpPr>
          <p:cNvPr id="16" name="Badge"/>
          <p:cNvSpPr/>
          <p:nvPr/>
        </p:nvSpPr>
        <p:spPr>
          <a:xfrm>
            <a:off x="6537960" y="1783080"/>
            <a:ext cx="548640" cy="548640"/>
          </a:xfrm>
          <a:prstGeom prst="ellipse">
            <a:avLst/>
          </a:prstGeom>
          <a:solidFill>
            <a:schemeClr val="accent2"/>
          </a:solidFill>
          <a:ln/>
        </p:spPr>
        <p:txBody>
          <a:bodyPr/>
          <a:lstStyle/>
          <a:p>
            <a:endParaRPr lang="en-PH"/>
          </a:p>
        </p:txBody>
      </p:sp>
      <p:sp>
        <p:nvSpPr>
          <p:cNvPr id="17" name="BadgeText"/>
          <p:cNvSpPr txBox="1"/>
          <p:nvPr/>
        </p:nvSpPr>
        <p:spPr>
          <a:xfrm>
            <a:off x="6537960" y="178308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P</a:t>
            </a:r>
            <a:endParaRPr lang="en-US" sz="1800" dirty="0"/>
          </a:p>
        </p:txBody>
      </p:sp>
      <p:sp>
        <p:nvSpPr>
          <p:cNvPr id="18" name="Text 15"/>
          <p:cNvSpPr txBox="1"/>
          <p:nvPr/>
        </p:nvSpPr>
        <p:spPr>
          <a:xfrm>
            <a:off x="6537960" y="2468880"/>
            <a:ext cx="2194560" cy="365760"/>
          </a:xfrm>
          <a:prstGeom prst="rect">
            <a:avLst/>
          </a:prstGeom>
          <a:noFill/>
          <a:ln/>
        </p:spPr>
        <p:txBody>
          <a:bodyPr wrap="square" lIns="0" tIns="0" rIns="0" bIns="0" rtlCol="0" anchor="ctr"/>
          <a:lstStyle/>
          <a:p>
            <a:pPr marL="0" indent="0">
              <a:buNone/>
            </a:pPr>
            <a:r>
              <a:rPr lang="en-US" sz="2000" b="1" dirty="0">
                <a:solidFill>
                  <a:schemeClr val="bg1"/>
                </a:solidFill>
              </a:rPr>
              <a:t>People</a:t>
            </a:r>
            <a:endParaRPr lang="en-US" sz="2000" dirty="0"/>
          </a:p>
        </p:txBody>
      </p:sp>
      <p:sp>
        <p:nvSpPr>
          <p:cNvPr id="19" name="Text 16"/>
          <p:cNvSpPr txBox="1"/>
          <p:nvPr/>
        </p:nvSpPr>
        <p:spPr>
          <a:xfrm>
            <a:off x="6537960" y="2834640"/>
            <a:ext cx="2194560" cy="365760"/>
          </a:xfrm>
          <a:prstGeom prst="rect">
            <a:avLst/>
          </a:prstGeom>
          <a:noFill/>
          <a:ln/>
        </p:spPr>
        <p:txBody>
          <a:bodyPr wrap="square" lIns="0" tIns="0" rIns="0" bIns="0" rtlCol="0" anchor="ctr"/>
          <a:lstStyle/>
          <a:p>
            <a:pPr marL="0" indent="0">
              <a:buNone/>
            </a:pPr>
            <a:r>
              <a:rPr lang="en-US" sz="1400" dirty="0">
                <a:solidFill>
                  <a:schemeClr val="bg1"/>
                </a:solidFill>
              </a:rPr>
              <a:t>Who do we sell to?</a:t>
            </a:r>
            <a:endParaRPr lang="en-US" sz="1400" dirty="0"/>
          </a:p>
        </p:txBody>
      </p:sp>
      <p:sp>
        <p:nvSpPr>
          <p:cNvPr id="20" name="Text 17"/>
          <p:cNvSpPr txBox="1"/>
          <p:nvPr/>
        </p:nvSpPr>
        <p:spPr>
          <a:xfrm>
            <a:off x="6537960" y="3200400"/>
            <a:ext cx="2194560" cy="274320"/>
          </a:xfrm>
          <a:prstGeom prst="rect">
            <a:avLst/>
          </a:prstGeom>
          <a:noFill/>
          <a:ln/>
        </p:spPr>
        <p:txBody>
          <a:bodyPr wrap="square" lIns="0" tIns="0" rIns="0" bIns="0" rtlCol="0" anchor="ctr"/>
          <a:lstStyle/>
          <a:p>
            <a:pPr marL="0" indent="0">
              <a:buNone/>
            </a:pPr>
            <a:r>
              <a:rPr lang="en-US" sz="1200" dirty="0">
                <a:solidFill>
                  <a:schemeClr val="accent4"/>
                </a:solidFill>
              </a:rPr>
              <a:t>Customer profile</a:t>
            </a:r>
            <a:endParaRPr lang="en-US" sz="1200" dirty="0"/>
          </a:p>
        </p:txBody>
      </p:sp>
      <p:sp>
        <p:nvSpPr>
          <p:cNvPr id="21" name="FPCard1"/>
          <p:cNvSpPr/>
          <p:nvPr/>
        </p:nvSpPr>
        <p:spPr>
          <a:xfrm>
            <a:off x="9052560" y="1554480"/>
            <a:ext cx="2560320" cy="2194560"/>
          </a:xfrm>
          <a:prstGeom prst="roundRect">
            <a:avLst>
              <a:gd name="adj" fmla="val 3333"/>
            </a:avLst>
          </a:prstGeom>
          <a:solidFill>
            <a:schemeClr val="accent3"/>
          </a:solidFill>
          <a:ln/>
        </p:spPr>
        <p:txBody>
          <a:bodyPr/>
          <a:lstStyle/>
          <a:p>
            <a:endParaRPr lang="en-PH"/>
          </a:p>
        </p:txBody>
      </p:sp>
      <p:sp>
        <p:nvSpPr>
          <p:cNvPr id="22" name="Badge"/>
          <p:cNvSpPr/>
          <p:nvPr/>
        </p:nvSpPr>
        <p:spPr>
          <a:xfrm>
            <a:off x="9281160" y="1783080"/>
            <a:ext cx="548640" cy="548640"/>
          </a:xfrm>
          <a:prstGeom prst="ellipse">
            <a:avLst/>
          </a:prstGeom>
          <a:solidFill>
            <a:schemeClr val="accent2"/>
          </a:solidFill>
          <a:ln/>
        </p:spPr>
        <p:txBody>
          <a:bodyPr/>
          <a:lstStyle/>
          <a:p>
            <a:endParaRPr lang="en-PH"/>
          </a:p>
        </p:txBody>
      </p:sp>
      <p:sp>
        <p:nvSpPr>
          <p:cNvPr id="23" name="BadgeText"/>
          <p:cNvSpPr txBox="1"/>
          <p:nvPr/>
        </p:nvSpPr>
        <p:spPr>
          <a:xfrm>
            <a:off x="9281160" y="178308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P</a:t>
            </a:r>
            <a:endParaRPr lang="en-US" sz="1800" dirty="0"/>
          </a:p>
        </p:txBody>
      </p:sp>
      <p:sp>
        <p:nvSpPr>
          <p:cNvPr id="24" name="Text 21"/>
          <p:cNvSpPr txBox="1"/>
          <p:nvPr/>
        </p:nvSpPr>
        <p:spPr>
          <a:xfrm>
            <a:off x="9281160" y="2468880"/>
            <a:ext cx="2194560" cy="365760"/>
          </a:xfrm>
          <a:prstGeom prst="rect">
            <a:avLst/>
          </a:prstGeom>
          <a:noFill/>
          <a:ln/>
        </p:spPr>
        <p:txBody>
          <a:bodyPr wrap="square" lIns="0" tIns="0" rIns="0" bIns="0" rtlCol="0" anchor="ctr"/>
          <a:lstStyle/>
          <a:p>
            <a:pPr marL="0" indent="0">
              <a:buNone/>
            </a:pPr>
            <a:r>
              <a:rPr lang="en-US" sz="2000" b="1" dirty="0">
                <a:solidFill>
                  <a:schemeClr val="bg1"/>
                </a:solidFill>
              </a:rPr>
              <a:t>Products</a:t>
            </a:r>
            <a:endParaRPr lang="en-US" sz="2000" dirty="0"/>
          </a:p>
        </p:txBody>
      </p:sp>
      <p:sp>
        <p:nvSpPr>
          <p:cNvPr id="25" name="Text 22"/>
          <p:cNvSpPr txBox="1"/>
          <p:nvPr/>
        </p:nvSpPr>
        <p:spPr>
          <a:xfrm>
            <a:off x="9281160" y="2834640"/>
            <a:ext cx="2194560" cy="365760"/>
          </a:xfrm>
          <a:prstGeom prst="rect">
            <a:avLst/>
          </a:prstGeom>
          <a:noFill/>
          <a:ln/>
        </p:spPr>
        <p:txBody>
          <a:bodyPr wrap="square" lIns="0" tIns="0" rIns="0" bIns="0" rtlCol="0" anchor="ctr"/>
          <a:lstStyle/>
          <a:p>
            <a:pPr marL="0" indent="0">
              <a:buNone/>
            </a:pPr>
            <a:r>
              <a:rPr lang="en-US" sz="1400" dirty="0">
                <a:solidFill>
                  <a:schemeClr val="bg1"/>
                </a:solidFill>
              </a:rPr>
              <a:t>What should we focus on?</a:t>
            </a:r>
            <a:endParaRPr lang="en-US" sz="1400" dirty="0"/>
          </a:p>
        </p:txBody>
      </p:sp>
      <p:sp>
        <p:nvSpPr>
          <p:cNvPr id="26" name="Text 23"/>
          <p:cNvSpPr txBox="1"/>
          <p:nvPr/>
        </p:nvSpPr>
        <p:spPr>
          <a:xfrm>
            <a:off x="9281160" y="3200400"/>
            <a:ext cx="2194560" cy="274320"/>
          </a:xfrm>
          <a:prstGeom prst="rect">
            <a:avLst/>
          </a:prstGeom>
          <a:noFill/>
          <a:ln/>
        </p:spPr>
        <p:txBody>
          <a:bodyPr wrap="square" lIns="0" tIns="0" rIns="0" bIns="0" rtlCol="0" anchor="ctr"/>
          <a:lstStyle/>
          <a:p>
            <a:pPr marL="0" indent="0">
              <a:buNone/>
            </a:pPr>
            <a:r>
              <a:rPr lang="en-US" sz="1200" dirty="0">
                <a:solidFill>
                  <a:schemeClr val="accent4"/>
                </a:solidFill>
              </a:rPr>
              <a:t>Spend by category</a:t>
            </a:r>
            <a:endParaRPr lang="en-US" sz="1200" dirty="0"/>
          </a:p>
        </p:txBody>
      </p:sp>
      <p:sp>
        <p:nvSpPr>
          <p:cNvPr id="27" name="FPCard2"/>
          <p:cNvSpPr/>
          <p:nvPr/>
        </p:nvSpPr>
        <p:spPr>
          <a:xfrm>
            <a:off x="6309360" y="3931920"/>
            <a:ext cx="2560320" cy="2194560"/>
          </a:xfrm>
          <a:prstGeom prst="roundRect">
            <a:avLst>
              <a:gd name="adj" fmla="val 3333"/>
            </a:avLst>
          </a:prstGeom>
          <a:solidFill>
            <a:schemeClr val="accent3"/>
          </a:solidFill>
          <a:ln/>
        </p:spPr>
        <p:txBody>
          <a:bodyPr/>
          <a:lstStyle/>
          <a:p>
            <a:endParaRPr lang="en-PH"/>
          </a:p>
        </p:txBody>
      </p:sp>
      <p:sp>
        <p:nvSpPr>
          <p:cNvPr id="28" name="Badge"/>
          <p:cNvSpPr/>
          <p:nvPr/>
        </p:nvSpPr>
        <p:spPr>
          <a:xfrm>
            <a:off x="6537960" y="4160520"/>
            <a:ext cx="548640" cy="548640"/>
          </a:xfrm>
          <a:prstGeom prst="ellipse">
            <a:avLst/>
          </a:prstGeom>
          <a:solidFill>
            <a:schemeClr val="accent2"/>
          </a:solidFill>
          <a:ln/>
        </p:spPr>
        <p:txBody>
          <a:bodyPr/>
          <a:lstStyle/>
          <a:p>
            <a:endParaRPr lang="en-PH"/>
          </a:p>
        </p:txBody>
      </p:sp>
      <p:sp>
        <p:nvSpPr>
          <p:cNvPr id="29" name="BadgeText"/>
          <p:cNvSpPr txBox="1"/>
          <p:nvPr/>
        </p:nvSpPr>
        <p:spPr>
          <a:xfrm>
            <a:off x="6537960" y="416052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P</a:t>
            </a:r>
            <a:endParaRPr lang="en-US" sz="1800" dirty="0"/>
          </a:p>
        </p:txBody>
      </p:sp>
      <p:sp>
        <p:nvSpPr>
          <p:cNvPr id="30" name="Text 27"/>
          <p:cNvSpPr txBox="1"/>
          <p:nvPr/>
        </p:nvSpPr>
        <p:spPr>
          <a:xfrm>
            <a:off x="6537960" y="4846320"/>
            <a:ext cx="2194560" cy="365760"/>
          </a:xfrm>
          <a:prstGeom prst="rect">
            <a:avLst/>
          </a:prstGeom>
          <a:noFill/>
          <a:ln/>
        </p:spPr>
        <p:txBody>
          <a:bodyPr wrap="square" lIns="0" tIns="0" rIns="0" bIns="0" rtlCol="0" anchor="ctr"/>
          <a:lstStyle/>
          <a:p>
            <a:pPr marL="0" indent="0">
              <a:buNone/>
            </a:pPr>
            <a:r>
              <a:rPr lang="en-US" sz="2000" b="1" dirty="0">
                <a:solidFill>
                  <a:schemeClr val="bg1"/>
                </a:solidFill>
              </a:rPr>
              <a:t>Promotion</a:t>
            </a:r>
            <a:endParaRPr lang="en-US" sz="2000" dirty="0"/>
          </a:p>
        </p:txBody>
      </p:sp>
      <p:sp>
        <p:nvSpPr>
          <p:cNvPr id="31" name="Text 28"/>
          <p:cNvSpPr txBox="1"/>
          <p:nvPr/>
        </p:nvSpPr>
        <p:spPr>
          <a:xfrm>
            <a:off x="6537960" y="5212080"/>
            <a:ext cx="2194560" cy="365760"/>
          </a:xfrm>
          <a:prstGeom prst="rect">
            <a:avLst/>
          </a:prstGeom>
          <a:noFill/>
          <a:ln/>
        </p:spPr>
        <p:txBody>
          <a:bodyPr wrap="square" lIns="0" tIns="0" rIns="0" bIns="0" rtlCol="0" anchor="ctr"/>
          <a:lstStyle/>
          <a:p>
            <a:pPr marL="0" indent="0">
              <a:buNone/>
            </a:pPr>
            <a:r>
              <a:rPr lang="en-US" sz="1400" dirty="0">
                <a:solidFill>
                  <a:schemeClr val="bg1"/>
                </a:solidFill>
              </a:rPr>
              <a:t>How do we market it?</a:t>
            </a:r>
            <a:endParaRPr lang="en-US" sz="1400" dirty="0"/>
          </a:p>
        </p:txBody>
      </p:sp>
      <p:sp>
        <p:nvSpPr>
          <p:cNvPr id="32" name="Text 29"/>
          <p:cNvSpPr txBox="1"/>
          <p:nvPr/>
        </p:nvSpPr>
        <p:spPr>
          <a:xfrm>
            <a:off x="6537960" y="5577840"/>
            <a:ext cx="2194560" cy="274320"/>
          </a:xfrm>
          <a:prstGeom prst="rect">
            <a:avLst/>
          </a:prstGeom>
          <a:noFill/>
          <a:ln/>
        </p:spPr>
        <p:txBody>
          <a:bodyPr wrap="square" lIns="0" tIns="0" rIns="0" bIns="0" rtlCol="0" anchor="ctr"/>
          <a:lstStyle/>
          <a:p>
            <a:pPr marL="0" indent="0">
              <a:buNone/>
            </a:pPr>
            <a:r>
              <a:rPr lang="en-US" sz="1200" dirty="0">
                <a:solidFill>
                  <a:schemeClr val="accent4"/>
                </a:solidFill>
              </a:rPr>
              <a:t>Deals and campaigns</a:t>
            </a:r>
            <a:endParaRPr lang="en-US" sz="1200" dirty="0"/>
          </a:p>
        </p:txBody>
      </p:sp>
      <p:sp>
        <p:nvSpPr>
          <p:cNvPr id="33" name="FPCard3"/>
          <p:cNvSpPr/>
          <p:nvPr/>
        </p:nvSpPr>
        <p:spPr>
          <a:xfrm>
            <a:off x="9052560" y="3931920"/>
            <a:ext cx="2560320" cy="2194560"/>
          </a:xfrm>
          <a:prstGeom prst="roundRect">
            <a:avLst>
              <a:gd name="adj" fmla="val 3333"/>
            </a:avLst>
          </a:prstGeom>
          <a:solidFill>
            <a:schemeClr val="accent3"/>
          </a:solidFill>
          <a:ln/>
        </p:spPr>
        <p:txBody>
          <a:bodyPr/>
          <a:lstStyle/>
          <a:p>
            <a:endParaRPr lang="en-PH"/>
          </a:p>
        </p:txBody>
      </p:sp>
      <p:sp>
        <p:nvSpPr>
          <p:cNvPr id="34" name="Badge"/>
          <p:cNvSpPr/>
          <p:nvPr/>
        </p:nvSpPr>
        <p:spPr>
          <a:xfrm>
            <a:off x="9281160" y="4160520"/>
            <a:ext cx="548640" cy="548640"/>
          </a:xfrm>
          <a:prstGeom prst="ellipse">
            <a:avLst/>
          </a:prstGeom>
          <a:solidFill>
            <a:schemeClr val="accent2"/>
          </a:solidFill>
          <a:ln/>
        </p:spPr>
        <p:txBody>
          <a:bodyPr/>
          <a:lstStyle/>
          <a:p>
            <a:endParaRPr lang="en-PH"/>
          </a:p>
        </p:txBody>
      </p:sp>
      <p:sp>
        <p:nvSpPr>
          <p:cNvPr id="35" name="BadgeText"/>
          <p:cNvSpPr txBox="1"/>
          <p:nvPr/>
        </p:nvSpPr>
        <p:spPr>
          <a:xfrm>
            <a:off x="9281160" y="416052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P</a:t>
            </a:r>
            <a:endParaRPr lang="en-US" sz="1800" dirty="0"/>
          </a:p>
        </p:txBody>
      </p:sp>
      <p:sp>
        <p:nvSpPr>
          <p:cNvPr id="36" name="Text 33"/>
          <p:cNvSpPr txBox="1"/>
          <p:nvPr/>
        </p:nvSpPr>
        <p:spPr>
          <a:xfrm>
            <a:off x="9281160" y="4846320"/>
            <a:ext cx="2194560" cy="365760"/>
          </a:xfrm>
          <a:prstGeom prst="rect">
            <a:avLst/>
          </a:prstGeom>
          <a:noFill/>
          <a:ln/>
        </p:spPr>
        <p:txBody>
          <a:bodyPr wrap="square" lIns="0" tIns="0" rIns="0" bIns="0" rtlCol="0" anchor="ctr"/>
          <a:lstStyle/>
          <a:p>
            <a:pPr marL="0" indent="0">
              <a:buNone/>
            </a:pPr>
            <a:r>
              <a:rPr lang="en-US" sz="2000" b="1" dirty="0">
                <a:solidFill>
                  <a:schemeClr val="bg1"/>
                </a:solidFill>
              </a:rPr>
              <a:t>Placement</a:t>
            </a:r>
            <a:endParaRPr lang="en-US" sz="2000" dirty="0"/>
          </a:p>
        </p:txBody>
      </p:sp>
      <p:sp>
        <p:nvSpPr>
          <p:cNvPr id="37" name="Text 34"/>
          <p:cNvSpPr txBox="1"/>
          <p:nvPr/>
        </p:nvSpPr>
        <p:spPr>
          <a:xfrm>
            <a:off x="9281160" y="5212080"/>
            <a:ext cx="2194560" cy="365760"/>
          </a:xfrm>
          <a:prstGeom prst="rect">
            <a:avLst/>
          </a:prstGeom>
          <a:noFill/>
          <a:ln/>
        </p:spPr>
        <p:txBody>
          <a:bodyPr wrap="square" lIns="0" tIns="0" rIns="0" bIns="0" rtlCol="0" anchor="ctr"/>
          <a:lstStyle/>
          <a:p>
            <a:pPr marL="0" indent="0">
              <a:buNone/>
            </a:pPr>
            <a:r>
              <a:rPr lang="en-US" sz="1400" dirty="0">
                <a:solidFill>
                  <a:schemeClr val="bg1"/>
                </a:solidFill>
              </a:rPr>
              <a:t>Where do we sell it?</a:t>
            </a:r>
            <a:endParaRPr lang="en-US" sz="1400" dirty="0"/>
          </a:p>
        </p:txBody>
      </p:sp>
      <p:sp>
        <p:nvSpPr>
          <p:cNvPr id="38" name="Text 35"/>
          <p:cNvSpPr txBox="1"/>
          <p:nvPr/>
        </p:nvSpPr>
        <p:spPr>
          <a:xfrm>
            <a:off x="9281160" y="5577840"/>
            <a:ext cx="2194560" cy="274320"/>
          </a:xfrm>
          <a:prstGeom prst="rect">
            <a:avLst/>
          </a:prstGeom>
          <a:noFill/>
          <a:ln/>
        </p:spPr>
        <p:txBody>
          <a:bodyPr wrap="square" lIns="0" tIns="0" rIns="0" bIns="0" rtlCol="0" anchor="ctr"/>
          <a:lstStyle/>
          <a:p>
            <a:pPr marL="0" indent="0">
              <a:buNone/>
            </a:pPr>
            <a:r>
              <a:rPr lang="en-US" sz="1200" dirty="0">
                <a:solidFill>
                  <a:schemeClr val="accent4"/>
                </a:solidFill>
              </a:rPr>
              <a:t>Web, catalog, store</a:t>
            </a:r>
            <a:endParaRPr lang="en-US" sz="1200" dirty="0"/>
          </a:p>
        </p:txBody>
      </p:sp>
      <p:sp>
        <p:nvSpPr>
          <p:cNvPr id="4"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1  |  PROBLEM UNDERSTANDING &amp; FRAMING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Clustering workflow and success metrics</a:t>
            </a:r>
            <a:endParaRPr lang="en-US" sz="3000" dirty="0"/>
          </a:p>
        </p:txBody>
      </p:sp>
      <p:sp>
        <p:nvSpPr>
          <p:cNvPr id="5" name="FlowCard0"/>
          <p:cNvSpPr/>
          <p:nvPr/>
        </p:nvSpPr>
        <p:spPr>
          <a:xfrm>
            <a:off x="548640" y="1463040"/>
            <a:ext cx="3566160" cy="2148840"/>
          </a:xfrm>
          <a:prstGeom prst="roundRect">
            <a:avLst>
              <a:gd name="adj" fmla="val 3404"/>
            </a:avLst>
          </a:prstGeom>
          <a:solidFill>
            <a:schemeClr val="bg2"/>
          </a:solidFill>
          <a:ln/>
        </p:spPr>
        <p:txBody>
          <a:bodyPr/>
          <a:lstStyle/>
          <a:p>
            <a:endParaRPr lang="en-PH"/>
          </a:p>
        </p:txBody>
      </p:sp>
      <p:sp>
        <p:nvSpPr>
          <p:cNvPr id="6" name="Badge"/>
          <p:cNvSpPr/>
          <p:nvPr/>
        </p:nvSpPr>
        <p:spPr>
          <a:xfrm>
            <a:off x="777240" y="1664208"/>
            <a:ext cx="457200" cy="457200"/>
          </a:xfrm>
          <a:prstGeom prst="ellipse">
            <a:avLst/>
          </a:prstGeom>
          <a:solidFill>
            <a:schemeClr val="accent1"/>
          </a:solidFill>
          <a:ln/>
        </p:spPr>
        <p:txBody>
          <a:bodyPr/>
          <a:lstStyle/>
          <a:p>
            <a:endParaRPr lang="en-PH"/>
          </a:p>
        </p:txBody>
      </p:sp>
      <p:sp>
        <p:nvSpPr>
          <p:cNvPr id="7" name="BadgeText"/>
          <p:cNvSpPr txBox="1"/>
          <p:nvPr/>
        </p:nvSpPr>
        <p:spPr>
          <a:xfrm>
            <a:off x="777240" y="166420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1371600" y="1664208"/>
            <a:ext cx="2560320" cy="457200"/>
          </a:xfrm>
          <a:prstGeom prst="rect">
            <a:avLst/>
          </a:prstGeom>
          <a:noFill/>
          <a:ln/>
        </p:spPr>
        <p:txBody>
          <a:bodyPr wrap="square" lIns="0" tIns="0" rIns="0" bIns="0" rtlCol="0" anchor="ctr"/>
          <a:lstStyle/>
          <a:p>
            <a:pPr marL="0" indent="0">
              <a:buNone/>
            </a:pPr>
            <a:r>
              <a:rPr lang="en-US" sz="1800" b="1" dirty="0">
                <a:solidFill>
                  <a:schemeClr val="tx2"/>
                </a:solidFill>
              </a:rPr>
              <a:t>Prepare &amp; preprocess</a:t>
            </a:r>
            <a:endParaRPr lang="en-US" sz="1800" dirty="0"/>
          </a:p>
        </p:txBody>
      </p:sp>
      <p:sp>
        <p:nvSpPr>
          <p:cNvPr id="9" name="Body"/>
          <p:cNvSpPr txBox="1"/>
          <p:nvPr/>
        </p:nvSpPr>
        <p:spPr>
          <a:xfrm>
            <a:off x="777240" y="2286000"/>
            <a:ext cx="3108960" cy="1234440"/>
          </a:xfrm>
          <a:prstGeom prst="rect">
            <a:avLst/>
          </a:prstGeom>
          <a:noFill/>
          <a:ln/>
        </p:spPr>
        <p:txBody>
          <a:bodyPr wrap="square" lIns="0" tIns="0" rIns="0" bIns="0" rtlCol="0" anchor="t"/>
          <a:lstStyle/>
          <a:p>
            <a:pPr marL="0" indent="0">
              <a:buNone/>
            </a:pPr>
            <a:r>
              <a:rPr lang="en-US" sz="1400" dirty="0">
                <a:solidFill>
                  <a:schemeClr val="tx1"/>
                </a:solidFill>
              </a:rPr>
              <a:t>Engineer RFM-style behaviour features, scale with StandardScaler or RobustScaler and one-hot encode categoricals.</a:t>
            </a:r>
            <a:endParaRPr lang="en-US" sz="1400" dirty="0"/>
          </a:p>
        </p:txBody>
      </p:sp>
      <p:sp>
        <p:nvSpPr>
          <p:cNvPr id="10" name="FlowCard1"/>
          <p:cNvSpPr/>
          <p:nvPr/>
        </p:nvSpPr>
        <p:spPr>
          <a:xfrm>
            <a:off x="4297680" y="1463040"/>
            <a:ext cx="3566160" cy="2148840"/>
          </a:xfrm>
          <a:prstGeom prst="roundRect">
            <a:avLst>
              <a:gd name="adj" fmla="val 3404"/>
            </a:avLst>
          </a:prstGeom>
          <a:solidFill>
            <a:schemeClr val="bg2"/>
          </a:solidFill>
          <a:ln/>
        </p:spPr>
        <p:txBody>
          <a:bodyPr/>
          <a:lstStyle/>
          <a:p>
            <a:endParaRPr lang="en-PH"/>
          </a:p>
        </p:txBody>
      </p:sp>
      <p:sp>
        <p:nvSpPr>
          <p:cNvPr id="11" name="Badge"/>
          <p:cNvSpPr/>
          <p:nvPr/>
        </p:nvSpPr>
        <p:spPr>
          <a:xfrm>
            <a:off x="4526280" y="1664208"/>
            <a:ext cx="457200" cy="457200"/>
          </a:xfrm>
          <a:prstGeom prst="ellipse">
            <a:avLst/>
          </a:prstGeom>
          <a:solidFill>
            <a:schemeClr val="accent1"/>
          </a:solidFill>
          <a:ln/>
        </p:spPr>
        <p:txBody>
          <a:bodyPr/>
          <a:lstStyle/>
          <a:p>
            <a:endParaRPr lang="en-PH"/>
          </a:p>
        </p:txBody>
      </p:sp>
      <p:sp>
        <p:nvSpPr>
          <p:cNvPr id="12" name="BadgeText"/>
          <p:cNvSpPr txBox="1"/>
          <p:nvPr/>
        </p:nvSpPr>
        <p:spPr>
          <a:xfrm>
            <a:off x="4526280" y="166420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5120640" y="1664208"/>
            <a:ext cx="2560320" cy="457200"/>
          </a:xfrm>
          <a:prstGeom prst="rect">
            <a:avLst/>
          </a:prstGeom>
          <a:noFill/>
          <a:ln/>
        </p:spPr>
        <p:txBody>
          <a:bodyPr wrap="square" lIns="0" tIns="0" rIns="0" bIns="0" rtlCol="0" anchor="ctr"/>
          <a:lstStyle/>
          <a:p>
            <a:pPr marL="0" indent="0">
              <a:buNone/>
            </a:pPr>
            <a:r>
              <a:rPr lang="en-US" sz="1800" b="1" dirty="0">
                <a:solidFill>
                  <a:schemeClr val="tx2"/>
                </a:solidFill>
              </a:rPr>
              <a:t>Reduce &amp; validate</a:t>
            </a:r>
            <a:endParaRPr lang="en-US" sz="1800" dirty="0"/>
          </a:p>
        </p:txBody>
      </p:sp>
      <p:sp>
        <p:nvSpPr>
          <p:cNvPr id="14" name="Body"/>
          <p:cNvSpPr txBox="1"/>
          <p:nvPr/>
        </p:nvSpPr>
        <p:spPr>
          <a:xfrm>
            <a:off x="4526280" y="2286000"/>
            <a:ext cx="3108960" cy="1234440"/>
          </a:xfrm>
          <a:prstGeom prst="rect">
            <a:avLst/>
          </a:prstGeom>
          <a:noFill/>
          <a:ln/>
        </p:spPr>
        <p:txBody>
          <a:bodyPr wrap="square" lIns="0" tIns="0" rIns="0" bIns="0" rtlCol="0" anchor="t"/>
          <a:lstStyle/>
          <a:p>
            <a:pPr marL="0" indent="0">
              <a:buNone/>
            </a:pPr>
            <a:r>
              <a:rPr lang="en-US" sz="1400" dirty="0">
                <a:solidFill>
                  <a:schemeClr val="tx1"/>
                </a:solidFill>
              </a:rPr>
              <a:t>PCA to cut multicollinearity (target 80-90% variance); pick k with the Elbow Method and Silhouette analysis.</a:t>
            </a:r>
            <a:endParaRPr lang="en-US" sz="1400" dirty="0"/>
          </a:p>
        </p:txBody>
      </p:sp>
      <p:sp>
        <p:nvSpPr>
          <p:cNvPr id="15" name="FlowCard2"/>
          <p:cNvSpPr/>
          <p:nvPr/>
        </p:nvSpPr>
        <p:spPr>
          <a:xfrm>
            <a:off x="8046720" y="1463040"/>
            <a:ext cx="3566160" cy="2148840"/>
          </a:xfrm>
          <a:prstGeom prst="roundRect">
            <a:avLst>
              <a:gd name="adj" fmla="val 3404"/>
            </a:avLst>
          </a:prstGeom>
          <a:solidFill>
            <a:schemeClr val="bg2"/>
          </a:solidFill>
          <a:ln/>
        </p:spPr>
        <p:txBody>
          <a:bodyPr/>
          <a:lstStyle/>
          <a:p>
            <a:endParaRPr lang="en-PH"/>
          </a:p>
        </p:txBody>
      </p:sp>
      <p:sp>
        <p:nvSpPr>
          <p:cNvPr id="16" name="Badge"/>
          <p:cNvSpPr/>
          <p:nvPr/>
        </p:nvSpPr>
        <p:spPr>
          <a:xfrm>
            <a:off x="8275320" y="1664208"/>
            <a:ext cx="457200" cy="457200"/>
          </a:xfrm>
          <a:prstGeom prst="ellipse">
            <a:avLst/>
          </a:prstGeom>
          <a:solidFill>
            <a:schemeClr val="accent1"/>
          </a:solidFill>
          <a:ln/>
        </p:spPr>
        <p:txBody>
          <a:bodyPr/>
          <a:lstStyle/>
          <a:p>
            <a:endParaRPr lang="en-PH"/>
          </a:p>
        </p:txBody>
      </p:sp>
      <p:sp>
        <p:nvSpPr>
          <p:cNvPr id="17" name="BadgeText"/>
          <p:cNvSpPr txBox="1"/>
          <p:nvPr/>
        </p:nvSpPr>
        <p:spPr>
          <a:xfrm>
            <a:off x="8275320" y="166420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5"/>
          <p:cNvSpPr txBox="1"/>
          <p:nvPr/>
        </p:nvSpPr>
        <p:spPr>
          <a:xfrm>
            <a:off x="8869680" y="1664208"/>
            <a:ext cx="2560320" cy="457200"/>
          </a:xfrm>
          <a:prstGeom prst="rect">
            <a:avLst/>
          </a:prstGeom>
          <a:noFill/>
          <a:ln/>
        </p:spPr>
        <p:txBody>
          <a:bodyPr wrap="square" lIns="0" tIns="0" rIns="0" bIns="0" rtlCol="0" anchor="ctr"/>
          <a:lstStyle/>
          <a:p>
            <a:pPr marL="0" indent="0">
              <a:buNone/>
            </a:pPr>
            <a:r>
              <a:rPr lang="en-US" sz="1800" b="1" dirty="0">
                <a:solidFill>
                  <a:schemeClr val="tx2"/>
                </a:solidFill>
              </a:rPr>
              <a:t>Cluster &amp; profile</a:t>
            </a:r>
            <a:endParaRPr lang="en-US" sz="1800" dirty="0"/>
          </a:p>
        </p:txBody>
      </p:sp>
      <p:sp>
        <p:nvSpPr>
          <p:cNvPr id="19" name="Body"/>
          <p:cNvSpPr txBox="1"/>
          <p:nvPr/>
        </p:nvSpPr>
        <p:spPr>
          <a:xfrm>
            <a:off x="8275320" y="2286000"/>
            <a:ext cx="3108960" cy="1234440"/>
          </a:xfrm>
          <a:prstGeom prst="rect">
            <a:avLst/>
          </a:prstGeom>
          <a:noFill/>
          <a:ln/>
        </p:spPr>
        <p:txBody>
          <a:bodyPr wrap="square" lIns="0" tIns="0" rIns="0" bIns="0" rtlCol="0" anchor="t"/>
          <a:lstStyle/>
          <a:p>
            <a:pPr marL="0" indent="0">
              <a:buNone/>
            </a:pPr>
            <a:r>
              <a:rPr lang="en-US" sz="1400" dirty="0">
                <a:solidFill>
                  <a:schemeClr val="tx1"/>
                </a:solidFill>
              </a:rPr>
              <a:t>Run K-Means or DBSCAN, label every customer, then turn cluster means into marketing personas.</a:t>
            </a:r>
            <a:endParaRPr lang="en-US" sz="1400" dirty="0"/>
          </a:p>
        </p:txBody>
      </p:sp>
      <p:sp>
        <p:nvSpPr>
          <p:cNvPr id="20" name="MetricCard"/>
          <p:cNvSpPr/>
          <p:nvPr/>
        </p:nvSpPr>
        <p:spPr>
          <a:xfrm>
            <a:off x="548640" y="3840480"/>
            <a:ext cx="3566160" cy="2377440"/>
          </a:xfrm>
          <a:prstGeom prst="roundRect">
            <a:avLst>
              <a:gd name="adj" fmla="val 3077"/>
            </a:avLst>
          </a:prstGeom>
          <a:solidFill>
            <a:schemeClr val="bg2"/>
          </a:solidFill>
          <a:ln/>
        </p:spPr>
        <p:txBody>
          <a:bodyPr/>
          <a:lstStyle/>
          <a:p>
            <a:endParaRPr lang="en-PH"/>
          </a:p>
        </p:txBody>
      </p:sp>
      <p:sp>
        <p:nvSpPr>
          <p:cNvPr id="21" name="Heading"/>
          <p:cNvSpPr txBox="1"/>
          <p:nvPr/>
        </p:nvSpPr>
        <p:spPr>
          <a:xfrm>
            <a:off x="777240" y="3977640"/>
            <a:ext cx="3108960" cy="365760"/>
          </a:xfrm>
          <a:prstGeom prst="rect">
            <a:avLst/>
          </a:prstGeom>
          <a:noFill/>
          <a:ln/>
        </p:spPr>
        <p:txBody>
          <a:bodyPr wrap="square" lIns="0" tIns="0" rIns="0" bIns="0" rtlCol="0" anchor="ctr"/>
          <a:lstStyle/>
          <a:p>
            <a:pPr marL="0" indent="0">
              <a:buNone/>
            </a:pPr>
            <a:r>
              <a:rPr lang="en-US" sz="1800" b="1" dirty="0">
                <a:solidFill>
                  <a:schemeClr val="tx2"/>
                </a:solidFill>
              </a:rPr>
              <a:t>Technical metric</a:t>
            </a:r>
            <a:endParaRPr lang="en-US" sz="1800" dirty="0"/>
          </a:p>
        </p:txBody>
      </p:sp>
      <p:sp>
        <p:nvSpPr>
          <p:cNvPr id="22" name="Text 19"/>
          <p:cNvSpPr txBox="1"/>
          <p:nvPr/>
        </p:nvSpPr>
        <p:spPr>
          <a:xfrm>
            <a:off x="777240" y="4389120"/>
            <a:ext cx="3108960" cy="502920"/>
          </a:xfrm>
          <a:prstGeom prst="rect">
            <a:avLst/>
          </a:prstGeom>
          <a:noFill/>
          <a:ln/>
        </p:spPr>
        <p:txBody>
          <a:bodyPr wrap="square" lIns="0" tIns="0" rIns="0" bIns="0" rtlCol="0" anchor="ctr"/>
          <a:lstStyle/>
          <a:p>
            <a:pPr marL="0" indent="0">
              <a:buNone/>
            </a:pPr>
            <a:r>
              <a:rPr lang="en-US" sz="3200" b="1" dirty="0">
                <a:solidFill>
                  <a:schemeClr val="accent1"/>
                </a:solidFill>
              </a:rPr>
              <a:t>Silhouette</a:t>
            </a:r>
            <a:endParaRPr lang="en-US" sz="3200" dirty="0"/>
          </a:p>
        </p:txBody>
      </p:sp>
      <p:sp>
        <p:nvSpPr>
          <p:cNvPr id="23" name="Body"/>
          <p:cNvSpPr txBox="1"/>
          <p:nvPr/>
        </p:nvSpPr>
        <p:spPr>
          <a:xfrm>
            <a:off x="777240" y="4983480"/>
            <a:ext cx="3108960" cy="1097280"/>
          </a:xfrm>
          <a:prstGeom prst="rect">
            <a:avLst/>
          </a:prstGeom>
          <a:noFill/>
          <a:ln/>
        </p:spPr>
        <p:txBody>
          <a:bodyPr wrap="square" lIns="0" tIns="0" rIns="0" bIns="0" rtlCol="0" anchor="t"/>
          <a:lstStyle/>
          <a:p>
            <a:pPr marL="0" indent="0">
              <a:buNone/>
            </a:pPr>
            <a:r>
              <a:rPr lang="en-US" sz="1400" dirty="0">
                <a:solidFill>
                  <a:schemeClr val="tx1"/>
                </a:solidFill>
              </a:rPr>
              <a:t>Ranges from -1 to 1. Near 1 means compact, well-separated clusters.</a:t>
            </a:r>
            <a:endParaRPr lang="en-US" sz="1400" dirty="0"/>
          </a:p>
        </p:txBody>
      </p:sp>
      <p:sp>
        <p:nvSpPr>
          <p:cNvPr id="24" name="KpiCard"/>
          <p:cNvSpPr/>
          <p:nvPr/>
        </p:nvSpPr>
        <p:spPr>
          <a:xfrm>
            <a:off x="4297680" y="3840480"/>
            <a:ext cx="3566160" cy="2377440"/>
          </a:xfrm>
          <a:prstGeom prst="roundRect">
            <a:avLst>
              <a:gd name="adj" fmla="val 3077"/>
            </a:avLst>
          </a:prstGeom>
          <a:solidFill>
            <a:schemeClr val="bg2"/>
          </a:solidFill>
          <a:ln/>
        </p:spPr>
        <p:txBody>
          <a:bodyPr/>
          <a:lstStyle/>
          <a:p>
            <a:endParaRPr lang="en-PH"/>
          </a:p>
        </p:txBody>
      </p:sp>
      <p:sp>
        <p:nvSpPr>
          <p:cNvPr id="25" name="Heading"/>
          <p:cNvSpPr txBox="1"/>
          <p:nvPr/>
        </p:nvSpPr>
        <p:spPr>
          <a:xfrm>
            <a:off x="4526280" y="3977640"/>
            <a:ext cx="3108960" cy="365760"/>
          </a:xfrm>
          <a:prstGeom prst="rect">
            <a:avLst/>
          </a:prstGeom>
          <a:noFill/>
          <a:ln/>
        </p:spPr>
        <p:txBody>
          <a:bodyPr wrap="square" lIns="0" tIns="0" rIns="0" bIns="0" rtlCol="0" anchor="ctr"/>
          <a:lstStyle/>
          <a:p>
            <a:pPr marL="0" indent="0">
              <a:buNone/>
            </a:pPr>
            <a:r>
              <a:rPr lang="en-US" sz="1800" b="1" dirty="0">
                <a:solidFill>
                  <a:schemeClr val="tx2"/>
                </a:solidFill>
              </a:rPr>
              <a:t>Business KPIs</a:t>
            </a:r>
            <a:endParaRPr lang="en-US" sz="1800" dirty="0"/>
          </a:p>
        </p:txBody>
      </p:sp>
      <p:sp>
        <p:nvSpPr>
          <p:cNvPr id="26" name="Text 23"/>
          <p:cNvSpPr txBox="1"/>
          <p:nvPr/>
        </p:nvSpPr>
        <p:spPr>
          <a:xfrm>
            <a:off x="4526280" y="4480560"/>
            <a:ext cx="3108960" cy="155448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chemeClr val="tx1"/>
                </a:solidFill>
              </a:rPr>
              <a:t>Cost savings</a:t>
            </a:r>
            <a:endParaRPr lang="en-US" sz="1600" dirty="0"/>
          </a:p>
          <a:p>
            <a:pPr marL="177800" indent="-177800">
              <a:spcAft>
                <a:spcPts val="800"/>
              </a:spcAft>
              <a:buSzPct val="100000"/>
              <a:buChar char="•"/>
            </a:pPr>
            <a:r>
              <a:rPr lang="en-US" sz="1600" dirty="0">
                <a:solidFill>
                  <a:schemeClr val="tx1"/>
                </a:solidFill>
              </a:rPr>
              <a:t>Lower marketing cost</a:t>
            </a:r>
            <a:endParaRPr lang="en-US" sz="1600" dirty="0"/>
          </a:p>
          <a:p>
            <a:pPr marL="177800" indent="-177800">
              <a:spcAft>
                <a:spcPts val="800"/>
              </a:spcAft>
              <a:buSzPct val="100000"/>
              <a:buChar char="•"/>
            </a:pPr>
            <a:r>
              <a:rPr lang="en-US" sz="1600" dirty="0">
                <a:solidFill>
                  <a:schemeClr val="tx1"/>
                </a:solidFill>
              </a:rPr>
              <a:t>Higher sales revenue</a:t>
            </a:r>
            <a:endParaRPr lang="en-US" sz="1600" dirty="0"/>
          </a:p>
        </p:txBody>
      </p:sp>
      <p:sp>
        <p:nvSpPr>
          <p:cNvPr id="27" name="ModelCard"/>
          <p:cNvSpPr/>
          <p:nvPr/>
        </p:nvSpPr>
        <p:spPr>
          <a:xfrm>
            <a:off x="8046720" y="3840480"/>
            <a:ext cx="3566160" cy="2377440"/>
          </a:xfrm>
          <a:prstGeom prst="roundRect">
            <a:avLst>
              <a:gd name="adj" fmla="val 3077"/>
            </a:avLst>
          </a:prstGeom>
          <a:solidFill>
            <a:schemeClr val="bg2"/>
          </a:solidFill>
          <a:ln/>
        </p:spPr>
        <p:txBody>
          <a:bodyPr/>
          <a:lstStyle/>
          <a:p>
            <a:endParaRPr lang="en-PH"/>
          </a:p>
        </p:txBody>
      </p:sp>
      <p:sp>
        <p:nvSpPr>
          <p:cNvPr id="28" name="Heading"/>
          <p:cNvSpPr txBox="1"/>
          <p:nvPr/>
        </p:nvSpPr>
        <p:spPr>
          <a:xfrm>
            <a:off x="8275320" y="3977640"/>
            <a:ext cx="3108960" cy="365760"/>
          </a:xfrm>
          <a:prstGeom prst="rect">
            <a:avLst/>
          </a:prstGeom>
          <a:noFill/>
          <a:ln/>
        </p:spPr>
        <p:txBody>
          <a:bodyPr wrap="square" lIns="0" tIns="0" rIns="0" bIns="0" rtlCol="0" anchor="ctr"/>
          <a:lstStyle/>
          <a:p>
            <a:pPr marL="0" indent="0">
              <a:buNone/>
            </a:pPr>
            <a:r>
              <a:rPr lang="en-US" sz="1800" b="1" dirty="0">
                <a:solidFill>
                  <a:schemeClr val="tx2"/>
                </a:solidFill>
              </a:rPr>
              <a:t>Model candidates</a:t>
            </a:r>
            <a:endParaRPr lang="en-US" sz="1800" dirty="0"/>
          </a:p>
        </p:txBody>
      </p:sp>
      <p:sp>
        <p:nvSpPr>
          <p:cNvPr id="29" name="Text 26"/>
          <p:cNvSpPr txBox="1"/>
          <p:nvPr/>
        </p:nvSpPr>
        <p:spPr>
          <a:xfrm>
            <a:off x="8275320" y="4434840"/>
            <a:ext cx="3108960" cy="1645920"/>
          </a:xfrm>
          <a:prstGeom prst="rect">
            <a:avLst/>
          </a:prstGeom>
          <a:noFill/>
          <a:ln/>
        </p:spPr>
        <p:txBody>
          <a:bodyPr wrap="square" lIns="0" tIns="0" rIns="0" bIns="0" rtlCol="0" anchor="t"/>
          <a:lstStyle/>
          <a:p>
            <a:pPr marL="0" indent="0">
              <a:buNone/>
            </a:pPr>
            <a:r>
              <a:rPr lang="en-US" sz="1400" b="1" dirty="0">
                <a:solidFill>
                  <a:schemeClr val="accent1"/>
                </a:solidFill>
              </a:rPr>
              <a:t>K-Means: </a:t>
            </a:r>
            <a:r>
              <a:rPr lang="en-US" sz="1400" dirty="0">
                <a:solidFill>
                  <a:schemeClr val="tx1"/>
                </a:solidFill>
              </a:rPr>
              <a:t>fast and interpretable; spherical clusters only.</a:t>
            </a:r>
            <a:endParaRPr lang="en-US" sz="1400" dirty="0"/>
          </a:p>
          <a:p>
            <a:pPr marL="0" indent="0">
              <a:buNone/>
            </a:pPr>
            <a:r>
              <a:rPr lang="en-US" sz="600" dirty="0">
                <a:solidFill>
                  <a:srgbClr val="000000"/>
                </a:solidFill>
              </a:rPr>
              <a:t> </a:t>
            </a:r>
            <a:endParaRPr lang="en-US" sz="1400" dirty="0"/>
          </a:p>
          <a:p>
            <a:pPr marL="0" indent="0">
              <a:buNone/>
            </a:pPr>
            <a:r>
              <a:rPr lang="en-US" sz="1400" b="1" dirty="0">
                <a:solidFill>
                  <a:schemeClr val="accent1"/>
                </a:solidFill>
              </a:rPr>
              <a:t>DBSCAN: </a:t>
            </a:r>
            <a:r>
              <a:rPr lang="en-US" sz="1400" dirty="0">
                <a:solidFill>
                  <a:schemeClr val="tx1"/>
                </a:solidFill>
              </a:rPr>
              <a:t>irregular shapes and noise; weak with varying densities.</a:t>
            </a:r>
            <a:endParaRPr lang="en-US" sz="1400" dirty="0"/>
          </a:p>
        </p:txBody>
      </p:sp>
      <p:sp>
        <p:nvSpPr>
          <p:cNvPr id="4"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2  |  DATA COLLECTION &amp; UNDERSTANDING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Data source: Kaggle Customer Personality Analysis</a:t>
            </a:r>
            <a:endParaRPr lang="en-US" sz="3000" dirty="0"/>
          </a:p>
        </p:txBody>
      </p:sp>
      <p:sp>
        <p:nvSpPr>
          <p:cNvPr id="5" name="SourceCard"/>
          <p:cNvSpPr/>
          <p:nvPr/>
        </p:nvSpPr>
        <p:spPr>
          <a:xfrm>
            <a:off x="548640" y="1463040"/>
            <a:ext cx="4572000" cy="4754880"/>
          </a:xfrm>
          <a:prstGeom prst="roundRect">
            <a:avLst>
              <a:gd name="adj" fmla="val 1600"/>
            </a:avLst>
          </a:prstGeom>
          <a:solidFill>
            <a:schemeClr val="tx2"/>
          </a:solidFill>
          <a:ln/>
        </p:spPr>
        <p:txBody>
          <a:bodyPr/>
          <a:lstStyle/>
          <a:p>
            <a:endParaRPr lang="en-PH"/>
          </a:p>
        </p:txBody>
      </p:sp>
      <p:sp>
        <p:nvSpPr>
          <p:cNvPr id="6" name="Text 3"/>
          <p:cNvSpPr txBox="1"/>
          <p:nvPr/>
        </p:nvSpPr>
        <p:spPr>
          <a:xfrm>
            <a:off x="822960" y="1691640"/>
            <a:ext cx="402336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SOURCE</a:t>
            </a:r>
            <a:endParaRPr lang="en-US" sz="1200" dirty="0"/>
          </a:p>
        </p:txBody>
      </p:sp>
      <p:sp>
        <p:nvSpPr>
          <p:cNvPr id="7" name="Text 4"/>
          <p:cNvSpPr txBox="1"/>
          <p:nvPr/>
        </p:nvSpPr>
        <p:spPr>
          <a:xfrm>
            <a:off x="822960" y="2057400"/>
            <a:ext cx="4023360" cy="3931920"/>
          </a:xfrm>
          <a:prstGeom prst="rect">
            <a:avLst/>
          </a:prstGeom>
          <a:noFill/>
          <a:ln/>
        </p:spPr>
        <p:txBody>
          <a:bodyPr wrap="square" lIns="0" tIns="0" rIns="0" bIns="0" rtlCol="0" anchor="t"/>
          <a:lstStyle/>
          <a:p>
            <a:pPr marL="0" indent="0">
              <a:spcAft>
                <a:spcPts val="600"/>
              </a:spcAft>
              <a:buNone/>
            </a:pPr>
            <a:r>
              <a:rPr lang="en-US" sz="1800" b="1" dirty="0">
                <a:solidFill>
                  <a:schemeClr val="bg1"/>
                </a:solidFill>
              </a:rPr>
              <a:t>Kaggle: Customer Personality Analysis</a:t>
            </a:r>
            <a:endParaRPr lang="en-US" sz="1400" dirty="0"/>
          </a:p>
          <a:p>
            <a:pPr marL="0" indent="0">
              <a:spcAft>
                <a:spcPts val="1400"/>
              </a:spcAft>
              <a:buNone/>
            </a:pPr>
            <a:r>
              <a:rPr lang="en-US" sz="1200" dirty="0">
                <a:solidFill>
                  <a:schemeClr val="accent4"/>
                </a:solidFill>
              </a:rPr>
              <a:t>kaggle.com/datasets/imakash3011/customer-personality-analysis</a:t>
            </a:r>
            <a:endParaRPr lang="en-US" sz="1400" dirty="0"/>
          </a:p>
          <a:p>
            <a:pPr marL="0" indent="0">
              <a:spcAft>
                <a:spcPts val="800"/>
              </a:spcAft>
              <a:buNone/>
            </a:pPr>
            <a:r>
              <a:rPr lang="en-US" sz="1400" dirty="0">
                <a:solidFill>
                  <a:schemeClr val="bg1"/>
                </a:solidFill>
              </a:rPr>
              <a:t>File: marketing_campaign_aim.csv</a:t>
            </a:r>
            <a:endParaRPr lang="en-US" sz="1400" dirty="0"/>
          </a:p>
          <a:p>
            <a:pPr marL="0" indent="0">
              <a:spcAft>
                <a:spcPts val="800"/>
              </a:spcAft>
              <a:buNone/>
            </a:pPr>
            <a:r>
              <a:rPr lang="en-US" sz="1400" dirty="0">
                <a:solidFill>
                  <a:schemeClr val="bg1"/>
                </a:solidFill>
              </a:rPr>
              <a:t>Intended task: cluster customers to summarise segments and market only to the likeliest buyers</a:t>
            </a:r>
            <a:endParaRPr lang="en-US" sz="1400" dirty="0"/>
          </a:p>
          <a:p>
            <a:pPr marL="0" indent="0">
              <a:buNone/>
            </a:pPr>
            <a:r>
              <a:rPr lang="en-US" sz="1400" dirty="0">
                <a:solidFill>
                  <a:schemeClr val="bg1"/>
                </a:solidFill>
              </a:rPr>
              <a:t>Why it fits: mixed profile, product, promotion and channel features suit segmentation</a:t>
            </a:r>
            <a:endParaRPr lang="en-US" sz="1400" dirty="0"/>
          </a:p>
        </p:txBody>
      </p:sp>
      <p:sp>
        <p:nvSpPr>
          <p:cNvPr id="8" name="StatTile0"/>
          <p:cNvSpPr/>
          <p:nvPr/>
        </p:nvSpPr>
        <p:spPr>
          <a:xfrm>
            <a:off x="5394960" y="1463040"/>
            <a:ext cx="1920240" cy="2286000"/>
          </a:xfrm>
          <a:prstGeom prst="roundRect">
            <a:avLst>
              <a:gd name="adj" fmla="val 3810"/>
            </a:avLst>
          </a:prstGeom>
          <a:solidFill>
            <a:schemeClr val="bg2"/>
          </a:solidFill>
          <a:ln/>
        </p:spPr>
        <p:txBody>
          <a:bodyPr/>
          <a:lstStyle/>
          <a:p>
            <a:endParaRPr lang="en-PH"/>
          </a:p>
        </p:txBody>
      </p:sp>
      <p:sp>
        <p:nvSpPr>
          <p:cNvPr id="9" name="Text 6"/>
          <p:cNvSpPr txBox="1"/>
          <p:nvPr/>
        </p:nvSpPr>
        <p:spPr>
          <a:xfrm>
            <a:off x="5577840" y="1737360"/>
            <a:ext cx="1554480" cy="731520"/>
          </a:xfrm>
          <a:prstGeom prst="rect">
            <a:avLst/>
          </a:prstGeom>
          <a:noFill/>
          <a:ln/>
        </p:spPr>
        <p:txBody>
          <a:bodyPr wrap="square" lIns="0" tIns="0" rIns="0" bIns="0" rtlCol="0" anchor="ctr"/>
          <a:lstStyle/>
          <a:p>
            <a:pPr marL="0" indent="0">
              <a:buNone/>
            </a:pPr>
            <a:r>
              <a:rPr lang="en-US" sz="4000" b="1" dirty="0">
                <a:solidFill>
                  <a:schemeClr val="accent1"/>
                </a:solidFill>
              </a:rPr>
              <a:t>2,240</a:t>
            </a:r>
            <a:endParaRPr lang="en-US" sz="4000" dirty="0"/>
          </a:p>
        </p:txBody>
      </p:sp>
      <p:sp>
        <p:nvSpPr>
          <p:cNvPr id="10" name="Text 7"/>
          <p:cNvSpPr txBox="1"/>
          <p:nvPr/>
        </p:nvSpPr>
        <p:spPr>
          <a:xfrm>
            <a:off x="5577840" y="2560320"/>
            <a:ext cx="1554480" cy="1005840"/>
          </a:xfrm>
          <a:prstGeom prst="rect">
            <a:avLst/>
          </a:prstGeom>
          <a:noFill/>
          <a:ln/>
        </p:spPr>
        <p:txBody>
          <a:bodyPr wrap="square" lIns="0" tIns="0" rIns="0" bIns="0" rtlCol="0" anchor="t"/>
          <a:lstStyle/>
          <a:p>
            <a:pPr marL="0" indent="0">
              <a:buNone/>
            </a:pPr>
            <a:r>
              <a:rPr lang="en-US" sz="1400" dirty="0">
                <a:solidFill>
                  <a:schemeClr val="tx1"/>
                </a:solidFill>
              </a:rPr>
              <a:t>customer records</a:t>
            </a:r>
            <a:endParaRPr lang="en-US" sz="1400" dirty="0"/>
          </a:p>
        </p:txBody>
      </p:sp>
      <p:sp>
        <p:nvSpPr>
          <p:cNvPr id="11" name="StatTile1"/>
          <p:cNvSpPr/>
          <p:nvPr/>
        </p:nvSpPr>
        <p:spPr>
          <a:xfrm>
            <a:off x="7543800" y="1463040"/>
            <a:ext cx="1920240" cy="2286000"/>
          </a:xfrm>
          <a:prstGeom prst="roundRect">
            <a:avLst>
              <a:gd name="adj" fmla="val 3810"/>
            </a:avLst>
          </a:prstGeom>
          <a:solidFill>
            <a:schemeClr val="bg2"/>
          </a:solidFill>
          <a:ln/>
        </p:spPr>
        <p:txBody>
          <a:bodyPr/>
          <a:lstStyle/>
          <a:p>
            <a:endParaRPr lang="en-PH"/>
          </a:p>
        </p:txBody>
      </p:sp>
      <p:sp>
        <p:nvSpPr>
          <p:cNvPr id="12" name="Text 9"/>
          <p:cNvSpPr txBox="1"/>
          <p:nvPr/>
        </p:nvSpPr>
        <p:spPr>
          <a:xfrm>
            <a:off x="7726680" y="1737360"/>
            <a:ext cx="1554480" cy="731520"/>
          </a:xfrm>
          <a:prstGeom prst="rect">
            <a:avLst/>
          </a:prstGeom>
          <a:noFill/>
          <a:ln/>
        </p:spPr>
        <p:txBody>
          <a:bodyPr wrap="square" lIns="0" tIns="0" rIns="0" bIns="0" rtlCol="0" anchor="ctr"/>
          <a:lstStyle/>
          <a:p>
            <a:pPr marL="0" indent="0">
              <a:buNone/>
            </a:pPr>
            <a:r>
              <a:rPr lang="en-US" sz="4000" b="1" dirty="0">
                <a:solidFill>
                  <a:schemeClr val="accent1"/>
                </a:solidFill>
              </a:rPr>
              <a:t>28</a:t>
            </a:r>
            <a:endParaRPr lang="en-US" sz="4000" dirty="0"/>
          </a:p>
        </p:txBody>
      </p:sp>
      <p:sp>
        <p:nvSpPr>
          <p:cNvPr id="13" name="Text 10"/>
          <p:cNvSpPr txBox="1"/>
          <p:nvPr/>
        </p:nvSpPr>
        <p:spPr>
          <a:xfrm>
            <a:off x="7726680" y="2560320"/>
            <a:ext cx="1554480" cy="1005840"/>
          </a:xfrm>
          <a:prstGeom prst="rect">
            <a:avLst/>
          </a:prstGeom>
          <a:noFill/>
          <a:ln/>
        </p:spPr>
        <p:txBody>
          <a:bodyPr wrap="square" lIns="0" tIns="0" rIns="0" bIns="0" rtlCol="0" anchor="t"/>
          <a:lstStyle/>
          <a:p>
            <a:pPr marL="0" indent="0">
              <a:buNone/>
            </a:pPr>
            <a:r>
              <a:rPr lang="en-US" sz="1400" dirty="0">
                <a:solidFill>
                  <a:schemeClr val="tx1"/>
                </a:solidFill>
              </a:rPr>
              <a:t>columns: 1 float, 25 int, 2 object</a:t>
            </a:r>
            <a:endParaRPr lang="en-US" sz="1400" dirty="0"/>
          </a:p>
        </p:txBody>
      </p:sp>
      <p:sp>
        <p:nvSpPr>
          <p:cNvPr id="14" name="StatTile2"/>
          <p:cNvSpPr/>
          <p:nvPr/>
        </p:nvSpPr>
        <p:spPr>
          <a:xfrm>
            <a:off x="9692640" y="1463040"/>
            <a:ext cx="1920240" cy="2286000"/>
          </a:xfrm>
          <a:prstGeom prst="roundRect">
            <a:avLst>
              <a:gd name="adj" fmla="val 3810"/>
            </a:avLst>
          </a:prstGeom>
          <a:solidFill>
            <a:schemeClr val="bg2"/>
          </a:solidFill>
          <a:ln/>
        </p:spPr>
        <p:txBody>
          <a:bodyPr/>
          <a:lstStyle/>
          <a:p>
            <a:endParaRPr lang="en-PH"/>
          </a:p>
        </p:txBody>
      </p:sp>
      <p:sp>
        <p:nvSpPr>
          <p:cNvPr id="15" name="Text 12"/>
          <p:cNvSpPr txBox="1"/>
          <p:nvPr/>
        </p:nvSpPr>
        <p:spPr>
          <a:xfrm>
            <a:off x="9875520" y="1737360"/>
            <a:ext cx="1554480" cy="731520"/>
          </a:xfrm>
          <a:prstGeom prst="rect">
            <a:avLst/>
          </a:prstGeom>
          <a:noFill/>
          <a:ln/>
        </p:spPr>
        <p:txBody>
          <a:bodyPr wrap="square" lIns="0" tIns="0" rIns="0" bIns="0" rtlCol="0" anchor="ctr"/>
          <a:lstStyle/>
          <a:p>
            <a:pPr marL="0" indent="0">
              <a:buNone/>
            </a:pPr>
            <a:r>
              <a:rPr lang="en-US" sz="4000" b="1" dirty="0">
                <a:solidFill>
                  <a:schemeClr val="accent1"/>
                </a:solidFill>
              </a:rPr>
              <a:t>24</a:t>
            </a:r>
            <a:endParaRPr lang="en-US" sz="4000" dirty="0"/>
          </a:p>
        </p:txBody>
      </p:sp>
      <p:sp>
        <p:nvSpPr>
          <p:cNvPr id="16" name="Text 13"/>
          <p:cNvSpPr txBox="1"/>
          <p:nvPr/>
        </p:nvSpPr>
        <p:spPr>
          <a:xfrm>
            <a:off x="9875520" y="2560320"/>
            <a:ext cx="1554480" cy="1005840"/>
          </a:xfrm>
          <a:prstGeom prst="rect">
            <a:avLst/>
          </a:prstGeom>
          <a:noFill/>
          <a:ln/>
        </p:spPr>
        <p:txBody>
          <a:bodyPr wrap="square" lIns="0" tIns="0" rIns="0" bIns="0" rtlCol="0" anchor="t"/>
          <a:lstStyle/>
          <a:p>
            <a:pPr marL="0" indent="0">
              <a:buNone/>
            </a:pPr>
            <a:r>
              <a:rPr lang="en-US" sz="1400" dirty="0">
                <a:solidFill>
                  <a:schemeClr val="tx1"/>
                </a:solidFill>
              </a:rPr>
              <a:t>missing Income values (1.1%)</a:t>
            </a:r>
            <a:endParaRPr lang="en-US" sz="1400" dirty="0"/>
          </a:p>
        </p:txBody>
      </p:sp>
      <p:sp>
        <p:nvSpPr>
          <p:cNvPr id="17" name="StatTile3"/>
          <p:cNvSpPr/>
          <p:nvPr/>
        </p:nvSpPr>
        <p:spPr>
          <a:xfrm>
            <a:off x="5394960" y="3931920"/>
            <a:ext cx="1920240" cy="2286000"/>
          </a:xfrm>
          <a:prstGeom prst="roundRect">
            <a:avLst>
              <a:gd name="adj" fmla="val 3810"/>
            </a:avLst>
          </a:prstGeom>
          <a:solidFill>
            <a:schemeClr val="bg2"/>
          </a:solidFill>
          <a:ln/>
        </p:spPr>
        <p:txBody>
          <a:bodyPr/>
          <a:lstStyle/>
          <a:p>
            <a:endParaRPr lang="en-PH"/>
          </a:p>
        </p:txBody>
      </p:sp>
      <p:sp>
        <p:nvSpPr>
          <p:cNvPr id="18" name="Text 15"/>
          <p:cNvSpPr txBox="1"/>
          <p:nvPr/>
        </p:nvSpPr>
        <p:spPr>
          <a:xfrm>
            <a:off x="5577840" y="4206240"/>
            <a:ext cx="1554480" cy="731520"/>
          </a:xfrm>
          <a:prstGeom prst="rect">
            <a:avLst/>
          </a:prstGeom>
          <a:noFill/>
          <a:ln/>
        </p:spPr>
        <p:txBody>
          <a:bodyPr wrap="square" lIns="0" tIns="0" rIns="0" bIns="0" rtlCol="0" anchor="ctr"/>
          <a:lstStyle/>
          <a:p>
            <a:pPr marL="0" indent="0">
              <a:buNone/>
            </a:pPr>
            <a:r>
              <a:rPr lang="en-US" sz="4000" b="1" dirty="0">
                <a:solidFill>
                  <a:schemeClr val="accent1"/>
                </a:solidFill>
              </a:rPr>
              <a:t>0</a:t>
            </a:r>
            <a:endParaRPr lang="en-US" sz="4000" dirty="0"/>
          </a:p>
        </p:txBody>
      </p:sp>
      <p:sp>
        <p:nvSpPr>
          <p:cNvPr id="19" name="Text 16"/>
          <p:cNvSpPr txBox="1"/>
          <p:nvPr/>
        </p:nvSpPr>
        <p:spPr>
          <a:xfrm>
            <a:off x="5577840" y="5029200"/>
            <a:ext cx="1554480" cy="1005840"/>
          </a:xfrm>
          <a:prstGeom prst="rect">
            <a:avLst/>
          </a:prstGeom>
          <a:noFill/>
          <a:ln/>
        </p:spPr>
        <p:txBody>
          <a:bodyPr wrap="square" lIns="0" tIns="0" rIns="0" bIns="0" rtlCol="0" anchor="t"/>
          <a:lstStyle/>
          <a:p>
            <a:pPr marL="0" indent="0">
              <a:buNone/>
            </a:pPr>
            <a:r>
              <a:rPr lang="en-US" sz="1400" dirty="0">
                <a:solidFill>
                  <a:schemeClr val="tx1"/>
                </a:solidFill>
              </a:rPr>
              <a:t>duplicate rows</a:t>
            </a:r>
            <a:endParaRPr lang="en-US" sz="1400" dirty="0"/>
          </a:p>
        </p:txBody>
      </p:sp>
      <p:sp>
        <p:nvSpPr>
          <p:cNvPr id="20" name="StatTile4"/>
          <p:cNvSpPr/>
          <p:nvPr/>
        </p:nvSpPr>
        <p:spPr>
          <a:xfrm>
            <a:off x="7543800" y="3931920"/>
            <a:ext cx="1920240" cy="2286000"/>
          </a:xfrm>
          <a:prstGeom prst="roundRect">
            <a:avLst>
              <a:gd name="adj" fmla="val 3810"/>
            </a:avLst>
          </a:prstGeom>
          <a:solidFill>
            <a:schemeClr val="bg2"/>
          </a:solidFill>
          <a:ln/>
        </p:spPr>
        <p:txBody>
          <a:bodyPr/>
          <a:lstStyle/>
          <a:p>
            <a:endParaRPr lang="en-PH"/>
          </a:p>
        </p:txBody>
      </p:sp>
      <p:sp>
        <p:nvSpPr>
          <p:cNvPr id="21" name="Text 18"/>
          <p:cNvSpPr txBox="1"/>
          <p:nvPr/>
        </p:nvSpPr>
        <p:spPr>
          <a:xfrm>
            <a:off x="7726680" y="4206240"/>
            <a:ext cx="1554480" cy="731520"/>
          </a:xfrm>
          <a:prstGeom prst="rect">
            <a:avLst/>
          </a:prstGeom>
          <a:noFill/>
          <a:ln/>
        </p:spPr>
        <p:txBody>
          <a:bodyPr wrap="square" lIns="0" tIns="0" rIns="0" bIns="0" rtlCol="0" anchor="ctr"/>
          <a:lstStyle/>
          <a:p>
            <a:pPr marL="0" indent="0">
              <a:buNone/>
            </a:pPr>
            <a:r>
              <a:rPr lang="en-US" sz="2800" b="1" dirty="0">
                <a:solidFill>
                  <a:schemeClr val="accent5"/>
                </a:solidFill>
              </a:rPr>
              <a:t>666,666</a:t>
            </a:r>
            <a:endParaRPr lang="en-US" sz="2800" dirty="0"/>
          </a:p>
        </p:txBody>
      </p:sp>
      <p:sp>
        <p:nvSpPr>
          <p:cNvPr id="22" name="Text 19"/>
          <p:cNvSpPr txBox="1"/>
          <p:nvPr/>
        </p:nvSpPr>
        <p:spPr>
          <a:xfrm>
            <a:off x="7726680" y="5029200"/>
            <a:ext cx="1554480" cy="1005840"/>
          </a:xfrm>
          <a:prstGeom prst="rect">
            <a:avLst/>
          </a:prstGeom>
          <a:noFill/>
          <a:ln/>
        </p:spPr>
        <p:txBody>
          <a:bodyPr wrap="square" lIns="0" tIns="0" rIns="0" bIns="0" rtlCol="0" anchor="t"/>
          <a:lstStyle/>
          <a:p>
            <a:pPr marL="0" indent="0">
              <a:buNone/>
            </a:pPr>
            <a:r>
              <a:rPr lang="en-US" sz="1400" dirty="0">
                <a:solidFill>
                  <a:schemeClr val="tx1"/>
                </a:solidFill>
              </a:rPr>
              <a:t>max raw Income, extreme outlier</a:t>
            </a:r>
            <a:endParaRPr lang="en-US" sz="1400" dirty="0"/>
          </a:p>
        </p:txBody>
      </p:sp>
      <p:sp>
        <p:nvSpPr>
          <p:cNvPr id="23" name="StatTile5"/>
          <p:cNvSpPr/>
          <p:nvPr/>
        </p:nvSpPr>
        <p:spPr>
          <a:xfrm>
            <a:off x="9692640" y="3931920"/>
            <a:ext cx="1920240" cy="2286000"/>
          </a:xfrm>
          <a:prstGeom prst="roundRect">
            <a:avLst>
              <a:gd name="adj" fmla="val 3810"/>
            </a:avLst>
          </a:prstGeom>
          <a:solidFill>
            <a:schemeClr val="bg2"/>
          </a:solidFill>
          <a:ln/>
        </p:spPr>
        <p:txBody>
          <a:bodyPr/>
          <a:lstStyle/>
          <a:p>
            <a:endParaRPr lang="en-PH"/>
          </a:p>
        </p:txBody>
      </p:sp>
      <p:sp>
        <p:nvSpPr>
          <p:cNvPr id="24" name="Text 21"/>
          <p:cNvSpPr txBox="1"/>
          <p:nvPr/>
        </p:nvSpPr>
        <p:spPr>
          <a:xfrm>
            <a:off x="9875520" y="4206240"/>
            <a:ext cx="1554480" cy="731520"/>
          </a:xfrm>
          <a:prstGeom prst="rect">
            <a:avLst/>
          </a:prstGeom>
          <a:noFill/>
          <a:ln/>
        </p:spPr>
        <p:txBody>
          <a:bodyPr wrap="square" lIns="0" tIns="0" rIns="0" bIns="0" rtlCol="0" anchor="ctr"/>
          <a:lstStyle/>
          <a:p>
            <a:pPr marL="0" indent="0">
              <a:buNone/>
            </a:pPr>
            <a:r>
              <a:rPr lang="en-US" sz="4000" b="1" dirty="0">
                <a:solidFill>
                  <a:schemeClr val="accent5"/>
                </a:solidFill>
              </a:rPr>
              <a:t>1893</a:t>
            </a:r>
            <a:endParaRPr lang="en-US" sz="4000" dirty="0"/>
          </a:p>
        </p:txBody>
      </p:sp>
      <p:sp>
        <p:nvSpPr>
          <p:cNvPr id="25" name="Text 22"/>
          <p:cNvSpPr txBox="1"/>
          <p:nvPr/>
        </p:nvSpPr>
        <p:spPr>
          <a:xfrm>
            <a:off x="9875520" y="5029200"/>
            <a:ext cx="1554480" cy="1005840"/>
          </a:xfrm>
          <a:prstGeom prst="rect">
            <a:avLst/>
          </a:prstGeom>
          <a:noFill/>
          <a:ln/>
        </p:spPr>
        <p:txBody>
          <a:bodyPr wrap="square" lIns="0" tIns="0" rIns="0" bIns="0" rtlCol="0" anchor="t"/>
          <a:lstStyle/>
          <a:p>
            <a:pPr marL="0" indent="0">
              <a:buNone/>
            </a:pPr>
            <a:r>
              <a:rPr lang="en-US" sz="1400" dirty="0">
                <a:solidFill>
                  <a:schemeClr val="tx1"/>
                </a:solidFill>
              </a:rPr>
              <a:t>min raw Year_Birth, implausible</a:t>
            </a:r>
            <a:endParaRPr lang="en-US" sz="1400" dirty="0"/>
          </a:p>
        </p:txBody>
      </p:sp>
      <p:sp>
        <p:nvSpPr>
          <p:cNvPr id="4"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2  |  DATA COLLECTION &amp; UNDERSTANDING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Feature summary: four groups across 28 columns</a:t>
            </a:r>
            <a:endParaRPr lang="en-US" sz="3000" dirty="0"/>
          </a:p>
        </p:txBody>
      </p:sp>
      <p:sp>
        <p:nvSpPr>
          <p:cNvPr id="5" name="GroupCard0"/>
          <p:cNvSpPr/>
          <p:nvPr/>
        </p:nvSpPr>
        <p:spPr>
          <a:xfrm>
            <a:off x="548640" y="1463040"/>
            <a:ext cx="2651760" cy="3931920"/>
          </a:xfrm>
          <a:prstGeom prst="roundRect">
            <a:avLst>
              <a:gd name="adj" fmla="val 2759"/>
            </a:avLst>
          </a:prstGeom>
          <a:solidFill>
            <a:schemeClr val="bg2"/>
          </a:solidFill>
          <a:ln/>
        </p:spPr>
        <p:txBody>
          <a:bodyPr/>
          <a:lstStyle/>
          <a:p>
            <a:endParaRPr lang="en-PH"/>
          </a:p>
        </p:txBody>
      </p:sp>
      <p:sp>
        <p:nvSpPr>
          <p:cNvPr id="6" name="Text 3"/>
          <p:cNvSpPr txBox="1"/>
          <p:nvPr/>
        </p:nvSpPr>
        <p:spPr>
          <a:xfrm>
            <a:off x="777240" y="1600200"/>
            <a:ext cx="914400" cy="822960"/>
          </a:xfrm>
          <a:prstGeom prst="rect">
            <a:avLst/>
          </a:prstGeom>
          <a:noFill/>
          <a:ln/>
        </p:spPr>
        <p:txBody>
          <a:bodyPr wrap="square" lIns="0" tIns="0" rIns="0" bIns="0" rtlCol="0" anchor="ctr"/>
          <a:lstStyle/>
          <a:p>
            <a:pPr marL="0" indent="0">
              <a:buNone/>
            </a:pPr>
            <a:r>
              <a:rPr lang="en-US" sz="4800" b="1" dirty="0">
                <a:solidFill>
                  <a:schemeClr val="accent1"/>
                </a:solidFill>
              </a:rPr>
              <a:t>9</a:t>
            </a:r>
            <a:endParaRPr lang="en-US" sz="4800" dirty="0"/>
          </a:p>
        </p:txBody>
      </p:sp>
      <p:sp>
        <p:nvSpPr>
          <p:cNvPr id="7" name="Text 4"/>
          <p:cNvSpPr txBox="1"/>
          <p:nvPr/>
        </p:nvSpPr>
        <p:spPr>
          <a:xfrm>
            <a:off x="1600200" y="1600200"/>
            <a:ext cx="1463040" cy="822960"/>
          </a:xfrm>
          <a:prstGeom prst="rect">
            <a:avLst/>
          </a:prstGeom>
          <a:noFill/>
          <a:ln/>
        </p:spPr>
        <p:txBody>
          <a:bodyPr wrap="square" lIns="0" tIns="0" rIns="0" bIns="0" rtlCol="0" anchor="ctr"/>
          <a:lstStyle/>
          <a:p>
            <a:pPr marL="0" indent="0">
              <a:buNone/>
            </a:pPr>
            <a:r>
              <a:rPr lang="en-US" sz="2000" b="1" dirty="0">
                <a:solidFill>
                  <a:schemeClr val="tx2"/>
                </a:solidFill>
              </a:rPr>
              <a:t>Customer</a:t>
            </a:r>
            <a:endParaRPr lang="en-US" sz="2000" dirty="0"/>
          </a:p>
        </p:txBody>
      </p:sp>
      <p:sp>
        <p:nvSpPr>
          <p:cNvPr id="8" name="Text 5"/>
          <p:cNvSpPr txBox="1"/>
          <p:nvPr/>
        </p:nvSpPr>
        <p:spPr>
          <a:xfrm>
            <a:off x="777240" y="2560320"/>
            <a:ext cx="2286000" cy="274320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ID</a:t>
            </a:r>
            <a:endParaRPr lang="en-US" sz="1400" dirty="0"/>
          </a:p>
          <a:p>
            <a:pPr marL="0" indent="0">
              <a:spcAft>
                <a:spcPts val="300"/>
              </a:spcAft>
              <a:buNone/>
            </a:pPr>
            <a:r>
              <a:rPr lang="en-US" sz="1400" dirty="0">
                <a:solidFill>
                  <a:schemeClr val="tx1"/>
                </a:solidFill>
              </a:rPr>
              <a:t>Year_Birth</a:t>
            </a:r>
            <a:endParaRPr lang="en-US" sz="1400" dirty="0"/>
          </a:p>
          <a:p>
            <a:pPr marL="0" indent="0">
              <a:spcAft>
                <a:spcPts val="300"/>
              </a:spcAft>
              <a:buNone/>
            </a:pPr>
            <a:r>
              <a:rPr lang="en-US" sz="1400" dirty="0">
                <a:solidFill>
                  <a:schemeClr val="tx1"/>
                </a:solidFill>
              </a:rPr>
              <a:t>Education</a:t>
            </a:r>
            <a:endParaRPr lang="en-US" sz="1400" dirty="0"/>
          </a:p>
          <a:p>
            <a:pPr marL="0" indent="0">
              <a:spcAft>
                <a:spcPts val="300"/>
              </a:spcAft>
              <a:buNone/>
            </a:pPr>
            <a:r>
              <a:rPr lang="en-US" sz="1400" dirty="0">
                <a:solidFill>
                  <a:schemeClr val="tx1"/>
                </a:solidFill>
              </a:rPr>
              <a:t>Marital_Status</a:t>
            </a:r>
            <a:endParaRPr lang="en-US" sz="1400" dirty="0"/>
          </a:p>
          <a:p>
            <a:pPr marL="0" indent="0">
              <a:spcAft>
                <a:spcPts val="300"/>
              </a:spcAft>
              <a:buNone/>
            </a:pPr>
            <a:r>
              <a:rPr lang="en-US" sz="1400" dirty="0">
                <a:solidFill>
                  <a:schemeClr val="tx1"/>
                </a:solidFill>
              </a:rPr>
              <a:t>Income</a:t>
            </a:r>
            <a:endParaRPr lang="en-US" sz="1400" dirty="0"/>
          </a:p>
          <a:p>
            <a:pPr marL="0" indent="0">
              <a:spcAft>
                <a:spcPts val="300"/>
              </a:spcAft>
              <a:buNone/>
            </a:pPr>
            <a:r>
              <a:rPr lang="en-US" sz="1400" dirty="0">
                <a:solidFill>
                  <a:schemeClr val="tx1"/>
                </a:solidFill>
              </a:rPr>
              <a:t>Kidhome</a:t>
            </a:r>
            <a:endParaRPr lang="en-US" sz="1400" dirty="0"/>
          </a:p>
          <a:p>
            <a:pPr marL="0" indent="0">
              <a:spcAft>
                <a:spcPts val="300"/>
              </a:spcAft>
              <a:buNone/>
            </a:pPr>
            <a:r>
              <a:rPr lang="en-US" sz="1400" dirty="0">
                <a:solidFill>
                  <a:schemeClr val="tx1"/>
                </a:solidFill>
              </a:rPr>
              <a:t>Teenhome</a:t>
            </a:r>
            <a:endParaRPr lang="en-US" sz="1400" dirty="0"/>
          </a:p>
          <a:p>
            <a:pPr marL="0" indent="0">
              <a:spcAft>
                <a:spcPts val="300"/>
              </a:spcAft>
              <a:buNone/>
            </a:pPr>
            <a:r>
              <a:rPr lang="en-US" sz="1400" dirty="0">
                <a:solidFill>
                  <a:schemeClr val="tx1"/>
                </a:solidFill>
              </a:rPr>
              <a:t>Recency</a:t>
            </a:r>
            <a:endParaRPr lang="en-US" sz="1400" dirty="0"/>
          </a:p>
          <a:p>
            <a:pPr marL="0" indent="0">
              <a:spcAft>
                <a:spcPts val="300"/>
              </a:spcAft>
              <a:buNone/>
            </a:pPr>
            <a:r>
              <a:rPr lang="en-US" sz="1400" dirty="0">
                <a:solidFill>
                  <a:schemeClr val="tx1"/>
                </a:solidFill>
              </a:rPr>
              <a:t>Complain</a:t>
            </a:r>
            <a:endParaRPr lang="en-US" sz="1400" dirty="0"/>
          </a:p>
        </p:txBody>
      </p:sp>
      <p:sp>
        <p:nvSpPr>
          <p:cNvPr id="9" name="GroupCard1"/>
          <p:cNvSpPr/>
          <p:nvPr/>
        </p:nvSpPr>
        <p:spPr>
          <a:xfrm>
            <a:off x="3337560" y="1463040"/>
            <a:ext cx="2651760" cy="3931920"/>
          </a:xfrm>
          <a:prstGeom prst="roundRect">
            <a:avLst>
              <a:gd name="adj" fmla="val 2759"/>
            </a:avLst>
          </a:prstGeom>
          <a:solidFill>
            <a:schemeClr val="bg2"/>
          </a:solidFill>
          <a:ln/>
        </p:spPr>
        <p:txBody>
          <a:bodyPr/>
          <a:lstStyle/>
          <a:p>
            <a:endParaRPr lang="en-PH"/>
          </a:p>
        </p:txBody>
      </p:sp>
      <p:sp>
        <p:nvSpPr>
          <p:cNvPr id="10" name="Text 7"/>
          <p:cNvSpPr txBox="1"/>
          <p:nvPr/>
        </p:nvSpPr>
        <p:spPr>
          <a:xfrm>
            <a:off x="3566160" y="1600200"/>
            <a:ext cx="914400" cy="822960"/>
          </a:xfrm>
          <a:prstGeom prst="rect">
            <a:avLst/>
          </a:prstGeom>
          <a:noFill/>
          <a:ln/>
        </p:spPr>
        <p:txBody>
          <a:bodyPr wrap="square" lIns="0" tIns="0" rIns="0" bIns="0" rtlCol="0" anchor="ctr"/>
          <a:lstStyle/>
          <a:p>
            <a:pPr marL="0" indent="0">
              <a:buNone/>
            </a:pPr>
            <a:r>
              <a:rPr lang="en-US" sz="4800" b="1" dirty="0">
                <a:solidFill>
                  <a:schemeClr val="accent2"/>
                </a:solidFill>
              </a:rPr>
              <a:t>6</a:t>
            </a:r>
            <a:endParaRPr lang="en-US" sz="4800" dirty="0"/>
          </a:p>
        </p:txBody>
      </p:sp>
      <p:sp>
        <p:nvSpPr>
          <p:cNvPr id="11" name="Text 8"/>
          <p:cNvSpPr txBox="1"/>
          <p:nvPr/>
        </p:nvSpPr>
        <p:spPr>
          <a:xfrm>
            <a:off x="4389120" y="1600200"/>
            <a:ext cx="1463040" cy="822960"/>
          </a:xfrm>
          <a:prstGeom prst="rect">
            <a:avLst/>
          </a:prstGeom>
          <a:noFill/>
          <a:ln/>
        </p:spPr>
        <p:txBody>
          <a:bodyPr wrap="square" lIns="0" tIns="0" rIns="0" bIns="0" rtlCol="0" anchor="ctr"/>
          <a:lstStyle/>
          <a:p>
            <a:pPr marL="0" indent="0">
              <a:buNone/>
            </a:pPr>
            <a:r>
              <a:rPr lang="en-US" sz="2000" b="1" dirty="0">
                <a:solidFill>
                  <a:schemeClr val="tx2"/>
                </a:solidFill>
              </a:rPr>
              <a:t>Products</a:t>
            </a:r>
            <a:endParaRPr lang="en-US" sz="2000" dirty="0"/>
          </a:p>
        </p:txBody>
      </p:sp>
      <p:sp>
        <p:nvSpPr>
          <p:cNvPr id="12" name="Text 9"/>
          <p:cNvSpPr txBox="1"/>
          <p:nvPr/>
        </p:nvSpPr>
        <p:spPr>
          <a:xfrm>
            <a:off x="3566160" y="2560320"/>
            <a:ext cx="2286000" cy="274320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MntWines</a:t>
            </a:r>
            <a:endParaRPr lang="en-US" sz="1400" dirty="0"/>
          </a:p>
          <a:p>
            <a:pPr marL="0" indent="0">
              <a:spcAft>
                <a:spcPts val="300"/>
              </a:spcAft>
              <a:buNone/>
            </a:pPr>
            <a:r>
              <a:rPr lang="en-US" sz="1400" dirty="0">
                <a:solidFill>
                  <a:schemeClr val="tx1"/>
                </a:solidFill>
              </a:rPr>
              <a:t>MntFruits</a:t>
            </a:r>
            <a:endParaRPr lang="en-US" sz="1400" dirty="0"/>
          </a:p>
          <a:p>
            <a:pPr marL="0" indent="0">
              <a:spcAft>
                <a:spcPts val="300"/>
              </a:spcAft>
              <a:buNone/>
            </a:pPr>
            <a:r>
              <a:rPr lang="en-US" sz="1400" dirty="0">
                <a:solidFill>
                  <a:schemeClr val="tx1"/>
                </a:solidFill>
              </a:rPr>
              <a:t>MntMeatProducts</a:t>
            </a:r>
            <a:endParaRPr lang="en-US" sz="1400" dirty="0"/>
          </a:p>
          <a:p>
            <a:pPr marL="0" indent="0">
              <a:spcAft>
                <a:spcPts val="300"/>
              </a:spcAft>
              <a:buNone/>
            </a:pPr>
            <a:r>
              <a:rPr lang="en-US" sz="1400" dirty="0">
                <a:solidFill>
                  <a:schemeClr val="tx1"/>
                </a:solidFill>
              </a:rPr>
              <a:t>MntFishProducts</a:t>
            </a:r>
            <a:endParaRPr lang="en-US" sz="1400" dirty="0"/>
          </a:p>
          <a:p>
            <a:pPr marL="0" indent="0">
              <a:spcAft>
                <a:spcPts val="300"/>
              </a:spcAft>
              <a:buNone/>
            </a:pPr>
            <a:r>
              <a:rPr lang="en-US" sz="1400" dirty="0">
                <a:solidFill>
                  <a:schemeClr val="tx1"/>
                </a:solidFill>
              </a:rPr>
              <a:t>MntSweetProducts</a:t>
            </a:r>
            <a:endParaRPr lang="en-US" sz="1400" dirty="0"/>
          </a:p>
          <a:p>
            <a:pPr marL="0" indent="0">
              <a:spcAft>
                <a:spcPts val="300"/>
              </a:spcAft>
              <a:buNone/>
            </a:pPr>
            <a:r>
              <a:rPr lang="en-US" sz="1400" dirty="0">
                <a:solidFill>
                  <a:schemeClr val="tx1"/>
                </a:solidFill>
              </a:rPr>
              <a:t>MntGoldProds</a:t>
            </a:r>
            <a:endParaRPr lang="en-US" sz="1400" dirty="0"/>
          </a:p>
        </p:txBody>
      </p:sp>
      <p:sp>
        <p:nvSpPr>
          <p:cNvPr id="13" name="GroupCard2"/>
          <p:cNvSpPr/>
          <p:nvPr/>
        </p:nvSpPr>
        <p:spPr>
          <a:xfrm>
            <a:off x="6126480" y="1463040"/>
            <a:ext cx="2651760" cy="3931920"/>
          </a:xfrm>
          <a:prstGeom prst="roundRect">
            <a:avLst>
              <a:gd name="adj" fmla="val 2759"/>
            </a:avLst>
          </a:prstGeom>
          <a:solidFill>
            <a:schemeClr val="bg2"/>
          </a:solidFill>
          <a:ln/>
        </p:spPr>
        <p:txBody>
          <a:bodyPr/>
          <a:lstStyle/>
          <a:p>
            <a:endParaRPr lang="en-PH"/>
          </a:p>
        </p:txBody>
      </p:sp>
      <p:sp>
        <p:nvSpPr>
          <p:cNvPr id="14" name="Text 11"/>
          <p:cNvSpPr txBox="1"/>
          <p:nvPr/>
        </p:nvSpPr>
        <p:spPr>
          <a:xfrm>
            <a:off x="6355080" y="1600200"/>
            <a:ext cx="914400" cy="822960"/>
          </a:xfrm>
          <a:prstGeom prst="rect">
            <a:avLst/>
          </a:prstGeom>
          <a:noFill/>
          <a:ln/>
        </p:spPr>
        <p:txBody>
          <a:bodyPr wrap="square" lIns="0" tIns="0" rIns="0" bIns="0" rtlCol="0" anchor="ctr"/>
          <a:lstStyle/>
          <a:p>
            <a:pPr marL="0" indent="0">
              <a:buNone/>
            </a:pPr>
            <a:r>
              <a:rPr lang="en-US" sz="4800" b="1" dirty="0">
                <a:solidFill>
                  <a:schemeClr val="accent5"/>
                </a:solidFill>
              </a:rPr>
              <a:t>7</a:t>
            </a:r>
            <a:endParaRPr lang="en-US" sz="4800" dirty="0"/>
          </a:p>
        </p:txBody>
      </p:sp>
      <p:sp>
        <p:nvSpPr>
          <p:cNvPr id="15" name="Text 12"/>
          <p:cNvSpPr txBox="1"/>
          <p:nvPr/>
        </p:nvSpPr>
        <p:spPr>
          <a:xfrm>
            <a:off x="7178040" y="1600200"/>
            <a:ext cx="1463040" cy="822960"/>
          </a:xfrm>
          <a:prstGeom prst="rect">
            <a:avLst/>
          </a:prstGeom>
          <a:noFill/>
          <a:ln/>
        </p:spPr>
        <p:txBody>
          <a:bodyPr wrap="square" lIns="0" tIns="0" rIns="0" bIns="0" rtlCol="0" anchor="ctr"/>
          <a:lstStyle/>
          <a:p>
            <a:pPr marL="0" indent="0">
              <a:buNone/>
            </a:pPr>
            <a:r>
              <a:rPr lang="en-US" sz="2000" b="1" dirty="0">
                <a:solidFill>
                  <a:schemeClr val="tx2"/>
                </a:solidFill>
              </a:rPr>
              <a:t>Promotion</a:t>
            </a:r>
            <a:endParaRPr lang="en-US" sz="2000" dirty="0"/>
          </a:p>
        </p:txBody>
      </p:sp>
      <p:sp>
        <p:nvSpPr>
          <p:cNvPr id="16" name="Text 13"/>
          <p:cNvSpPr txBox="1"/>
          <p:nvPr/>
        </p:nvSpPr>
        <p:spPr>
          <a:xfrm>
            <a:off x="6355080" y="2560320"/>
            <a:ext cx="2286000" cy="274320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NumDealsPurchases</a:t>
            </a:r>
            <a:endParaRPr lang="en-US" sz="1400" dirty="0"/>
          </a:p>
          <a:p>
            <a:pPr marL="0" indent="0">
              <a:spcAft>
                <a:spcPts val="300"/>
              </a:spcAft>
              <a:buNone/>
            </a:pPr>
            <a:r>
              <a:rPr lang="en-US" sz="1400" dirty="0">
                <a:solidFill>
                  <a:schemeClr val="tx1"/>
                </a:solidFill>
              </a:rPr>
              <a:t>AcceptedCmp1</a:t>
            </a:r>
            <a:endParaRPr lang="en-US" sz="1400" dirty="0"/>
          </a:p>
          <a:p>
            <a:pPr marL="0" indent="0">
              <a:spcAft>
                <a:spcPts val="300"/>
              </a:spcAft>
              <a:buNone/>
            </a:pPr>
            <a:r>
              <a:rPr lang="en-US" sz="1400" dirty="0">
                <a:solidFill>
                  <a:schemeClr val="tx1"/>
                </a:solidFill>
              </a:rPr>
              <a:t>AcceptedCmp2</a:t>
            </a:r>
            <a:endParaRPr lang="en-US" sz="1400" dirty="0"/>
          </a:p>
          <a:p>
            <a:pPr marL="0" indent="0">
              <a:spcAft>
                <a:spcPts val="300"/>
              </a:spcAft>
              <a:buNone/>
            </a:pPr>
            <a:r>
              <a:rPr lang="en-US" sz="1400" dirty="0">
                <a:solidFill>
                  <a:schemeClr val="tx1"/>
                </a:solidFill>
              </a:rPr>
              <a:t>AcceptedCmp3</a:t>
            </a:r>
            <a:endParaRPr lang="en-US" sz="1400" dirty="0"/>
          </a:p>
          <a:p>
            <a:pPr marL="0" indent="0">
              <a:spcAft>
                <a:spcPts val="300"/>
              </a:spcAft>
              <a:buNone/>
            </a:pPr>
            <a:r>
              <a:rPr lang="en-US" sz="1400" dirty="0">
                <a:solidFill>
                  <a:schemeClr val="tx1"/>
                </a:solidFill>
              </a:rPr>
              <a:t>AcceptedCmp4</a:t>
            </a:r>
            <a:endParaRPr lang="en-US" sz="1400" dirty="0"/>
          </a:p>
          <a:p>
            <a:pPr marL="0" indent="0">
              <a:spcAft>
                <a:spcPts val="300"/>
              </a:spcAft>
              <a:buNone/>
            </a:pPr>
            <a:r>
              <a:rPr lang="en-US" sz="1400" dirty="0">
                <a:solidFill>
                  <a:schemeClr val="tx1"/>
                </a:solidFill>
              </a:rPr>
              <a:t>AcceptedCmp5</a:t>
            </a:r>
            <a:endParaRPr lang="en-US" sz="1400" dirty="0"/>
          </a:p>
          <a:p>
            <a:pPr marL="0" indent="0">
              <a:spcAft>
                <a:spcPts val="300"/>
              </a:spcAft>
              <a:buNone/>
            </a:pPr>
            <a:r>
              <a:rPr lang="en-US" sz="1400" dirty="0">
                <a:solidFill>
                  <a:schemeClr val="tx1"/>
                </a:solidFill>
              </a:rPr>
              <a:t>Response</a:t>
            </a:r>
            <a:endParaRPr lang="en-US" sz="1400" dirty="0"/>
          </a:p>
        </p:txBody>
      </p:sp>
      <p:sp>
        <p:nvSpPr>
          <p:cNvPr id="17" name="GroupCard3"/>
          <p:cNvSpPr/>
          <p:nvPr/>
        </p:nvSpPr>
        <p:spPr>
          <a:xfrm>
            <a:off x="8915400" y="1463040"/>
            <a:ext cx="2651760" cy="3931920"/>
          </a:xfrm>
          <a:prstGeom prst="roundRect">
            <a:avLst>
              <a:gd name="adj" fmla="val 2759"/>
            </a:avLst>
          </a:prstGeom>
          <a:solidFill>
            <a:schemeClr val="bg2"/>
          </a:solidFill>
          <a:ln/>
        </p:spPr>
        <p:txBody>
          <a:bodyPr/>
          <a:lstStyle/>
          <a:p>
            <a:endParaRPr lang="en-PH"/>
          </a:p>
        </p:txBody>
      </p:sp>
      <p:sp>
        <p:nvSpPr>
          <p:cNvPr id="18" name="Text 15"/>
          <p:cNvSpPr txBox="1"/>
          <p:nvPr/>
        </p:nvSpPr>
        <p:spPr>
          <a:xfrm>
            <a:off x="9144000" y="1600200"/>
            <a:ext cx="914400" cy="822960"/>
          </a:xfrm>
          <a:prstGeom prst="rect">
            <a:avLst/>
          </a:prstGeom>
          <a:noFill/>
          <a:ln/>
        </p:spPr>
        <p:txBody>
          <a:bodyPr wrap="square" lIns="0" tIns="0" rIns="0" bIns="0" rtlCol="0" anchor="ctr"/>
          <a:lstStyle/>
          <a:p>
            <a:pPr marL="0" indent="0">
              <a:buNone/>
            </a:pPr>
            <a:r>
              <a:rPr lang="en-US" sz="4800" b="1" dirty="0">
                <a:solidFill>
                  <a:schemeClr val="accent6"/>
                </a:solidFill>
              </a:rPr>
              <a:t>4</a:t>
            </a:r>
            <a:endParaRPr lang="en-US" sz="4800" dirty="0"/>
          </a:p>
        </p:txBody>
      </p:sp>
      <p:sp>
        <p:nvSpPr>
          <p:cNvPr id="19" name="Text 16"/>
          <p:cNvSpPr txBox="1"/>
          <p:nvPr/>
        </p:nvSpPr>
        <p:spPr>
          <a:xfrm>
            <a:off x="9966960" y="1600200"/>
            <a:ext cx="1463040" cy="822960"/>
          </a:xfrm>
          <a:prstGeom prst="rect">
            <a:avLst/>
          </a:prstGeom>
          <a:noFill/>
          <a:ln/>
        </p:spPr>
        <p:txBody>
          <a:bodyPr wrap="square" lIns="0" tIns="0" rIns="0" bIns="0" rtlCol="0" anchor="ctr"/>
          <a:lstStyle/>
          <a:p>
            <a:pPr marL="0" indent="0">
              <a:buNone/>
            </a:pPr>
            <a:r>
              <a:rPr lang="en-US" sz="2000" b="1" dirty="0">
                <a:solidFill>
                  <a:schemeClr val="tx2"/>
                </a:solidFill>
              </a:rPr>
              <a:t>Place</a:t>
            </a:r>
            <a:endParaRPr lang="en-US" sz="2000" dirty="0"/>
          </a:p>
        </p:txBody>
      </p:sp>
      <p:sp>
        <p:nvSpPr>
          <p:cNvPr id="20" name="Text 17"/>
          <p:cNvSpPr txBox="1"/>
          <p:nvPr/>
        </p:nvSpPr>
        <p:spPr>
          <a:xfrm>
            <a:off x="9144000" y="2560320"/>
            <a:ext cx="2286000" cy="274320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NumWebPurchases</a:t>
            </a:r>
            <a:endParaRPr lang="en-US" sz="1400" dirty="0"/>
          </a:p>
          <a:p>
            <a:pPr marL="0" indent="0">
              <a:spcAft>
                <a:spcPts val="300"/>
              </a:spcAft>
              <a:buNone/>
            </a:pPr>
            <a:r>
              <a:rPr lang="en-US" sz="1400" dirty="0">
                <a:solidFill>
                  <a:schemeClr val="tx1"/>
                </a:solidFill>
              </a:rPr>
              <a:t>NumCatalogPurchases</a:t>
            </a:r>
            <a:endParaRPr lang="en-US" sz="1400" dirty="0"/>
          </a:p>
          <a:p>
            <a:pPr marL="0" indent="0">
              <a:spcAft>
                <a:spcPts val="300"/>
              </a:spcAft>
              <a:buNone/>
            </a:pPr>
            <a:r>
              <a:rPr lang="en-US" sz="1400" dirty="0">
                <a:solidFill>
                  <a:schemeClr val="tx1"/>
                </a:solidFill>
              </a:rPr>
              <a:t>NumStorePurchases</a:t>
            </a:r>
            <a:endParaRPr lang="en-US" sz="1400" dirty="0"/>
          </a:p>
          <a:p>
            <a:pPr marL="0" indent="0">
              <a:spcAft>
                <a:spcPts val="300"/>
              </a:spcAft>
              <a:buNone/>
            </a:pPr>
            <a:r>
              <a:rPr lang="en-US" sz="1400" dirty="0">
                <a:solidFill>
                  <a:schemeClr val="tx1"/>
                </a:solidFill>
              </a:rPr>
              <a:t>NumWebVisitsMonth</a:t>
            </a:r>
            <a:endParaRPr lang="en-US" sz="1400" dirty="0"/>
          </a:p>
        </p:txBody>
      </p:sp>
      <p:sp>
        <p:nvSpPr>
          <p:cNvPr id="21" name="ConstNote"/>
          <p:cNvSpPr/>
          <p:nvPr/>
        </p:nvSpPr>
        <p:spPr>
          <a:xfrm>
            <a:off x="548640" y="5577840"/>
            <a:ext cx="11064240" cy="685800"/>
          </a:xfrm>
          <a:prstGeom prst="roundRect">
            <a:avLst>
              <a:gd name="adj" fmla="val 10667"/>
            </a:avLst>
          </a:prstGeom>
          <a:solidFill>
            <a:schemeClr val="tx2"/>
          </a:solidFill>
          <a:ln/>
        </p:spPr>
        <p:txBody>
          <a:bodyPr/>
          <a:lstStyle/>
          <a:p>
            <a:endParaRPr lang="en-PH"/>
          </a:p>
        </p:txBody>
      </p:sp>
      <p:sp>
        <p:nvSpPr>
          <p:cNvPr id="22" name="Text 19"/>
          <p:cNvSpPr txBox="1"/>
          <p:nvPr/>
        </p:nvSpPr>
        <p:spPr>
          <a:xfrm>
            <a:off x="822960" y="5577840"/>
            <a:ext cx="10515600" cy="685800"/>
          </a:xfrm>
          <a:prstGeom prst="rect">
            <a:avLst/>
          </a:prstGeom>
          <a:noFill/>
          <a:ln/>
        </p:spPr>
        <p:txBody>
          <a:bodyPr wrap="square" lIns="0" tIns="0" rIns="0" bIns="0" rtlCol="0" anchor="ctr"/>
          <a:lstStyle/>
          <a:p>
            <a:pPr marL="0" indent="0">
              <a:buNone/>
            </a:pPr>
            <a:r>
              <a:rPr lang="en-US" sz="1400" dirty="0">
                <a:solidFill>
                  <a:schemeClr val="bg1"/>
                </a:solidFill>
              </a:rPr>
              <a:t>Plus 2 constant columns (Z_CostContact = 3, Z_Revenue = 11): zero variance, no clustering value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2  |  DATA COLLECTION &amp; UNDERSTANDING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Data dictionary</a:t>
            </a:r>
            <a:endParaRPr lang="en-US" sz="3000" dirty="0"/>
          </a:p>
        </p:txBody>
      </p:sp>
      <p:graphicFrame>
        <p:nvGraphicFramePr>
          <p:cNvPr id="6" name="DataDictionary"/>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843272"/>
        </p:xfrm>
        <a:graphic>
          <a:graphicData uri="http://schemas.openxmlformats.org/drawingml/2006/table">
            <a:tbl>
              <a:tblPr/>
              <a:tblGrid>
                <a:gridCol w="10972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5349240">
                  <a:extLst>
                    <a:ext uri="{9D8B030D-6E8A-4147-A177-3AD203B41FA5}">
                      <a16:colId xmlns:a16="http://schemas.microsoft.com/office/drawing/2014/main" val="20003"/>
                    </a:ext>
                  </a:extLst>
                </a:gridCol>
              </a:tblGrid>
              <a:tr h="365760">
                <a:tc>
                  <a:txBody>
                    <a:bodyPr/>
                    <a:lstStyle/>
                    <a:p>
                      <a:pPr marL="0" indent="0">
                        <a:buNone/>
                      </a:pPr>
                      <a:r>
                        <a:rPr lang="en-US" sz="1400" b="1" dirty="0">
                          <a:solidFill>
                            <a:schemeClr val="bg1"/>
                          </a:solidFill>
                        </a:rPr>
                        <a:t>Group</a:t>
                      </a:r>
                      <a:endParaRPr lang="en-US" sz="1400" dirty="0"/>
                    </a:p>
                  </a:txBody>
                  <a:tcPr marL="73152" marR="73152" marT="27432" marB="27432">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Variable(s)</a:t>
                      </a:r>
                      <a:endParaRPr lang="en-US" sz="1400" dirty="0"/>
                    </a:p>
                  </a:txBody>
                  <a:tcPr marL="73152" marR="73152" marT="27432" marB="27432">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Type</a:t>
                      </a:r>
                      <a:endParaRPr lang="en-US" sz="1400" dirty="0"/>
                    </a:p>
                  </a:txBody>
                  <a:tcPr marL="73152" marR="73152" marT="27432" marB="27432">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Meaning and range (raw)</a:t>
                      </a:r>
                      <a:endParaRPr lang="en-US" sz="1400" dirty="0"/>
                    </a:p>
                  </a:txBody>
                  <a:tcPr marL="73152" marR="73152" marT="27432" marB="27432">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buNone/>
                      </a:pPr>
                      <a:r>
                        <a:rPr lang="en-US" sz="1300" dirty="0">
                          <a:solidFill>
                            <a:schemeClr val="tx1"/>
                          </a:solidFill>
                        </a:rPr>
                        <a:t>Customer</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ID, Year_Birth</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Unique ID; birth year 1893 to 1996</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buNone/>
                      </a:pPr>
                      <a:r>
                        <a:rPr lang="en-US" sz="1300" dirty="0">
                          <a:solidFill>
                            <a:schemeClr val="tx1"/>
                          </a:solidFill>
                        </a:rPr>
                        <a:t>Customer</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Education, Marital_Status</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object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Education: Graduation, PhD, Master, Basic, Cycle. Marital: Single, Together, Married, Divorced, Widow, Alone, Absurd, YOLO</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buNone/>
                      </a:pPr>
                      <a:r>
                        <a:rPr lang="en-US" sz="1300" dirty="0">
                          <a:solidFill>
                            <a:schemeClr val="tx1"/>
                          </a:solidFill>
                        </a:rPr>
                        <a:t>Customer</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Income</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float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Yearly household income, 1,730 to 666,666</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buNone/>
                      </a:pPr>
                      <a:r>
                        <a:rPr lang="en-US" sz="1300" dirty="0">
                          <a:solidFill>
                            <a:schemeClr val="tx1"/>
                          </a:solidFill>
                        </a:rPr>
                        <a:t>Customer</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Kidhome, Teenhome</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Children / teenagers in household, 0 to 2</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buNone/>
                      </a:pPr>
                      <a:r>
                        <a:rPr lang="en-US" sz="1300" dirty="0">
                          <a:solidFill>
                            <a:schemeClr val="tx1"/>
                          </a:solidFill>
                        </a:rPr>
                        <a:t>Customer</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Recency, Complain</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Days since last purchase (0-99); 1 if complained in last 2 years</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indent="0">
                        <a:buNone/>
                      </a:pPr>
                      <a:r>
                        <a:rPr lang="en-US" sz="1300" dirty="0">
                          <a:solidFill>
                            <a:schemeClr val="tx1"/>
                          </a:solidFill>
                        </a:rPr>
                        <a:t>Products</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MntWines, MntFruits, MntMeatProducts, MntFishProducts, MntSweetProducts, MntGoldProds</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Amount spent in last 2 years (wines 0-1,493; meat 0-1,725)</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65760">
                <a:tc>
                  <a:txBody>
                    <a:bodyPr/>
                    <a:lstStyle/>
                    <a:p>
                      <a:pPr marL="0" indent="0">
                        <a:buNone/>
                      </a:pPr>
                      <a:r>
                        <a:rPr lang="en-US" sz="1300" dirty="0">
                          <a:solidFill>
                            <a:schemeClr val="tx1"/>
                          </a:solidFill>
                        </a:rPr>
                        <a:t>Promotion</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NumDealsPurchases</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Purchases made with a discount, 0 to 15</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65760">
                <a:tc>
                  <a:txBody>
                    <a:bodyPr/>
                    <a:lstStyle/>
                    <a:p>
                      <a:pPr marL="0" indent="0">
                        <a:buNone/>
                      </a:pPr>
                      <a:r>
                        <a:rPr lang="en-US" sz="1300" dirty="0">
                          <a:solidFill>
                            <a:schemeClr val="tx1"/>
                          </a:solidFill>
                        </a:rPr>
                        <a:t>Promotion</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AcceptedCmp1-5, Response</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int (0/1)</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 if offer accepted in campaign 1-5 / last campaign</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65760">
                <a:tc>
                  <a:txBody>
                    <a:bodyPr/>
                    <a:lstStyle/>
                    <a:p>
                      <a:pPr marL="0" indent="0">
                        <a:buNone/>
                      </a:pPr>
                      <a:r>
                        <a:rPr lang="en-US" sz="1300" dirty="0">
                          <a:solidFill>
                            <a:schemeClr val="tx1"/>
                          </a:solidFill>
                        </a:rPr>
                        <a:t>Place</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NumWebPurchases, NumCatalogPurchases, NumStorePurchases</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Purchases by channel: website, catalogue, store</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65760">
                <a:tc>
                  <a:txBody>
                    <a:bodyPr/>
                    <a:lstStyle/>
                    <a:p>
                      <a:pPr marL="0" indent="0">
                        <a:buNone/>
                      </a:pPr>
                      <a:r>
                        <a:rPr lang="en-US" sz="1300" dirty="0">
                          <a:solidFill>
                            <a:schemeClr val="tx1"/>
                          </a:solidFill>
                        </a:rPr>
                        <a:t>Place</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NumWebVisitsMonth</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Website visits in last month, 0 to 20</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65760">
                <a:tc>
                  <a:txBody>
                    <a:bodyPr/>
                    <a:lstStyle/>
                    <a:p>
                      <a:pPr marL="0" indent="0">
                        <a:buNone/>
                      </a:pPr>
                      <a:r>
                        <a:rPr lang="en-US" sz="1300" dirty="0">
                          <a:solidFill>
                            <a:schemeClr val="tx1"/>
                          </a:solidFill>
                        </a:rPr>
                        <a:t>Constant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Z_CostContact, Z_Revenue</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int</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Fixed at 3 and 11; no information</a:t>
                      </a:r>
                      <a:endParaRPr lang="en-US" sz="1300" dirty="0"/>
                    </a:p>
                  </a:txBody>
                  <a:tcPr marL="73152" marR="73152" marT="27432" marB="27432"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3  |  PREPROCESSING, APPLIED EDA &amp; FEATURE ENGINEERING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Cleaning and preprocessing</a:t>
            </a:r>
            <a:endParaRPr lang="en-US" sz="3000" dirty="0"/>
          </a:p>
        </p:txBody>
      </p:sp>
      <p:sp>
        <p:nvSpPr>
          <p:cNvPr id="5" name="BATile0"/>
          <p:cNvSpPr/>
          <p:nvPr/>
        </p:nvSpPr>
        <p:spPr>
          <a:xfrm>
            <a:off x="548640" y="1463040"/>
            <a:ext cx="3566160" cy="1371600"/>
          </a:xfrm>
          <a:prstGeom prst="roundRect">
            <a:avLst>
              <a:gd name="adj" fmla="val 5333"/>
            </a:avLst>
          </a:prstGeom>
          <a:solidFill>
            <a:schemeClr val="bg2"/>
          </a:solidFill>
          <a:ln/>
        </p:spPr>
        <p:txBody>
          <a:bodyPr/>
          <a:lstStyle/>
          <a:p>
            <a:endParaRPr lang="en-PH"/>
          </a:p>
        </p:txBody>
      </p:sp>
      <p:sp>
        <p:nvSpPr>
          <p:cNvPr id="6" name="Text 3"/>
          <p:cNvSpPr txBox="1"/>
          <p:nvPr/>
        </p:nvSpPr>
        <p:spPr>
          <a:xfrm>
            <a:off x="777240" y="1554480"/>
            <a:ext cx="3108960" cy="731520"/>
          </a:xfrm>
          <a:prstGeom prst="rect">
            <a:avLst/>
          </a:prstGeom>
          <a:noFill/>
          <a:ln/>
        </p:spPr>
        <p:txBody>
          <a:bodyPr wrap="square" lIns="0" tIns="0" rIns="0" bIns="0" rtlCol="0" anchor="ctr"/>
          <a:lstStyle/>
          <a:p>
            <a:pPr marL="0" indent="0">
              <a:buNone/>
            </a:pPr>
            <a:r>
              <a:rPr lang="en-US" sz="2800" b="1" dirty="0">
                <a:solidFill>
                  <a:schemeClr val="accent1"/>
                </a:solidFill>
              </a:rPr>
              <a:t>2,240 → 2,038</a:t>
            </a:r>
            <a:endParaRPr lang="en-US" sz="2800" dirty="0"/>
          </a:p>
        </p:txBody>
      </p:sp>
      <p:sp>
        <p:nvSpPr>
          <p:cNvPr id="7" name="Text 4"/>
          <p:cNvSpPr txBox="1"/>
          <p:nvPr/>
        </p:nvSpPr>
        <p:spPr>
          <a:xfrm>
            <a:off x="777240" y="2286000"/>
            <a:ext cx="3108960" cy="365760"/>
          </a:xfrm>
          <a:prstGeom prst="rect">
            <a:avLst/>
          </a:prstGeom>
          <a:noFill/>
          <a:ln/>
        </p:spPr>
        <p:txBody>
          <a:bodyPr wrap="square" lIns="0" tIns="0" rIns="0" bIns="0" rtlCol="0" anchor="ctr"/>
          <a:lstStyle/>
          <a:p>
            <a:pPr marL="0" indent="0">
              <a:buNone/>
            </a:pPr>
            <a:r>
              <a:rPr lang="en-US" sz="1400" dirty="0">
                <a:solidFill>
                  <a:schemeClr val="tx1"/>
                </a:solidFill>
              </a:rPr>
              <a:t>rows after range filter</a:t>
            </a:r>
            <a:endParaRPr lang="en-US" sz="1400" dirty="0"/>
          </a:p>
        </p:txBody>
      </p:sp>
      <p:sp>
        <p:nvSpPr>
          <p:cNvPr id="8" name="BATile1"/>
          <p:cNvSpPr/>
          <p:nvPr/>
        </p:nvSpPr>
        <p:spPr>
          <a:xfrm>
            <a:off x="4297680" y="1463040"/>
            <a:ext cx="3566160" cy="1371600"/>
          </a:xfrm>
          <a:prstGeom prst="roundRect">
            <a:avLst>
              <a:gd name="adj" fmla="val 5333"/>
            </a:avLst>
          </a:prstGeom>
          <a:solidFill>
            <a:schemeClr val="bg2"/>
          </a:solidFill>
          <a:ln/>
        </p:spPr>
        <p:txBody>
          <a:bodyPr/>
          <a:lstStyle/>
          <a:p>
            <a:endParaRPr lang="en-PH"/>
          </a:p>
        </p:txBody>
      </p:sp>
      <p:sp>
        <p:nvSpPr>
          <p:cNvPr id="9" name="Text 6"/>
          <p:cNvSpPr txBox="1"/>
          <p:nvPr/>
        </p:nvSpPr>
        <p:spPr>
          <a:xfrm>
            <a:off x="4526280" y="1554480"/>
            <a:ext cx="3108960" cy="731520"/>
          </a:xfrm>
          <a:prstGeom prst="rect">
            <a:avLst/>
          </a:prstGeom>
          <a:noFill/>
          <a:ln/>
        </p:spPr>
        <p:txBody>
          <a:bodyPr wrap="square" lIns="0" tIns="0" rIns="0" bIns="0" rtlCol="0" anchor="ctr"/>
          <a:lstStyle/>
          <a:p>
            <a:pPr marL="0" indent="0">
              <a:buNone/>
            </a:pPr>
            <a:r>
              <a:rPr lang="en-US" sz="2800" b="1" dirty="0">
                <a:solidFill>
                  <a:schemeClr val="accent1"/>
                </a:solidFill>
              </a:rPr>
              <a:t>666,666 → 113,734</a:t>
            </a:r>
            <a:endParaRPr lang="en-US" sz="2800" dirty="0"/>
          </a:p>
        </p:txBody>
      </p:sp>
      <p:sp>
        <p:nvSpPr>
          <p:cNvPr id="10" name="Text 7"/>
          <p:cNvSpPr txBox="1"/>
          <p:nvPr/>
        </p:nvSpPr>
        <p:spPr>
          <a:xfrm>
            <a:off x="4526280" y="2286000"/>
            <a:ext cx="3108960" cy="365760"/>
          </a:xfrm>
          <a:prstGeom prst="rect">
            <a:avLst/>
          </a:prstGeom>
          <a:noFill/>
          <a:ln/>
        </p:spPr>
        <p:txBody>
          <a:bodyPr wrap="square" lIns="0" tIns="0" rIns="0" bIns="0" rtlCol="0" anchor="ctr"/>
          <a:lstStyle/>
          <a:p>
            <a:pPr marL="0" indent="0">
              <a:buNone/>
            </a:pPr>
            <a:r>
              <a:rPr lang="en-US" sz="1400" dirty="0">
                <a:solidFill>
                  <a:schemeClr val="tx1"/>
                </a:solidFill>
              </a:rPr>
              <a:t>max Income</a:t>
            </a:r>
            <a:endParaRPr lang="en-US" sz="1400" dirty="0"/>
          </a:p>
        </p:txBody>
      </p:sp>
      <p:sp>
        <p:nvSpPr>
          <p:cNvPr id="11" name="BATile2"/>
          <p:cNvSpPr/>
          <p:nvPr/>
        </p:nvSpPr>
        <p:spPr>
          <a:xfrm>
            <a:off x="8046720" y="1463040"/>
            <a:ext cx="3566160" cy="1371600"/>
          </a:xfrm>
          <a:prstGeom prst="roundRect">
            <a:avLst>
              <a:gd name="adj" fmla="val 5333"/>
            </a:avLst>
          </a:prstGeom>
          <a:solidFill>
            <a:schemeClr val="bg2"/>
          </a:solidFill>
          <a:ln/>
        </p:spPr>
        <p:txBody>
          <a:bodyPr/>
          <a:lstStyle/>
          <a:p>
            <a:endParaRPr lang="en-PH"/>
          </a:p>
        </p:txBody>
      </p:sp>
      <p:sp>
        <p:nvSpPr>
          <p:cNvPr id="12" name="Text 9"/>
          <p:cNvSpPr txBox="1"/>
          <p:nvPr/>
        </p:nvSpPr>
        <p:spPr>
          <a:xfrm>
            <a:off x="8275320" y="1554480"/>
            <a:ext cx="3108960" cy="731520"/>
          </a:xfrm>
          <a:prstGeom prst="rect">
            <a:avLst/>
          </a:prstGeom>
          <a:noFill/>
          <a:ln/>
        </p:spPr>
        <p:txBody>
          <a:bodyPr wrap="square" lIns="0" tIns="0" rIns="0" bIns="0" rtlCol="0" anchor="ctr"/>
          <a:lstStyle/>
          <a:p>
            <a:pPr marL="0" indent="0">
              <a:buNone/>
            </a:pPr>
            <a:r>
              <a:rPr lang="en-US" sz="2800" b="1" dirty="0">
                <a:solidFill>
                  <a:schemeClr val="accent1"/>
                </a:solidFill>
              </a:rPr>
              <a:t>1893 → 1940</a:t>
            </a:r>
            <a:endParaRPr lang="en-US" sz="2800" dirty="0"/>
          </a:p>
        </p:txBody>
      </p:sp>
      <p:sp>
        <p:nvSpPr>
          <p:cNvPr id="13" name="Text 10"/>
          <p:cNvSpPr txBox="1"/>
          <p:nvPr/>
        </p:nvSpPr>
        <p:spPr>
          <a:xfrm>
            <a:off x="8275320" y="2286000"/>
            <a:ext cx="3108960" cy="365760"/>
          </a:xfrm>
          <a:prstGeom prst="rect">
            <a:avLst/>
          </a:prstGeom>
          <a:noFill/>
          <a:ln/>
        </p:spPr>
        <p:txBody>
          <a:bodyPr wrap="square" lIns="0" tIns="0" rIns="0" bIns="0" rtlCol="0" anchor="ctr"/>
          <a:lstStyle/>
          <a:p>
            <a:pPr marL="0" indent="0">
              <a:buNone/>
            </a:pPr>
            <a:r>
              <a:rPr lang="en-US" sz="1400" dirty="0">
                <a:solidFill>
                  <a:schemeClr val="tx1"/>
                </a:solidFill>
              </a:rPr>
              <a:t>min Year_Birth</a:t>
            </a:r>
            <a:endParaRPr lang="en-US" sz="1400" dirty="0"/>
          </a:p>
        </p:txBody>
      </p:sp>
      <p:sp>
        <p:nvSpPr>
          <p:cNvPr id="14" name="RangeCard"/>
          <p:cNvSpPr/>
          <p:nvPr/>
        </p:nvSpPr>
        <p:spPr>
          <a:xfrm>
            <a:off x="548640" y="3108960"/>
            <a:ext cx="5394960" cy="3154680"/>
          </a:xfrm>
          <a:prstGeom prst="roundRect">
            <a:avLst>
              <a:gd name="adj" fmla="val 2319"/>
            </a:avLst>
          </a:prstGeom>
          <a:solidFill>
            <a:schemeClr val="bg2"/>
          </a:solidFill>
          <a:ln/>
        </p:spPr>
        <p:txBody>
          <a:bodyPr/>
          <a:lstStyle/>
          <a:p>
            <a:endParaRPr lang="en-PH"/>
          </a:p>
        </p:txBody>
      </p:sp>
      <p:sp>
        <p:nvSpPr>
          <p:cNvPr id="15" name="Heading"/>
          <p:cNvSpPr txBox="1"/>
          <p:nvPr/>
        </p:nvSpPr>
        <p:spPr>
          <a:xfrm>
            <a:off x="777240" y="3246120"/>
            <a:ext cx="4937760" cy="365760"/>
          </a:xfrm>
          <a:prstGeom prst="rect">
            <a:avLst/>
          </a:prstGeom>
          <a:noFill/>
          <a:ln/>
        </p:spPr>
        <p:txBody>
          <a:bodyPr wrap="square" lIns="0" tIns="0" rIns="0" bIns="0" rtlCol="0" anchor="ctr"/>
          <a:lstStyle/>
          <a:p>
            <a:pPr marL="0" indent="0">
              <a:buNone/>
            </a:pPr>
            <a:r>
              <a:rPr lang="en-US" sz="1800" b="1" dirty="0">
                <a:solidFill>
                  <a:schemeClr val="tx2"/>
                </a:solidFill>
              </a:rPr>
              <a:t>Range filter (inclusive limits)</a:t>
            </a:r>
            <a:endParaRPr lang="en-US" sz="1800" dirty="0"/>
          </a:p>
        </p:txBody>
      </p:sp>
      <p:sp>
        <p:nvSpPr>
          <p:cNvPr id="16" name="Text 13"/>
          <p:cNvSpPr txBox="1"/>
          <p:nvPr/>
        </p:nvSpPr>
        <p:spPr>
          <a:xfrm>
            <a:off x="777240" y="3703320"/>
            <a:ext cx="4937760" cy="2468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Year_Birth 1920-2000; Income 0-120,000</a:t>
            </a:r>
            <a:endParaRPr lang="en-US" sz="1400" dirty="0"/>
          </a:p>
          <a:p>
            <a:pPr marL="177800" indent="-177800">
              <a:spcAft>
                <a:spcPts val="400"/>
              </a:spcAft>
              <a:buSzPct val="100000"/>
              <a:buChar char="•"/>
            </a:pPr>
            <a:r>
              <a:rPr lang="en-US" sz="1400" dirty="0">
                <a:solidFill>
                  <a:schemeClr val="tx1"/>
                </a:solidFill>
              </a:rPr>
              <a:t>MntWines, MntMeatProducts 0-1,000</a:t>
            </a:r>
            <a:endParaRPr lang="en-US" sz="1400" dirty="0"/>
          </a:p>
          <a:p>
            <a:pPr marL="177800" indent="-177800">
              <a:spcAft>
                <a:spcPts val="400"/>
              </a:spcAft>
              <a:buSzPct val="100000"/>
              <a:buChar char="•"/>
            </a:pPr>
            <a:r>
              <a:rPr lang="en-US" sz="1400" dirty="0">
                <a:solidFill>
                  <a:schemeClr val="tx1"/>
                </a:solidFill>
              </a:rPr>
              <a:t>MntFruits 0-150; MntFish, MntSweet 0-300</a:t>
            </a:r>
            <a:endParaRPr lang="en-US" sz="1400" dirty="0"/>
          </a:p>
          <a:p>
            <a:pPr marL="177800" indent="-177800">
              <a:spcAft>
                <a:spcPts val="400"/>
              </a:spcAft>
              <a:buSzPct val="100000"/>
              <a:buChar char="•"/>
            </a:pPr>
            <a:r>
              <a:rPr lang="en-US" sz="1400" dirty="0">
                <a:solidFill>
                  <a:schemeClr val="tx1"/>
                </a:solidFill>
              </a:rPr>
              <a:t>MntGoldProds 0-400</a:t>
            </a:r>
            <a:endParaRPr lang="en-US" sz="1400" dirty="0"/>
          </a:p>
          <a:p>
            <a:pPr marL="177800" indent="-177800">
              <a:spcAft>
                <a:spcPts val="400"/>
              </a:spcAft>
              <a:buSzPct val="100000"/>
              <a:buChar char="•"/>
            </a:pPr>
            <a:r>
              <a:rPr lang="en-US" sz="1400" dirty="0">
                <a:solidFill>
                  <a:schemeClr val="tx1"/>
                </a:solidFill>
              </a:rPr>
              <a:t>Deals, web, catalog, store purchases and web visits 0-30</a:t>
            </a:r>
            <a:endParaRPr lang="en-US" sz="1400" dirty="0"/>
          </a:p>
          <a:p>
            <a:pPr marL="177800" indent="-177800">
              <a:spcAft>
                <a:spcPts val="400"/>
              </a:spcAft>
              <a:buSzPct val="100000"/>
              <a:buChar char="•"/>
            </a:pPr>
            <a:r>
              <a:rPr lang="en-US" sz="1400" dirty="0">
                <a:solidFill>
                  <a:schemeClr val="tx1"/>
                </a:solidFill>
              </a:rPr>
              <a:t>Also: 24 null-Income rows dropped; 0 duplicates</a:t>
            </a:r>
            <a:endParaRPr lang="en-US" sz="1400" dirty="0"/>
          </a:p>
        </p:txBody>
      </p:sp>
      <p:sp>
        <p:nvSpPr>
          <p:cNvPr id="17" name="EncodeCard"/>
          <p:cNvSpPr/>
          <p:nvPr/>
        </p:nvSpPr>
        <p:spPr>
          <a:xfrm>
            <a:off x="6217920" y="3108960"/>
            <a:ext cx="5394960" cy="3154680"/>
          </a:xfrm>
          <a:prstGeom prst="roundRect">
            <a:avLst>
              <a:gd name="adj" fmla="val 2319"/>
            </a:avLst>
          </a:prstGeom>
          <a:solidFill>
            <a:schemeClr val="bg2"/>
          </a:solidFill>
          <a:ln/>
        </p:spPr>
        <p:txBody>
          <a:bodyPr/>
          <a:lstStyle/>
          <a:p>
            <a:endParaRPr lang="en-PH"/>
          </a:p>
        </p:txBody>
      </p:sp>
      <p:sp>
        <p:nvSpPr>
          <p:cNvPr id="18" name="Badge"/>
          <p:cNvSpPr/>
          <p:nvPr/>
        </p:nvSpPr>
        <p:spPr>
          <a:xfrm>
            <a:off x="6446520" y="3337560"/>
            <a:ext cx="457200" cy="457200"/>
          </a:xfrm>
          <a:prstGeom prst="ellipse">
            <a:avLst/>
          </a:prstGeom>
          <a:solidFill>
            <a:schemeClr val="accent1"/>
          </a:solidFill>
          <a:ln/>
        </p:spPr>
        <p:txBody>
          <a:bodyPr/>
          <a:lstStyle/>
          <a:p>
            <a:endParaRPr lang="en-PH"/>
          </a:p>
        </p:txBody>
      </p:sp>
      <p:sp>
        <p:nvSpPr>
          <p:cNvPr id="19" name="BadgeText"/>
          <p:cNvSpPr txBox="1"/>
          <p:nvPr/>
        </p:nvSpPr>
        <p:spPr>
          <a:xfrm>
            <a:off x="6446520" y="33375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0" name="Text 17"/>
          <p:cNvSpPr txBox="1"/>
          <p:nvPr/>
        </p:nvSpPr>
        <p:spPr>
          <a:xfrm>
            <a:off x="7086600" y="3246120"/>
            <a:ext cx="4297680" cy="320040"/>
          </a:xfrm>
          <a:prstGeom prst="rect">
            <a:avLst/>
          </a:prstGeom>
          <a:noFill/>
          <a:ln/>
        </p:spPr>
        <p:txBody>
          <a:bodyPr wrap="square" lIns="0" tIns="0" rIns="0" bIns="0" rtlCol="0" anchor="ctr"/>
          <a:lstStyle/>
          <a:p>
            <a:pPr marL="0" indent="0">
              <a:buNone/>
            </a:pPr>
            <a:r>
              <a:rPr lang="en-US" sz="1600" b="1" dirty="0">
                <a:solidFill>
                  <a:schemeClr val="tx2"/>
                </a:solidFill>
              </a:rPr>
              <a:t>One-hot encoding</a:t>
            </a:r>
            <a:endParaRPr lang="en-US" sz="1600" dirty="0"/>
          </a:p>
        </p:txBody>
      </p:sp>
      <p:sp>
        <p:nvSpPr>
          <p:cNvPr id="21" name="Text 18"/>
          <p:cNvSpPr txBox="1"/>
          <p:nvPr/>
        </p:nvSpPr>
        <p:spPr>
          <a:xfrm>
            <a:off x="7086600" y="3575304"/>
            <a:ext cx="4297680" cy="594360"/>
          </a:xfrm>
          <a:prstGeom prst="rect">
            <a:avLst/>
          </a:prstGeom>
          <a:noFill/>
          <a:ln/>
        </p:spPr>
        <p:txBody>
          <a:bodyPr wrap="square" lIns="0" tIns="0" rIns="0" bIns="0" rtlCol="0" anchor="t"/>
          <a:lstStyle/>
          <a:p>
            <a:pPr marL="0" indent="0">
              <a:buNone/>
            </a:pPr>
            <a:r>
              <a:rPr lang="en-US" sz="1400" dirty="0">
                <a:solidFill>
                  <a:schemeClr val="tx1"/>
                </a:solidFill>
              </a:rPr>
              <a:t>pd.get_dummies on Education and Marital_Status (28 → 39 columns)</a:t>
            </a:r>
            <a:endParaRPr lang="en-US" sz="1400" dirty="0"/>
          </a:p>
        </p:txBody>
      </p:sp>
      <p:sp>
        <p:nvSpPr>
          <p:cNvPr id="22" name="Badge"/>
          <p:cNvSpPr/>
          <p:nvPr/>
        </p:nvSpPr>
        <p:spPr>
          <a:xfrm>
            <a:off x="6446520" y="4325112"/>
            <a:ext cx="457200" cy="457200"/>
          </a:xfrm>
          <a:prstGeom prst="ellipse">
            <a:avLst/>
          </a:prstGeom>
          <a:solidFill>
            <a:schemeClr val="accent1"/>
          </a:solidFill>
          <a:ln/>
        </p:spPr>
        <p:txBody>
          <a:bodyPr/>
          <a:lstStyle/>
          <a:p>
            <a:endParaRPr lang="en-PH"/>
          </a:p>
        </p:txBody>
      </p:sp>
      <p:sp>
        <p:nvSpPr>
          <p:cNvPr id="23" name="BadgeText"/>
          <p:cNvSpPr txBox="1"/>
          <p:nvPr/>
        </p:nvSpPr>
        <p:spPr>
          <a:xfrm>
            <a:off x="6446520" y="4325112"/>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4" name="Text 21"/>
          <p:cNvSpPr txBox="1"/>
          <p:nvPr/>
        </p:nvSpPr>
        <p:spPr>
          <a:xfrm>
            <a:off x="7086600" y="4233672"/>
            <a:ext cx="4297680" cy="320040"/>
          </a:xfrm>
          <a:prstGeom prst="rect">
            <a:avLst/>
          </a:prstGeom>
          <a:noFill/>
          <a:ln/>
        </p:spPr>
        <p:txBody>
          <a:bodyPr wrap="square" lIns="0" tIns="0" rIns="0" bIns="0" rtlCol="0" anchor="ctr"/>
          <a:lstStyle/>
          <a:p>
            <a:pPr marL="0" indent="0">
              <a:buNone/>
            </a:pPr>
            <a:r>
              <a:rPr lang="en-US" sz="1600" b="1" dirty="0">
                <a:solidFill>
                  <a:schemeClr val="tx2"/>
                </a:solidFill>
              </a:rPr>
              <a:t>StandardScaler</a:t>
            </a:r>
            <a:endParaRPr lang="en-US" sz="1600" dirty="0"/>
          </a:p>
        </p:txBody>
      </p:sp>
      <p:sp>
        <p:nvSpPr>
          <p:cNvPr id="25" name="Text 22"/>
          <p:cNvSpPr txBox="1"/>
          <p:nvPr/>
        </p:nvSpPr>
        <p:spPr>
          <a:xfrm>
            <a:off x="7086600" y="4562856"/>
            <a:ext cx="4297680" cy="594360"/>
          </a:xfrm>
          <a:prstGeom prst="rect">
            <a:avLst/>
          </a:prstGeom>
          <a:noFill/>
          <a:ln/>
        </p:spPr>
        <p:txBody>
          <a:bodyPr wrap="square" lIns="0" tIns="0" rIns="0" bIns="0" rtlCol="0" anchor="t"/>
          <a:lstStyle/>
          <a:p>
            <a:pPr marL="0" indent="0">
              <a:buNone/>
            </a:pPr>
            <a:r>
              <a:rPr lang="en-US" sz="1400" dirty="0">
                <a:solidFill>
                  <a:schemeClr val="tx1"/>
                </a:solidFill>
              </a:rPr>
              <a:t>Mean 0, variance 1, so Income (up to ~114k) cannot swamp NumWebVisitsMonth (max 20)</a:t>
            </a:r>
            <a:endParaRPr lang="en-US" sz="1400" dirty="0"/>
          </a:p>
        </p:txBody>
      </p:sp>
      <p:sp>
        <p:nvSpPr>
          <p:cNvPr id="26" name="Badge"/>
          <p:cNvSpPr/>
          <p:nvPr/>
        </p:nvSpPr>
        <p:spPr>
          <a:xfrm>
            <a:off x="6446520" y="5312664"/>
            <a:ext cx="457200" cy="457200"/>
          </a:xfrm>
          <a:prstGeom prst="ellipse">
            <a:avLst/>
          </a:prstGeom>
          <a:solidFill>
            <a:schemeClr val="accent1"/>
          </a:solidFill>
          <a:ln/>
        </p:spPr>
        <p:txBody>
          <a:bodyPr/>
          <a:lstStyle/>
          <a:p>
            <a:endParaRPr lang="en-PH"/>
          </a:p>
        </p:txBody>
      </p:sp>
      <p:sp>
        <p:nvSpPr>
          <p:cNvPr id="27" name="BadgeText"/>
          <p:cNvSpPr txBox="1"/>
          <p:nvPr/>
        </p:nvSpPr>
        <p:spPr>
          <a:xfrm>
            <a:off x="6446520" y="5312664"/>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8" name="Text 25"/>
          <p:cNvSpPr txBox="1"/>
          <p:nvPr/>
        </p:nvSpPr>
        <p:spPr>
          <a:xfrm>
            <a:off x="7086600" y="5221224"/>
            <a:ext cx="4297680" cy="320040"/>
          </a:xfrm>
          <a:prstGeom prst="rect">
            <a:avLst/>
          </a:prstGeom>
          <a:noFill/>
          <a:ln/>
        </p:spPr>
        <p:txBody>
          <a:bodyPr wrap="square" lIns="0" tIns="0" rIns="0" bIns="0" rtlCol="0" anchor="ctr"/>
          <a:lstStyle/>
          <a:p>
            <a:pPr marL="0" indent="0">
              <a:buNone/>
            </a:pPr>
            <a:r>
              <a:rPr lang="en-US" sz="1600" b="1" dirty="0">
                <a:solidFill>
                  <a:schemeClr val="tx2"/>
                </a:solidFill>
              </a:rPr>
              <a:t>Scaler comparison</a:t>
            </a:r>
            <a:endParaRPr lang="en-US" sz="1600" dirty="0"/>
          </a:p>
        </p:txBody>
      </p:sp>
      <p:sp>
        <p:nvSpPr>
          <p:cNvPr id="29" name="Text 26"/>
          <p:cNvSpPr txBox="1"/>
          <p:nvPr/>
        </p:nvSpPr>
        <p:spPr>
          <a:xfrm>
            <a:off x="7086600" y="5550408"/>
            <a:ext cx="4297680" cy="594360"/>
          </a:xfrm>
          <a:prstGeom prst="rect">
            <a:avLst/>
          </a:prstGeom>
          <a:noFill/>
          <a:ln/>
        </p:spPr>
        <p:txBody>
          <a:bodyPr wrap="square" lIns="0" tIns="0" rIns="0" bIns="0" rtlCol="0" anchor="t"/>
          <a:lstStyle/>
          <a:p>
            <a:pPr marL="0" indent="0">
              <a:buNone/>
            </a:pPr>
            <a:r>
              <a:rPr lang="en-US" sz="1400" dirty="0">
                <a:solidFill>
                  <a:schemeClr val="tx1"/>
                </a:solidFill>
              </a:rPr>
              <a:t>MinMax, Standard and Robust boxplots compared before choosing</a:t>
            </a:r>
            <a:endParaRPr lang="en-US" sz="1400" dirty="0"/>
          </a:p>
        </p:txBody>
      </p:sp>
      <p:sp>
        <p:nvSpPr>
          <p:cNvPr id="4"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3  |  PREPROCESSING, APPLIED EDA &amp; FEATURE ENGINEERING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Applied EDA: relationships, feature selection, PCA</a:t>
            </a:r>
            <a:endParaRPr lang="en-US" sz="3000" dirty="0"/>
          </a:p>
        </p:txBody>
      </p:sp>
      <p:sp>
        <p:nvSpPr>
          <p:cNvPr id="5" name="ChartCard"/>
          <p:cNvSpPr/>
          <p:nvPr/>
        </p:nvSpPr>
        <p:spPr>
          <a:xfrm>
            <a:off x="548640" y="1463040"/>
            <a:ext cx="6126480" cy="4800600"/>
          </a:xfrm>
          <a:prstGeom prst="roundRect">
            <a:avLst>
              <a:gd name="adj" fmla="val 1524"/>
            </a:avLst>
          </a:prstGeom>
          <a:solidFill>
            <a:schemeClr val="bg2"/>
          </a:solidFill>
          <a:ln/>
        </p:spPr>
        <p:txBody>
          <a:bodyPr/>
          <a:lstStyle/>
          <a:p>
            <a:endParaRPr lang="en-PH"/>
          </a:p>
        </p:txBody>
      </p:sp>
      <p:sp>
        <p:nvSpPr>
          <p:cNvPr id="6" name="Text 3"/>
          <p:cNvSpPr txBox="1"/>
          <p:nvPr/>
        </p:nvSpPr>
        <p:spPr>
          <a:xfrm>
            <a:off x="777240" y="1554480"/>
            <a:ext cx="5669280" cy="365760"/>
          </a:xfrm>
          <a:prstGeom prst="rect">
            <a:avLst/>
          </a:prstGeom>
          <a:noFill/>
          <a:ln/>
        </p:spPr>
        <p:txBody>
          <a:bodyPr wrap="square" lIns="0" tIns="0" rIns="0" bIns="0" rtlCol="0" anchor="ctr"/>
          <a:lstStyle/>
          <a:p>
            <a:pPr marL="0" indent="0">
              <a:buNone/>
            </a:pPr>
            <a:r>
              <a:rPr lang="en-US" sz="1600" b="1" dirty="0">
                <a:solidFill>
                  <a:schemeClr val="tx2"/>
                </a:solidFill>
              </a:rPr>
              <a:t>Selected Pearson correlations</a:t>
            </a:r>
            <a:endParaRPr lang="en-US" sz="1600" dirty="0"/>
          </a:p>
        </p:txBody>
      </p:sp>
      <p:graphicFrame>
        <p:nvGraphicFramePr>
          <p:cNvPr id="7" name="Chart 0"/>
          <p:cNvGraphicFramePr/>
          <p:nvPr/>
        </p:nvGraphicFramePr>
        <p:xfrm>
          <a:off x="640080" y="1920240"/>
          <a:ext cx="594360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8" name="InsightCard0"/>
          <p:cNvSpPr/>
          <p:nvPr/>
        </p:nvSpPr>
        <p:spPr>
          <a:xfrm>
            <a:off x="6949440" y="1463040"/>
            <a:ext cx="4663440" cy="1508760"/>
          </a:xfrm>
          <a:prstGeom prst="roundRect">
            <a:avLst>
              <a:gd name="adj" fmla="val 4848"/>
            </a:avLst>
          </a:prstGeom>
          <a:solidFill>
            <a:schemeClr val="bg2"/>
          </a:solidFill>
          <a:ln/>
        </p:spPr>
        <p:txBody>
          <a:bodyPr/>
          <a:lstStyle/>
          <a:p>
            <a:endParaRPr lang="en-PH"/>
          </a:p>
        </p:txBody>
      </p:sp>
      <p:sp>
        <p:nvSpPr>
          <p:cNvPr id="9" name="Text 5"/>
          <p:cNvSpPr txBox="1"/>
          <p:nvPr/>
        </p:nvSpPr>
        <p:spPr>
          <a:xfrm>
            <a:off x="7178040" y="1554480"/>
            <a:ext cx="4206240" cy="320040"/>
          </a:xfrm>
          <a:prstGeom prst="rect">
            <a:avLst/>
          </a:prstGeom>
          <a:noFill/>
          <a:ln/>
        </p:spPr>
        <p:txBody>
          <a:bodyPr wrap="square" lIns="0" tIns="0" rIns="0" bIns="0" rtlCol="0" anchor="ctr"/>
          <a:lstStyle/>
          <a:p>
            <a:pPr marL="0" indent="0">
              <a:buNone/>
            </a:pPr>
            <a:r>
              <a:rPr lang="en-US" sz="1600" b="1" dirty="0">
                <a:solidFill>
                  <a:schemeClr val="accent1"/>
                </a:solidFill>
              </a:rPr>
              <a:t>Clustering tendency</a:t>
            </a:r>
            <a:endParaRPr lang="en-US" sz="1600" dirty="0"/>
          </a:p>
        </p:txBody>
      </p:sp>
      <p:sp>
        <p:nvSpPr>
          <p:cNvPr id="10" name="Text 6"/>
          <p:cNvSpPr txBox="1"/>
          <p:nvPr/>
        </p:nvSpPr>
        <p:spPr>
          <a:xfrm>
            <a:off x="7178040" y="1920240"/>
            <a:ext cx="4206240" cy="1005840"/>
          </a:xfrm>
          <a:prstGeom prst="rect">
            <a:avLst/>
          </a:prstGeom>
          <a:noFill/>
          <a:ln/>
        </p:spPr>
        <p:txBody>
          <a:bodyPr wrap="square" lIns="0" tIns="0" rIns="0" bIns="0" rtlCol="0" anchor="t"/>
          <a:lstStyle/>
          <a:p>
            <a:pPr marL="0" indent="0">
              <a:buNone/>
            </a:pPr>
            <a:r>
              <a:rPr lang="en-US" sz="1400" dirty="0">
                <a:solidFill>
                  <a:schemeClr val="tx1"/>
                </a:solidFill>
              </a:rPr>
              <a:t>Income rises with wine, meat and store purchases. Spend forms two groups: wine + meat, and fruit + fish + sweets + gold.</a:t>
            </a:r>
            <a:endParaRPr lang="en-US" sz="1400" dirty="0"/>
          </a:p>
        </p:txBody>
      </p:sp>
      <p:sp>
        <p:nvSpPr>
          <p:cNvPr id="11" name="InsightCard1"/>
          <p:cNvSpPr/>
          <p:nvPr/>
        </p:nvSpPr>
        <p:spPr>
          <a:xfrm>
            <a:off x="6949440" y="3108960"/>
            <a:ext cx="4663440" cy="1508760"/>
          </a:xfrm>
          <a:prstGeom prst="roundRect">
            <a:avLst>
              <a:gd name="adj" fmla="val 4848"/>
            </a:avLst>
          </a:prstGeom>
          <a:solidFill>
            <a:schemeClr val="bg2"/>
          </a:solidFill>
          <a:ln/>
        </p:spPr>
        <p:txBody>
          <a:bodyPr/>
          <a:lstStyle/>
          <a:p>
            <a:endParaRPr lang="en-PH"/>
          </a:p>
        </p:txBody>
      </p:sp>
      <p:sp>
        <p:nvSpPr>
          <p:cNvPr id="12" name="Text 8"/>
          <p:cNvSpPr txBox="1"/>
          <p:nvPr/>
        </p:nvSpPr>
        <p:spPr>
          <a:xfrm>
            <a:off x="7178040" y="3200400"/>
            <a:ext cx="4206240" cy="320040"/>
          </a:xfrm>
          <a:prstGeom prst="rect">
            <a:avLst/>
          </a:prstGeom>
          <a:noFill/>
          <a:ln/>
        </p:spPr>
        <p:txBody>
          <a:bodyPr wrap="square" lIns="0" tIns="0" rIns="0" bIns="0" rtlCol="0" anchor="ctr"/>
          <a:lstStyle/>
          <a:p>
            <a:pPr marL="0" indent="0">
              <a:buNone/>
            </a:pPr>
            <a:r>
              <a:rPr lang="en-US" sz="1600" b="1" dirty="0">
                <a:solidFill>
                  <a:schemeClr val="accent1"/>
                </a:solidFill>
              </a:rPr>
              <a:t>Feature selection</a:t>
            </a:r>
            <a:endParaRPr lang="en-US" sz="1600" dirty="0"/>
          </a:p>
        </p:txBody>
      </p:sp>
      <p:sp>
        <p:nvSpPr>
          <p:cNvPr id="13" name="Text 9"/>
          <p:cNvSpPr txBox="1"/>
          <p:nvPr/>
        </p:nvSpPr>
        <p:spPr>
          <a:xfrm>
            <a:off x="7178040" y="3566160"/>
            <a:ext cx="4206240" cy="1005840"/>
          </a:xfrm>
          <a:prstGeom prst="rect">
            <a:avLst/>
          </a:prstGeom>
          <a:noFill/>
          <a:ln/>
        </p:spPr>
        <p:txBody>
          <a:bodyPr wrap="square" lIns="0" tIns="0" rIns="0" bIns="0" rtlCol="0" anchor="t"/>
          <a:lstStyle/>
          <a:p>
            <a:pPr marL="0" indent="0">
              <a:buNone/>
            </a:pPr>
            <a:r>
              <a:rPr lang="en-US" sz="1400" dirty="0">
                <a:solidFill>
                  <a:schemeClr val="tx1"/>
                </a:solidFill>
              </a:rPr>
              <a:t>Filter: </a:t>
            </a:r>
            <a:r>
              <a:rPr lang="en-US" sz="1400" dirty="0"/>
              <a:t>Correlation Heatmap &amp; </a:t>
            </a:r>
            <a:r>
              <a:rPr lang="en-US" sz="1400" dirty="0" err="1">
                <a:solidFill>
                  <a:schemeClr val="tx1"/>
                </a:solidFill>
              </a:rPr>
              <a:t>SelectKBest</a:t>
            </a:r>
            <a:r>
              <a:rPr lang="en-US" sz="1400" dirty="0">
                <a:solidFill>
                  <a:schemeClr val="tx1"/>
                </a:solidFill>
              </a:rPr>
              <a:t> (f_classif, k=5); embedded RF/Lasso noted. </a:t>
            </a:r>
            <a:endParaRPr lang="en-US" sz="1400" dirty="0"/>
          </a:p>
        </p:txBody>
      </p:sp>
      <p:sp>
        <p:nvSpPr>
          <p:cNvPr id="14" name="InsightCard2"/>
          <p:cNvSpPr/>
          <p:nvPr/>
        </p:nvSpPr>
        <p:spPr>
          <a:xfrm>
            <a:off x="6949440" y="4754880"/>
            <a:ext cx="4663440" cy="1508760"/>
          </a:xfrm>
          <a:prstGeom prst="roundRect">
            <a:avLst>
              <a:gd name="adj" fmla="val 4848"/>
            </a:avLst>
          </a:prstGeom>
          <a:solidFill>
            <a:schemeClr val="bg2"/>
          </a:solidFill>
          <a:ln/>
        </p:spPr>
        <p:txBody>
          <a:bodyPr/>
          <a:lstStyle/>
          <a:p>
            <a:endParaRPr lang="en-PH"/>
          </a:p>
        </p:txBody>
      </p:sp>
      <p:sp>
        <p:nvSpPr>
          <p:cNvPr id="15" name="Text 11"/>
          <p:cNvSpPr txBox="1"/>
          <p:nvPr/>
        </p:nvSpPr>
        <p:spPr>
          <a:xfrm>
            <a:off x="7178040" y="4846320"/>
            <a:ext cx="4206240" cy="320040"/>
          </a:xfrm>
          <a:prstGeom prst="rect">
            <a:avLst/>
          </a:prstGeom>
          <a:noFill/>
          <a:ln/>
        </p:spPr>
        <p:txBody>
          <a:bodyPr wrap="square" lIns="0" tIns="0" rIns="0" bIns="0" rtlCol="0" anchor="ctr"/>
          <a:lstStyle/>
          <a:p>
            <a:pPr marL="0" indent="0">
              <a:buNone/>
            </a:pPr>
            <a:r>
              <a:rPr lang="en-US" sz="1600" b="1" dirty="0">
                <a:solidFill>
                  <a:schemeClr val="accent1"/>
                </a:solidFill>
              </a:rPr>
              <a:t>Dimensionality reduction</a:t>
            </a:r>
            <a:endParaRPr lang="en-US" sz="1600" dirty="0"/>
          </a:p>
        </p:txBody>
      </p:sp>
      <p:sp>
        <p:nvSpPr>
          <p:cNvPr id="16" name="Text 12"/>
          <p:cNvSpPr txBox="1"/>
          <p:nvPr/>
        </p:nvSpPr>
        <p:spPr>
          <a:xfrm>
            <a:off x="7178040" y="5212080"/>
            <a:ext cx="4206240" cy="1005840"/>
          </a:xfrm>
          <a:prstGeom prst="rect">
            <a:avLst/>
          </a:prstGeom>
          <a:noFill/>
          <a:ln/>
        </p:spPr>
        <p:txBody>
          <a:bodyPr wrap="square" lIns="0" tIns="0" rIns="0" bIns="0" rtlCol="0" anchor="t"/>
          <a:lstStyle/>
          <a:p>
            <a:pPr marL="0" indent="0">
              <a:buNone/>
            </a:pPr>
            <a:r>
              <a:rPr lang="en-US" sz="1400" dirty="0">
                <a:solidFill>
                  <a:schemeClr val="tx1"/>
                </a:solidFill>
              </a:rPr>
              <a:t>PCA with 2 components projects the scaled features to visualise cluster structure.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4  |  MODEL IMPLEMENTATION</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K-Means and DBSCAN setup</a:t>
            </a:r>
            <a:endParaRPr lang="en-US" sz="3000" dirty="0"/>
          </a:p>
        </p:txBody>
      </p:sp>
      <p:sp>
        <p:nvSpPr>
          <p:cNvPr id="5" name="ElbowCard"/>
          <p:cNvSpPr/>
          <p:nvPr/>
        </p:nvSpPr>
        <p:spPr>
          <a:xfrm>
            <a:off x="548640" y="1463040"/>
            <a:ext cx="5852160" cy="4800600"/>
          </a:xfrm>
          <a:prstGeom prst="roundRect">
            <a:avLst>
              <a:gd name="adj" fmla="val 1524"/>
            </a:avLst>
          </a:prstGeom>
          <a:solidFill>
            <a:schemeClr val="bg2"/>
          </a:solidFill>
          <a:ln/>
        </p:spPr>
        <p:txBody>
          <a:bodyPr/>
          <a:lstStyle/>
          <a:p>
            <a:endParaRPr lang="en-PH"/>
          </a:p>
        </p:txBody>
      </p:sp>
      <p:sp>
        <p:nvSpPr>
          <p:cNvPr id="6" name="Text 3"/>
          <p:cNvSpPr txBox="1"/>
          <p:nvPr/>
        </p:nvSpPr>
        <p:spPr>
          <a:xfrm>
            <a:off x="777240" y="1554480"/>
            <a:ext cx="5394960" cy="365760"/>
          </a:xfrm>
          <a:prstGeom prst="rect">
            <a:avLst/>
          </a:prstGeom>
          <a:noFill/>
          <a:ln/>
        </p:spPr>
        <p:txBody>
          <a:bodyPr wrap="square" lIns="0" tIns="0" rIns="0" bIns="0" rtlCol="0" anchor="ctr"/>
          <a:lstStyle/>
          <a:p>
            <a:pPr marL="0" indent="0">
              <a:buNone/>
            </a:pPr>
            <a:r>
              <a:rPr lang="en-US" sz="1600" b="1" dirty="0">
                <a:solidFill>
                  <a:schemeClr val="tx2"/>
                </a:solidFill>
              </a:rPr>
              <a:t>K-Means elbow curve (inertia vs k)</a:t>
            </a:r>
            <a:endParaRPr lang="en-US" sz="1600" dirty="0"/>
          </a:p>
        </p:txBody>
      </p:sp>
      <p:graphicFrame>
        <p:nvGraphicFramePr>
          <p:cNvPr id="7" name="Chart 0"/>
          <p:cNvGraphicFramePr/>
          <p:nvPr/>
        </p:nvGraphicFramePr>
        <p:xfrm>
          <a:off x="640080" y="1920240"/>
          <a:ext cx="56692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txBox="1"/>
          <p:nvPr/>
        </p:nvSpPr>
        <p:spPr>
          <a:xfrm>
            <a:off x="777240" y="5577840"/>
            <a:ext cx="5394960" cy="548640"/>
          </a:xfrm>
          <a:prstGeom prst="rect">
            <a:avLst/>
          </a:prstGeom>
          <a:noFill/>
          <a:ln/>
        </p:spPr>
        <p:txBody>
          <a:bodyPr wrap="square" lIns="0" tIns="0" rIns="0" bIns="0" rtlCol="0" anchor="t"/>
          <a:lstStyle/>
          <a:p>
            <a:pPr marL="0" indent="0">
              <a:buNone/>
            </a:pPr>
            <a:r>
              <a:rPr lang="en-US" sz="1200" i="1" dirty="0">
                <a:solidFill>
                  <a:schemeClr val="accent6"/>
                </a:solidFill>
              </a:rPr>
              <a:t>Values read approximately from the notebook plot. No sharp elbow; k = 2 was selected.</a:t>
            </a:r>
            <a:endParaRPr lang="en-US" sz="1200" dirty="0"/>
          </a:p>
        </p:txBody>
      </p:sp>
      <p:sp>
        <p:nvSpPr>
          <p:cNvPr id="9" name="CfgCard0"/>
          <p:cNvSpPr/>
          <p:nvPr/>
        </p:nvSpPr>
        <p:spPr>
          <a:xfrm>
            <a:off x="6675120" y="1463040"/>
            <a:ext cx="4937760" cy="2331720"/>
          </a:xfrm>
          <a:prstGeom prst="roundRect">
            <a:avLst>
              <a:gd name="adj" fmla="val 3137"/>
            </a:avLst>
          </a:prstGeom>
          <a:solidFill>
            <a:schemeClr val="bg2"/>
          </a:solidFill>
          <a:ln/>
        </p:spPr>
        <p:txBody>
          <a:bodyPr/>
          <a:lstStyle/>
          <a:p>
            <a:endParaRPr lang="en-PH"/>
          </a:p>
        </p:txBody>
      </p:sp>
      <p:sp>
        <p:nvSpPr>
          <p:cNvPr id="10" name="Badge"/>
          <p:cNvSpPr/>
          <p:nvPr/>
        </p:nvSpPr>
        <p:spPr>
          <a:xfrm>
            <a:off x="6903720" y="1645920"/>
            <a:ext cx="411480" cy="411480"/>
          </a:xfrm>
          <a:prstGeom prst="ellipse">
            <a:avLst/>
          </a:prstGeom>
          <a:solidFill>
            <a:schemeClr val="accent1"/>
          </a:solidFill>
          <a:ln/>
        </p:spPr>
        <p:txBody>
          <a:bodyPr/>
          <a:lstStyle/>
          <a:p>
            <a:endParaRPr lang="en-PH"/>
          </a:p>
        </p:txBody>
      </p:sp>
      <p:sp>
        <p:nvSpPr>
          <p:cNvPr id="11" name="BadgeText"/>
          <p:cNvSpPr txBox="1"/>
          <p:nvPr/>
        </p:nvSpPr>
        <p:spPr>
          <a:xfrm>
            <a:off x="6903720" y="164592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2" name="Text 8"/>
          <p:cNvSpPr txBox="1"/>
          <p:nvPr/>
        </p:nvSpPr>
        <p:spPr>
          <a:xfrm>
            <a:off x="7498080" y="1618488"/>
            <a:ext cx="3840480" cy="457200"/>
          </a:xfrm>
          <a:prstGeom prst="rect">
            <a:avLst/>
          </a:prstGeom>
          <a:noFill/>
          <a:ln/>
        </p:spPr>
        <p:txBody>
          <a:bodyPr wrap="square" lIns="0" tIns="0" rIns="0" bIns="0" rtlCol="0" anchor="ctr"/>
          <a:lstStyle/>
          <a:p>
            <a:pPr marL="0" indent="0">
              <a:buNone/>
            </a:pPr>
            <a:r>
              <a:rPr lang="en-US" sz="1800" b="1" dirty="0">
                <a:solidFill>
                  <a:schemeClr val="tx2"/>
                </a:solidFill>
              </a:rPr>
              <a:t>K-Means</a:t>
            </a:r>
            <a:endParaRPr lang="en-US" sz="1800" dirty="0"/>
          </a:p>
        </p:txBody>
      </p:sp>
      <p:sp>
        <p:nvSpPr>
          <p:cNvPr id="13" name="Text 9"/>
          <p:cNvSpPr txBox="1"/>
          <p:nvPr/>
        </p:nvSpPr>
        <p:spPr>
          <a:xfrm>
            <a:off x="6903720" y="2194560"/>
            <a:ext cx="4526280" cy="15544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Features: Income, wines, gold, deals, campaigns</a:t>
            </a:r>
            <a:endParaRPr lang="en-US" sz="1400" dirty="0"/>
          </a:p>
          <a:p>
            <a:pPr marL="177800" indent="-177800">
              <a:spcAft>
                <a:spcPts val="400"/>
              </a:spcAft>
              <a:buSzPct val="100000"/>
              <a:buChar char="•"/>
            </a:pPr>
            <a:r>
              <a:rPr lang="en-US" sz="1400" dirty="0">
                <a:solidFill>
                  <a:schemeClr val="tx1"/>
                </a:solidFill>
              </a:rPr>
              <a:t>StandardScaler; elbow sweep k = 2 to 29</a:t>
            </a:r>
            <a:endParaRPr lang="en-US" sz="1400" dirty="0"/>
          </a:p>
          <a:p>
            <a:pPr marL="177800" indent="-177800">
              <a:spcAft>
                <a:spcPts val="400"/>
              </a:spcAft>
              <a:buSzPct val="100000"/>
              <a:buChar char="•"/>
            </a:pPr>
            <a:r>
              <a:rPr lang="en-US" sz="1400" dirty="0">
                <a:solidFill>
                  <a:schemeClr val="tx1"/>
                </a:solidFill>
              </a:rPr>
              <a:t>Selected k = 2, random_state = 42</a:t>
            </a:r>
            <a:endParaRPr lang="en-US" sz="1400" dirty="0"/>
          </a:p>
          <a:p>
            <a:pPr marL="177800" indent="-177800">
              <a:spcAft>
                <a:spcPts val="400"/>
              </a:spcAft>
              <a:buSzPct val="100000"/>
              <a:buChar char="•"/>
            </a:pPr>
            <a:r>
              <a:rPr lang="en-US" sz="1400" dirty="0">
                <a:solidFill>
                  <a:schemeClr val="tx1"/>
                </a:solidFill>
              </a:rPr>
              <a:t>Silhouette = 0.44</a:t>
            </a:r>
            <a:endParaRPr lang="en-US" sz="1400" dirty="0"/>
          </a:p>
        </p:txBody>
      </p:sp>
      <p:sp>
        <p:nvSpPr>
          <p:cNvPr id="14" name="CfgCard1"/>
          <p:cNvSpPr/>
          <p:nvPr/>
        </p:nvSpPr>
        <p:spPr>
          <a:xfrm>
            <a:off x="6675120" y="3931920"/>
            <a:ext cx="4937760" cy="2331720"/>
          </a:xfrm>
          <a:prstGeom prst="roundRect">
            <a:avLst>
              <a:gd name="adj" fmla="val 3137"/>
            </a:avLst>
          </a:prstGeom>
          <a:solidFill>
            <a:schemeClr val="bg2"/>
          </a:solidFill>
          <a:ln/>
        </p:spPr>
        <p:txBody>
          <a:bodyPr/>
          <a:lstStyle/>
          <a:p>
            <a:endParaRPr lang="en-PH"/>
          </a:p>
        </p:txBody>
      </p:sp>
      <p:sp>
        <p:nvSpPr>
          <p:cNvPr id="15" name="Badge"/>
          <p:cNvSpPr/>
          <p:nvPr/>
        </p:nvSpPr>
        <p:spPr>
          <a:xfrm>
            <a:off x="6903720" y="4114800"/>
            <a:ext cx="411480" cy="411480"/>
          </a:xfrm>
          <a:prstGeom prst="ellipse">
            <a:avLst/>
          </a:prstGeom>
          <a:solidFill>
            <a:schemeClr val="accent1"/>
          </a:solidFill>
          <a:ln/>
        </p:spPr>
        <p:txBody>
          <a:bodyPr/>
          <a:lstStyle/>
          <a:p>
            <a:endParaRPr lang="en-PH"/>
          </a:p>
        </p:txBody>
      </p:sp>
      <p:sp>
        <p:nvSpPr>
          <p:cNvPr id="16" name="BadgeText"/>
          <p:cNvSpPr txBox="1"/>
          <p:nvPr/>
        </p:nvSpPr>
        <p:spPr>
          <a:xfrm>
            <a:off x="6903720" y="41148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7" name="Text 13"/>
          <p:cNvSpPr txBox="1"/>
          <p:nvPr/>
        </p:nvSpPr>
        <p:spPr>
          <a:xfrm>
            <a:off x="7498080" y="4087368"/>
            <a:ext cx="3840480" cy="457200"/>
          </a:xfrm>
          <a:prstGeom prst="rect">
            <a:avLst/>
          </a:prstGeom>
          <a:noFill/>
          <a:ln/>
        </p:spPr>
        <p:txBody>
          <a:bodyPr wrap="square" lIns="0" tIns="0" rIns="0" bIns="0" rtlCol="0" anchor="ctr"/>
          <a:lstStyle/>
          <a:p>
            <a:pPr marL="0" indent="0">
              <a:buNone/>
            </a:pPr>
            <a:r>
              <a:rPr lang="en-US" sz="1800" b="1" dirty="0">
                <a:solidFill>
                  <a:schemeClr val="tx2"/>
                </a:solidFill>
              </a:rPr>
              <a:t>DBSCAN</a:t>
            </a:r>
            <a:endParaRPr lang="en-US" sz="1800" dirty="0"/>
          </a:p>
        </p:txBody>
      </p:sp>
      <p:sp>
        <p:nvSpPr>
          <p:cNvPr id="18" name="Text 14"/>
          <p:cNvSpPr txBox="1"/>
          <p:nvPr/>
        </p:nvSpPr>
        <p:spPr>
          <a:xfrm>
            <a:off x="6903720" y="4663440"/>
            <a:ext cx="4526280" cy="15544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Two-feature pairs, StandardScaler</a:t>
            </a:r>
            <a:endParaRPr lang="en-US" sz="1400" dirty="0"/>
          </a:p>
          <a:p>
            <a:pPr marL="177800" indent="-177800">
              <a:spcAft>
                <a:spcPts val="400"/>
              </a:spcAft>
              <a:buSzPct val="100000"/>
              <a:buChar char="•"/>
            </a:pPr>
            <a:r>
              <a:rPr lang="en-US" sz="1400" dirty="0">
                <a:solidFill>
                  <a:schemeClr val="tx1"/>
                </a:solidFill>
              </a:rPr>
              <a:t>eps = 0.3, min_samples = 3 (4th-NN k-distance graph)</a:t>
            </a:r>
            <a:endParaRPr lang="en-US" sz="1400" dirty="0"/>
          </a:p>
          <a:p>
            <a:pPr marL="177800" indent="-177800">
              <a:spcAft>
                <a:spcPts val="400"/>
              </a:spcAft>
              <a:buSzPct val="100000"/>
              <a:buChar char="•"/>
            </a:pPr>
            <a:r>
              <a:rPr lang="en-US" sz="1400" dirty="0">
                <a:solidFill>
                  <a:schemeClr val="tx1"/>
                </a:solidFill>
              </a:rPr>
              <a:t>Silhouette computed excluding noise</a:t>
            </a:r>
            <a:endParaRPr lang="en-US" sz="1400" dirty="0"/>
          </a:p>
          <a:p>
            <a:pPr marL="177800" indent="-177800">
              <a:spcAft>
                <a:spcPts val="400"/>
              </a:spcAft>
              <a:buSzPct val="100000"/>
              <a:buChar char="•"/>
            </a:pPr>
            <a:r>
              <a:rPr lang="en-US" sz="1400" dirty="0">
                <a:solidFill>
                  <a:schemeClr val="tx1"/>
                </a:solidFill>
              </a:rPr>
              <a:t>PCA 2-D plot for visual check</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STEP 4  |  MODEL IMPLEMENTATION</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Results: silhouette comparison across models</a:t>
            </a:r>
            <a:endParaRPr lang="en-US" sz="3000" dirty="0"/>
          </a:p>
        </p:txBody>
      </p:sp>
      <p:sp>
        <p:nvSpPr>
          <p:cNvPr id="5" name="SilCard"/>
          <p:cNvSpPr/>
          <p:nvPr/>
        </p:nvSpPr>
        <p:spPr>
          <a:xfrm>
            <a:off x="548640" y="1463040"/>
            <a:ext cx="4937760" cy="3017520"/>
          </a:xfrm>
          <a:prstGeom prst="roundRect">
            <a:avLst>
              <a:gd name="adj" fmla="val 2424"/>
            </a:avLst>
          </a:prstGeom>
          <a:solidFill>
            <a:schemeClr val="bg2"/>
          </a:solidFill>
          <a:ln/>
        </p:spPr>
        <p:txBody>
          <a:bodyPr/>
          <a:lstStyle/>
          <a:p>
            <a:endParaRPr lang="en-PH"/>
          </a:p>
        </p:txBody>
      </p:sp>
      <p:sp>
        <p:nvSpPr>
          <p:cNvPr id="6" name="Text 3"/>
          <p:cNvSpPr txBox="1"/>
          <p:nvPr/>
        </p:nvSpPr>
        <p:spPr>
          <a:xfrm>
            <a:off x="777240" y="1554480"/>
            <a:ext cx="4480560" cy="365760"/>
          </a:xfrm>
          <a:prstGeom prst="rect">
            <a:avLst/>
          </a:prstGeom>
          <a:noFill/>
          <a:ln/>
        </p:spPr>
        <p:txBody>
          <a:bodyPr wrap="square" lIns="0" tIns="0" rIns="0" bIns="0" rtlCol="0" anchor="ctr"/>
          <a:lstStyle/>
          <a:p>
            <a:pPr marL="0" indent="0">
              <a:buNone/>
            </a:pPr>
            <a:r>
              <a:rPr lang="en-US" sz="1600" b="1" dirty="0">
                <a:solidFill>
                  <a:schemeClr val="tx2"/>
                </a:solidFill>
              </a:rPr>
              <a:t>Silhouette score by model</a:t>
            </a:r>
            <a:endParaRPr lang="en-US" sz="1600" dirty="0"/>
          </a:p>
        </p:txBody>
      </p:sp>
      <p:graphicFrame>
        <p:nvGraphicFramePr>
          <p:cNvPr id="7" name="Chart 0"/>
          <p:cNvGraphicFramePr/>
          <p:nvPr/>
        </p:nvGraphicFramePr>
        <p:xfrm>
          <a:off x="640080" y="1920240"/>
          <a:ext cx="475488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ResultsTable"/>
          <p:cNvGraphicFramePr>
            <a:graphicFrameLocks noGrp="1"/>
          </p:cNvGraphicFramePr>
          <p:nvPr>
            <p:extLst>
              <p:ext uri="{D42A27DB-BD31-4B8C-83A1-F6EECF244321}">
                <p14:modId xmlns:p14="http://schemas.microsoft.com/office/powerpoint/2010/main" val="1579011935"/>
              </p:ext>
            </p:extLst>
          </p:nvPr>
        </p:nvGraphicFramePr>
        <p:xfrm>
          <a:off x="5760720" y="1463040"/>
          <a:ext cx="5852160" cy="2755392"/>
        </p:xfrm>
        <a:graphic>
          <a:graphicData uri="http://schemas.openxmlformats.org/drawingml/2006/table">
            <a:tbl>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57200">
                <a:tc>
                  <a:txBody>
                    <a:bodyPr/>
                    <a:lstStyle/>
                    <a:p>
                      <a:pPr marL="0" indent="0">
                        <a:buNone/>
                      </a:pPr>
                      <a:r>
                        <a:rPr lang="en-US" sz="1200" b="1" dirty="0">
                          <a:solidFill>
                            <a:schemeClr val="bg1"/>
                          </a:solidFill>
                        </a:rPr>
                        <a:t>Model</a:t>
                      </a:r>
                      <a:endParaRPr lang="en-US" sz="1200" dirty="0"/>
                    </a:p>
                  </a:txBody>
                  <a:tcPr marL="73152" marR="73152" marT="36576" marB="36576">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Features</a:t>
                      </a:r>
                      <a:endParaRPr lang="en-US" sz="1200" dirty="0"/>
                    </a:p>
                  </a:txBody>
                  <a:tcPr marL="73152" marR="73152" marT="36576" marB="36576">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Clusters</a:t>
                      </a:r>
                      <a:endParaRPr lang="en-US" sz="1200" dirty="0"/>
                    </a:p>
                  </a:txBody>
                  <a:tcPr marL="73152" marR="73152" marT="36576" marB="36576">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Noise</a:t>
                      </a:r>
                      <a:endParaRPr lang="en-US" sz="1200" dirty="0"/>
                    </a:p>
                  </a:txBody>
                  <a:tcPr marL="73152" marR="73152" marT="36576" marB="36576">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Silhouette</a:t>
                      </a:r>
                      <a:endParaRPr lang="en-US" sz="1200" dirty="0"/>
                    </a:p>
                  </a:txBody>
                  <a:tcPr marL="73152" marR="73152" marT="36576" marB="36576">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chemeClr val="tx1"/>
                          </a:solidFill>
                        </a:rPr>
                        <a:t>K-Means</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Income, wines, gold, deals, campaigns</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n/a</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0.44</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chemeClr val="tx1"/>
                          </a:solidFill>
                        </a:rPr>
                        <a:t>DBSCAN</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Income x AcceptedCmp1</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2</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2</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0.791</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chemeClr val="tx1"/>
                          </a:solidFill>
                        </a:rPr>
                        <a:t>DBSCAN</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Year_Birth x AcceptedCmp1</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0.776</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chemeClr val="tx1"/>
                          </a:solidFill>
                        </a:rPr>
                        <a:t>DBSCAN</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Income x NumStorePurchases</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15</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13</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0.056</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chemeClr val="tx1"/>
                          </a:solidFill>
                        </a:rPr>
                        <a:t>DBSCAN</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Income x MntWines</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6</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n/a</a:t>
                      </a:r>
                      <a:endParaRPr lang="en-US" sz="1300" dirty="0"/>
                    </a:p>
                  </a:txBody>
                  <a:tcPr marL="73152" marR="73152" marT="36576" marB="36576" anchor="ctr">
                    <a:lnL w="6350" cap="flat" cmpd="sng" algn="ctr">
                      <a:solidFill>
                        <a:srgbClr val="D5DEDF"/>
                      </a:solidFill>
                      <a:prstDash val="solid"/>
                      <a:round/>
                      <a:headEnd type="none" w="med" len="med"/>
                      <a:tailEnd type="none" w="med" len="med"/>
                    </a:lnL>
                    <a:lnR w="6350" cap="flat" cmpd="sng" algn="ctr">
                      <a:solidFill>
                        <a:srgbClr val="D5DEDF"/>
                      </a:solidFill>
                      <a:prstDash val="solid"/>
                      <a:round/>
                      <a:headEnd type="none" w="med" len="med"/>
                      <a:tailEnd type="none" w="med" len="med"/>
                    </a:lnR>
                    <a:lnT w="6350" cap="flat" cmpd="sng" algn="ctr">
                      <a:solidFill>
                        <a:srgbClr val="D5DEDF"/>
                      </a:solidFill>
                      <a:prstDash val="solid"/>
                      <a:round/>
                      <a:headEnd type="none" w="med" len="med"/>
                      <a:tailEnd type="none" w="med" len="med"/>
                    </a:lnT>
                    <a:lnB w="6350" cap="flat" cmpd="sng" algn="ctr">
                      <a:solidFill>
                        <a:srgbClr val="D5DED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9" name="TakeCard0"/>
          <p:cNvSpPr/>
          <p:nvPr/>
        </p:nvSpPr>
        <p:spPr>
          <a:xfrm>
            <a:off x="548640" y="4663440"/>
            <a:ext cx="3566160" cy="1600200"/>
          </a:xfrm>
          <a:prstGeom prst="roundRect">
            <a:avLst>
              <a:gd name="adj" fmla="val 4571"/>
            </a:avLst>
          </a:prstGeom>
          <a:solidFill>
            <a:schemeClr val="tx2"/>
          </a:solidFill>
          <a:ln/>
        </p:spPr>
        <p:txBody>
          <a:bodyPr/>
          <a:lstStyle/>
          <a:p>
            <a:endParaRPr lang="en-PH"/>
          </a:p>
        </p:txBody>
      </p:sp>
      <p:sp>
        <p:nvSpPr>
          <p:cNvPr id="4" name="Text 5"/>
          <p:cNvSpPr txBox="1"/>
          <p:nvPr/>
        </p:nvSpPr>
        <p:spPr>
          <a:xfrm>
            <a:off x="777240" y="4754880"/>
            <a:ext cx="3108960" cy="365760"/>
          </a:xfrm>
          <a:prstGeom prst="rect">
            <a:avLst/>
          </a:prstGeom>
          <a:noFill/>
          <a:ln/>
        </p:spPr>
        <p:txBody>
          <a:bodyPr wrap="square" lIns="0" tIns="0" rIns="0" bIns="0" rtlCol="0" anchor="ctr"/>
          <a:lstStyle/>
          <a:p>
            <a:pPr marL="0" indent="0">
              <a:buNone/>
            </a:pPr>
            <a:r>
              <a:rPr lang="en-US" sz="1600" b="1" dirty="0">
                <a:solidFill>
                  <a:schemeClr val="accent2"/>
                </a:solidFill>
              </a:rPr>
              <a:t>High scores are structural</a:t>
            </a:r>
            <a:endParaRPr lang="en-US" sz="1600" dirty="0"/>
          </a:p>
        </p:txBody>
      </p:sp>
      <p:sp>
        <p:nvSpPr>
          <p:cNvPr id="11" name="Text 6"/>
          <p:cNvSpPr txBox="1"/>
          <p:nvPr/>
        </p:nvSpPr>
        <p:spPr>
          <a:xfrm>
            <a:off x="777240" y="5138928"/>
            <a:ext cx="3108960" cy="1051560"/>
          </a:xfrm>
          <a:prstGeom prst="rect">
            <a:avLst/>
          </a:prstGeom>
          <a:noFill/>
          <a:ln/>
        </p:spPr>
        <p:txBody>
          <a:bodyPr wrap="square" lIns="0" tIns="0" rIns="0" bIns="0" rtlCol="0" anchor="t"/>
          <a:lstStyle/>
          <a:p>
            <a:pPr marL="0" indent="0">
              <a:buNone/>
            </a:pPr>
            <a:r>
              <a:rPr lang="en-US" sz="1400" dirty="0">
                <a:solidFill>
                  <a:schemeClr val="bg1"/>
                </a:solidFill>
              </a:rPr>
              <a:t>0.78-0.79 comes from the binary AcceptedCmp1 axis: accepters (mean income 78.3k) vs non-accepters (48.4k).</a:t>
            </a:r>
            <a:endParaRPr lang="en-US" sz="1400" dirty="0"/>
          </a:p>
        </p:txBody>
      </p:sp>
      <p:sp>
        <p:nvSpPr>
          <p:cNvPr id="12" name="TakeCard1"/>
          <p:cNvSpPr/>
          <p:nvPr/>
        </p:nvSpPr>
        <p:spPr>
          <a:xfrm>
            <a:off x="4297680" y="4663440"/>
            <a:ext cx="3566160" cy="1600200"/>
          </a:xfrm>
          <a:prstGeom prst="roundRect">
            <a:avLst>
              <a:gd name="adj" fmla="val 4571"/>
            </a:avLst>
          </a:prstGeom>
          <a:solidFill>
            <a:schemeClr val="tx2"/>
          </a:solidFill>
          <a:ln/>
        </p:spPr>
        <p:txBody>
          <a:bodyPr/>
          <a:lstStyle/>
          <a:p>
            <a:endParaRPr lang="en-PH"/>
          </a:p>
        </p:txBody>
      </p:sp>
      <p:sp>
        <p:nvSpPr>
          <p:cNvPr id="13" name="Text 8"/>
          <p:cNvSpPr txBox="1"/>
          <p:nvPr/>
        </p:nvSpPr>
        <p:spPr>
          <a:xfrm>
            <a:off x="4526280" y="4754880"/>
            <a:ext cx="3108960" cy="365760"/>
          </a:xfrm>
          <a:prstGeom prst="rect">
            <a:avLst/>
          </a:prstGeom>
          <a:noFill/>
          <a:ln/>
        </p:spPr>
        <p:txBody>
          <a:bodyPr wrap="square" lIns="0" tIns="0" rIns="0" bIns="0" rtlCol="0" anchor="ctr"/>
          <a:lstStyle/>
          <a:p>
            <a:pPr marL="0" indent="0">
              <a:buNone/>
            </a:pPr>
            <a:r>
              <a:rPr lang="en-US" sz="1600" b="1" dirty="0">
                <a:solidFill>
                  <a:schemeClr val="accent2"/>
                </a:solidFill>
              </a:rPr>
              <a:t>Counts fragment</a:t>
            </a:r>
            <a:endParaRPr lang="en-US" sz="1600" dirty="0"/>
          </a:p>
        </p:txBody>
      </p:sp>
      <p:sp>
        <p:nvSpPr>
          <p:cNvPr id="14" name="Text 9"/>
          <p:cNvSpPr txBox="1"/>
          <p:nvPr/>
        </p:nvSpPr>
        <p:spPr>
          <a:xfrm>
            <a:off x="4526280" y="5138928"/>
            <a:ext cx="3108960" cy="1051560"/>
          </a:xfrm>
          <a:prstGeom prst="rect">
            <a:avLst/>
          </a:prstGeom>
          <a:noFill/>
          <a:ln/>
        </p:spPr>
        <p:txBody>
          <a:bodyPr wrap="square" lIns="0" tIns="0" rIns="0" bIns="0" rtlCol="0" anchor="t"/>
          <a:lstStyle/>
          <a:p>
            <a:pPr marL="0" indent="0">
              <a:buNone/>
            </a:pPr>
            <a:r>
              <a:rPr lang="en-US" sz="1400" dirty="0">
                <a:solidFill>
                  <a:schemeClr val="bg1"/>
                </a:solidFill>
              </a:rPr>
              <a:t>NumStorePurchases is discrete, so DBSCAN cut Income x Store into 15 bands (0.056).</a:t>
            </a:r>
            <a:endParaRPr lang="en-US" sz="1400" dirty="0"/>
          </a:p>
        </p:txBody>
      </p:sp>
      <p:sp>
        <p:nvSpPr>
          <p:cNvPr id="15" name="TakeCard2"/>
          <p:cNvSpPr/>
          <p:nvPr/>
        </p:nvSpPr>
        <p:spPr>
          <a:xfrm>
            <a:off x="8046720" y="4663440"/>
            <a:ext cx="3566160" cy="1600200"/>
          </a:xfrm>
          <a:prstGeom prst="roundRect">
            <a:avLst>
              <a:gd name="adj" fmla="val 4571"/>
            </a:avLst>
          </a:prstGeom>
          <a:solidFill>
            <a:schemeClr val="tx2"/>
          </a:solidFill>
          <a:ln/>
        </p:spPr>
        <p:txBody>
          <a:bodyPr/>
          <a:lstStyle/>
          <a:p>
            <a:endParaRPr lang="en-PH"/>
          </a:p>
        </p:txBody>
      </p:sp>
      <p:sp>
        <p:nvSpPr>
          <p:cNvPr id="16" name="Text 11"/>
          <p:cNvSpPr txBox="1"/>
          <p:nvPr/>
        </p:nvSpPr>
        <p:spPr>
          <a:xfrm>
            <a:off x="8275320" y="4754880"/>
            <a:ext cx="3108960" cy="365760"/>
          </a:xfrm>
          <a:prstGeom prst="rect">
            <a:avLst/>
          </a:prstGeom>
          <a:noFill/>
          <a:ln/>
        </p:spPr>
        <p:txBody>
          <a:bodyPr wrap="square" lIns="0" tIns="0" rIns="0" bIns="0" rtlCol="0" anchor="ctr"/>
          <a:lstStyle/>
          <a:p>
            <a:pPr marL="0" indent="0">
              <a:buNone/>
            </a:pPr>
            <a:r>
              <a:rPr lang="en-US" sz="1600" b="1" dirty="0">
                <a:solidFill>
                  <a:schemeClr val="accent2"/>
                </a:solidFill>
              </a:rPr>
              <a:t>Model choice</a:t>
            </a:r>
            <a:endParaRPr lang="en-US" sz="1600" dirty="0"/>
          </a:p>
        </p:txBody>
      </p:sp>
      <p:sp>
        <p:nvSpPr>
          <p:cNvPr id="17" name="Text 12"/>
          <p:cNvSpPr txBox="1"/>
          <p:nvPr/>
        </p:nvSpPr>
        <p:spPr>
          <a:xfrm>
            <a:off x="8275320" y="5138928"/>
            <a:ext cx="3108960" cy="1051560"/>
          </a:xfrm>
          <a:prstGeom prst="rect">
            <a:avLst/>
          </a:prstGeom>
          <a:noFill/>
          <a:ln/>
        </p:spPr>
        <p:txBody>
          <a:bodyPr wrap="square" lIns="0" tIns="0" rIns="0" bIns="0" rtlCol="0" anchor="t"/>
          <a:lstStyle/>
          <a:p>
            <a:pPr marL="0" indent="0">
              <a:buNone/>
            </a:pPr>
            <a:r>
              <a:rPr lang="en-US" sz="1400" dirty="0">
                <a:solidFill>
                  <a:schemeClr val="bg1"/>
                </a:solidFill>
              </a:rPr>
              <a:t>K-Means k=2 for multi-feature segments; DBSCAN for outliers (noise mean Income ~103k).</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STEP 5  |  CRITICAL THINKING</a:t>
            </a:r>
            <a:endParaRPr lang="en-US" sz="1200" dirty="0"/>
          </a:p>
        </p:txBody>
      </p:sp>
      <p:sp>
        <p:nvSpPr>
          <p:cNvPr id="3" name="Text 0"/>
          <p:cNvSpPr>
            <a:spLocks noGrp="1"/>
          </p:cNvSpPr>
          <p:nvPr>
            <p:ph type="title" idx="100" hasCustomPrompt="1"/>
          </p:nvPr>
        </p:nvSpPr>
        <p:spPr>
          <a:xfrm>
            <a:off x="548640" y="548640"/>
            <a:ext cx="11064240" cy="731520"/>
          </a:xfrm>
          <a:prstGeom prst="rect">
            <a:avLst/>
          </a:prstGeom>
          <a:noFill/>
          <a:ln/>
        </p:spPr>
        <p:txBody>
          <a:bodyPr wrap="square" lIns="0" tIns="0" rIns="0" bIns="0" rtlCol="0" anchor="ctr"/>
          <a:lstStyle/>
          <a:p>
            <a:pPr marL="0" indent="0" algn="l">
              <a:buNone/>
            </a:pPr>
            <a:r>
              <a:rPr lang="en-US" sz="3000" b="1" dirty="0">
                <a:solidFill>
                  <a:schemeClr val="bg1"/>
                </a:solidFill>
              </a:rPr>
              <a:t>Ethical AI and bias auditing</a:t>
            </a:r>
            <a:endParaRPr lang="en-US" sz="3000" dirty="0"/>
          </a:p>
        </p:txBody>
      </p:sp>
      <p:sp>
        <p:nvSpPr>
          <p:cNvPr id="5" name="EthicsCard0"/>
          <p:cNvSpPr/>
          <p:nvPr/>
        </p:nvSpPr>
        <p:spPr>
          <a:xfrm>
            <a:off x="548640" y="1463040"/>
            <a:ext cx="3566160" cy="4800600"/>
          </a:xfrm>
          <a:prstGeom prst="roundRect">
            <a:avLst>
              <a:gd name="adj" fmla="val 2051"/>
            </a:avLst>
          </a:prstGeom>
          <a:solidFill>
            <a:schemeClr val="accent3"/>
          </a:solidFill>
          <a:ln/>
        </p:spPr>
        <p:txBody>
          <a:bodyPr/>
          <a:lstStyle/>
          <a:p>
            <a:endParaRPr lang="en-PH"/>
          </a:p>
        </p:txBody>
      </p:sp>
      <p:sp>
        <p:nvSpPr>
          <p:cNvPr id="6" name="Badge"/>
          <p:cNvSpPr/>
          <p:nvPr/>
        </p:nvSpPr>
        <p:spPr>
          <a:xfrm>
            <a:off x="777240" y="1645920"/>
            <a:ext cx="457200" cy="457200"/>
          </a:xfrm>
          <a:prstGeom prst="ellipse">
            <a:avLst/>
          </a:prstGeom>
          <a:solidFill>
            <a:schemeClr val="accent2"/>
          </a:solidFill>
          <a:ln/>
        </p:spPr>
        <p:txBody>
          <a:bodyPr/>
          <a:lstStyle/>
          <a:p>
            <a:endParaRPr lang="en-PH"/>
          </a:p>
        </p:txBody>
      </p:sp>
      <p:sp>
        <p:nvSpPr>
          <p:cNvPr id="7" name="BadgeText"/>
          <p:cNvSpPr txBox="1"/>
          <p:nvPr/>
        </p:nvSpPr>
        <p:spPr>
          <a:xfrm>
            <a:off x="777240" y="1645920"/>
            <a:ext cx="457200" cy="457200"/>
          </a:xfrm>
          <a:prstGeom prst="rect">
            <a:avLst/>
          </a:prstGeom>
          <a:no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8" name="Text 5"/>
          <p:cNvSpPr txBox="1"/>
          <p:nvPr/>
        </p:nvSpPr>
        <p:spPr>
          <a:xfrm>
            <a:off x="1371600" y="1645920"/>
            <a:ext cx="2606040" cy="457200"/>
          </a:xfrm>
          <a:prstGeom prst="rect">
            <a:avLst/>
          </a:prstGeom>
          <a:noFill/>
          <a:ln/>
        </p:spPr>
        <p:txBody>
          <a:bodyPr wrap="square" lIns="0" tIns="0" rIns="0" bIns="0" rtlCol="0" anchor="ctr"/>
          <a:lstStyle/>
          <a:p>
            <a:pPr marL="0" indent="0">
              <a:buNone/>
            </a:pPr>
            <a:r>
              <a:rPr lang="en-US" sz="1700" b="1" dirty="0">
                <a:solidFill>
                  <a:schemeClr val="bg1"/>
                </a:solidFill>
              </a:rPr>
              <a:t>Limitations found</a:t>
            </a:r>
            <a:endParaRPr lang="en-US" sz="1700" dirty="0"/>
          </a:p>
        </p:txBody>
      </p:sp>
      <p:sp>
        <p:nvSpPr>
          <p:cNvPr id="9" name="Text 6"/>
          <p:cNvSpPr txBox="1"/>
          <p:nvPr/>
        </p:nvSpPr>
        <p:spPr>
          <a:xfrm>
            <a:off x="777240" y="2377440"/>
            <a:ext cx="3154680" cy="374904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chemeClr val="bg1"/>
                </a:solidFill>
              </a:rPr>
              <a:t>Silhouette 0.78-0.79 reflects a binary axis, not natural groups</a:t>
            </a:r>
            <a:endParaRPr lang="en-US" sz="1600" dirty="0"/>
          </a:p>
          <a:p>
            <a:pPr marL="177800" indent="-177800">
              <a:spcAft>
                <a:spcPts val="1000"/>
              </a:spcAft>
              <a:buSzPct val="100000"/>
              <a:buChar char="•"/>
            </a:pPr>
            <a:r>
              <a:rPr lang="en-US" sz="1600" dirty="0">
                <a:solidFill>
                  <a:schemeClr val="bg1"/>
                </a:solidFill>
              </a:rPr>
              <a:t>Imbalance: Response 14.9% positive; AcceptedCmp2 1.3%</a:t>
            </a:r>
            <a:endParaRPr lang="en-US" sz="1600" dirty="0"/>
          </a:p>
          <a:p>
            <a:pPr marL="177800" indent="-177800">
              <a:spcAft>
                <a:spcPts val="1000"/>
              </a:spcAft>
              <a:buSzPct val="100000"/>
              <a:buChar char="•"/>
            </a:pPr>
            <a:r>
              <a:rPr lang="en-US" sz="1600" dirty="0">
                <a:solidFill>
                  <a:schemeClr val="bg1"/>
                </a:solidFill>
              </a:rPr>
              <a:t>Leakage risk: campaign-response fields as clustering inputs</a:t>
            </a:r>
            <a:endParaRPr lang="en-US" sz="1600" dirty="0"/>
          </a:p>
        </p:txBody>
      </p:sp>
      <p:sp>
        <p:nvSpPr>
          <p:cNvPr id="10" name="EthicsCard1"/>
          <p:cNvSpPr/>
          <p:nvPr/>
        </p:nvSpPr>
        <p:spPr>
          <a:xfrm>
            <a:off x="4297680" y="1463040"/>
            <a:ext cx="3566160" cy="4800600"/>
          </a:xfrm>
          <a:prstGeom prst="roundRect">
            <a:avLst>
              <a:gd name="adj" fmla="val 2051"/>
            </a:avLst>
          </a:prstGeom>
          <a:solidFill>
            <a:schemeClr val="accent3"/>
          </a:solidFill>
          <a:ln/>
        </p:spPr>
        <p:txBody>
          <a:bodyPr/>
          <a:lstStyle/>
          <a:p>
            <a:endParaRPr lang="en-PH"/>
          </a:p>
        </p:txBody>
      </p:sp>
      <p:sp>
        <p:nvSpPr>
          <p:cNvPr id="11" name="Badge"/>
          <p:cNvSpPr/>
          <p:nvPr/>
        </p:nvSpPr>
        <p:spPr>
          <a:xfrm>
            <a:off x="4526280" y="1645920"/>
            <a:ext cx="457200" cy="457200"/>
          </a:xfrm>
          <a:prstGeom prst="ellipse">
            <a:avLst/>
          </a:prstGeom>
          <a:solidFill>
            <a:schemeClr val="accent2"/>
          </a:solidFill>
          <a:ln/>
        </p:spPr>
        <p:txBody>
          <a:bodyPr/>
          <a:lstStyle/>
          <a:p>
            <a:endParaRPr lang="en-PH"/>
          </a:p>
        </p:txBody>
      </p:sp>
      <p:sp>
        <p:nvSpPr>
          <p:cNvPr id="12" name="BadgeText"/>
          <p:cNvSpPr txBox="1"/>
          <p:nvPr/>
        </p:nvSpPr>
        <p:spPr>
          <a:xfrm>
            <a:off x="4526280" y="1645920"/>
            <a:ext cx="457200" cy="457200"/>
          </a:xfrm>
          <a:prstGeom prst="rect">
            <a:avLst/>
          </a:prstGeom>
          <a:no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3" name="Text 10"/>
          <p:cNvSpPr txBox="1"/>
          <p:nvPr/>
        </p:nvSpPr>
        <p:spPr>
          <a:xfrm>
            <a:off x="5120640" y="1645920"/>
            <a:ext cx="2606040" cy="457200"/>
          </a:xfrm>
          <a:prstGeom prst="rect">
            <a:avLst/>
          </a:prstGeom>
          <a:noFill/>
          <a:ln/>
        </p:spPr>
        <p:txBody>
          <a:bodyPr wrap="square" lIns="0" tIns="0" rIns="0" bIns="0" rtlCol="0" anchor="ctr"/>
          <a:lstStyle/>
          <a:p>
            <a:pPr marL="0" indent="0">
              <a:buNone/>
            </a:pPr>
            <a:r>
              <a:rPr lang="en-US" sz="1700" b="1" dirty="0">
                <a:solidFill>
                  <a:schemeClr val="bg1"/>
                </a:solidFill>
              </a:rPr>
              <a:t>Bias risks</a:t>
            </a:r>
            <a:endParaRPr lang="en-US" sz="1700" dirty="0"/>
          </a:p>
        </p:txBody>
      </p:sp>
      <p:sp>
        <p:nvSpPr>
          <p:cNvPr id="14" name="Text 11"/>
          <p:cNvSpPr txBox="1"/>
          <p:nvPr/>
        </p:nvSpPr>
        <p:spPr>
          <a:xfrm>
            <a:off x="4526280" y="2377440"/>
            <a:ext cx="3154680" cy="374904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chemeClr val="bg1"/>
                </a:solidFill>
              </a:rPr>
              <a:t>Year_Birth, Income and Education act as age and socioeconomic proxies</a:t>
            </a:r>
            <a:endParaRPr lang="en-US" sz="1600" dirty="0"/>
          </a:p>
          <a:p>
            <a:pPr marL="177800" indent="-177800">
              <a:spcAft>
                <a:spcPts val="1000"/>
              </a:spcAft>
              <a:buSzPct val="100000"/>
              <a:buChar char="•"/>
            </a:pPr>
            <a:r>
              <a:rPr lang="en-US" sz="1600" dirty="0">
                <a:solidFill>
                  <a:schemeClr val="bg1"/>
                </a:solidFill>
              </a:rPr>
              <a:t>Basic-education customers accepted fewer offers; targeting on that risks exclusion</a:t>
            </a:r>
            <a:endParaRPr lang="en-US" sz="1600" dirty="0"/>
          </a:p>
          <a:p>
            <a:pPr marL="177800" indent="-177800">
              <a:spcAft>
                <a:spcPts val="1000"/>
              </a:spcAft>
              <a:buSzPct val="100000"/>
              <a:buChar char="•"/>
            </a:pPr>
            <a:r>
              <a:rPr lang="en-US" sz="1600" dirty="0">
                <a:solidFill>
                  <a:schemeClr val="bg1"/>
                </a:solidFill>
              </a:rPr>
              <a:t>Rare labels (YOLO, Absurd, Alone) are data noise, not real groups</a:t>
            </a:r>
            <a:endParaRPr lang="en-US" sz="1600" dirty="0"/>
          </a:p>
          <a:p>
            <a:pPr marL="177800" indent="-177800">
              <a:spcAft>
                <a:spcPts val="1000"/>
              </a:spcAft>
              <a:buSzPct val="100000"/>
              <a:buChar char="•"/>
            </a:pPr>
            <a:r>
              <a:rPr lang="en-US" sz="1600" dirty="0">
                <a:solidFill>
                  <a:schemeClr val="bg1"/>
                </a:solidFill>
              </a:rPr>
              <a:t>No gender or race fields to audit</a:t>
            </a:r>
            <a:endParaRPr lang="en-US" sz="1600" dirty="0"/>
          </a:p>
        </p:txBody>
      </p:sp>
      <p:sp>
        <p:nvSpPr>
          <p:cNvPr id="15" name="EthicsCard2"/>
          <p:cNvSpPr/>
          <p:nvPr/>
        </p:nvSpPr>
        <p:spPr>
          <a:xfrm>
            <a:off x="8046720" y="1463040"/>
            <a:ext cx="3566160" cy="4800600"/>
          </a:xfrm>
          <a:prstGeom prst="roundRect">
            <a:avLst>
              <a:gd name="adj" fmla="val 2051"/>
            </a:avLst>
          </a:prstGeom>
          <a:solidFill>
            <a:schemeClr val="accent3"/>
          </a:solidFill>
          <a:ln/>
        </p:spPr>
        <p:txBody>
          <a:bodyPr/>
          <a:lstStyle/>
          <a:p>
            <a:endParaRPr lang="en-PH"/>
          </a:p>
        </p:txBody>
      </p:sp>
      <p:sp>
        <p:nvSpPr>
          <p:cNvPr id="16" name="Badge"/>
          <p:cNvSpPr/>
          <p:nvPr/>
        </p:nvSpPr>
        <p:spPr>
          <a:xfrm>
            <a:off x="8275320" y="1645920"/>
            <a:ext cx="457200" cy="457200"/>
          </a:xfrm>
          <a:prstGeom prst="ellipse">
            <a:avLst/>
          </a:prstGeom>
          <a:solidFill>
            <a:schemeClr val="accent2"/>
          </a:solidFill>
          <a:ln/>
        </p:spPr>
        <p:txBody>
          <a:bodyPr/>
          <a:lstStyle/>
          <a:p>
            <a:endParaRPr lang="en-PH"/>
          </a:p>
        </p:txBody>
      </p:sp>
      <p:sp>
        <p:nvSpPr>
          <p:cNvPr id="17" name="BadgeText"/>
          <p:cNvSpPr txBox="1"/>
          <p:nvPr/>
        </p:nvSpPr>
        <p:spPr>
          <a:xfrm>
            <a:off x="8275320" y="1645920"/>
            <a:ext cx="457200" cy="457200"/>
          </a:xfrm>
          <a:prstGeom prst="rect">
            <a:avLst/>
          </a:prstGeom>
          <a:no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18" name="Text 15"/>
          <p:cNvSpPr txBox="1"/>
          <p:nvPr/>
        </p:nvSpPr>
        <p:spPr>
          <a:xfrm>
            <a:off x="8869680" y="1645920"/>
            <a:ext cx="2606040" cy="457200"/>
          </a:xfrm>
          <a:prstGeom prst="rect">
            <a:avLst/>
          </a:prstGeom>
          <a:noFill/>
          <a:ln/>
        </p:spPr>
        <p:txBody>
          <a:bodyPr wrap="square" lIns="0" tIns="0" rIns="0" bIns="0" rtlCol="0" anchor="ctr"/>
          <a:lstStyle/>
          <a:p>
            <a:pPr marL="0" indent="0">
              <a:buNone/>
            </a:pPr>
            <a:r>
              <a:rPr lang="en-US" sz="1700" b="1" dirty="0">
                <a:solidFill>
                  <a:schemeClr val="bg1"/>
                </a:solidFill>
              </a:rPr>
              <a:t>Audit and mitigation (planned)</a:t>
            </a:r>
            <a:endParaRPr lang="en-US" sz="1700" dirty="0"/>
          </a:p>
        </p:txBody>
      </p:sp>
      <p:sp>
        <p:nvSpPr>
          <p:cNvPr id="19" name="Text 16"/>
          <p:cNvSpPr txBox="1"/>
          <p:nvPr/>
        </p:nvSpPr>
        <p:spPr>
          <a:xfrm>
            <a:off x="8275320" y="2377440"/>
            <a:ext cx="3154680" cy="374904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chemeClr val="bg1"/>
                </a:solidFill>
              </a:rPr>
              <a:t>Compare segment membership and targeting rate by age band, education, marital status</a:t>
            </a:r>
            <a:endParaRPr lang="en-US" sz="1600" dirty="0"/>
          </a:p>
          <a:p>
            <a:pPr marL="177800" indent="-177800">
              <a:spcAft>
                <a:spcPts val="1000"/>
              </a:spcAft>
              <a:buSzPct val="100000"/>
              <a:buChar char="•"/>
            </a:pPr>
            <a:r>
              <a:rPr lang="en-US" sz="1600" dirty="0">
                <a:solidFill>
                  <a:schemeClr val="bg1"/>
                </a:solidFill>
              </a:rPr>
              <a:t>Metrics: demographic parity difference, disparate impact (&gt;= 0.8)</a:t>
            </a:r>
            <a:endParaRPr lang="en-US" sz="1600" dirty="0"/>
          </a:p>
          <a:p>
            <a:pPr marL="177800" indent="-177800">
              <a:spcAft>
                <a:spcPts val="1000"/>
              </a:spcAft>
              <a:buSzPct val="100000"/>
              <a:buChar char="•"/>
            </a:pPr>
            <a:r>
              <a:rPr lang="en-US" sz="1600" dirty="0">
                <a:solidFill>
                  <a:schemeClr val="bg1"/>
                </a:solidFill>
              </a:rPr>
              <a:t>Explain segments with SHAP on a surrogate classifier</a:t>
            </a:r>
            <a:endParaRPr lang="en-US" sz="1600" dirty="0"/>
          </a:p>
          <a:p>
            <a:pPr marL="177800" indent="-177800">
              <a:spcAft>
                <a:spcPts val="1000"/>
              </a:spcAft>
              <a:buSzPct val="100000"/>
              <a:buChar char="•"/>
            </a:pPr>
            <a:r>
              <a:rPr lang="en-US" sz="1600" dirty="0">
                <a:solidFill>
                  <a:schemeClr val="bg1"/>
                </a:solidFill>
              </a:rPr>
              <a:t>Mitigate: cap proxy features, reweight, human review before campaigns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Segment Teal">
  <a:themeElements>
    <a:clrScheme name="Segment Teal">
      <a:dk1>
        <a:srgbClr val="1B2A33"/>
      </a:dk1>
      <a:lt1>
        <a:srgbClr val="FFFFFF"/>
      </a:lt1>
      <a:dk2>
        <a:srgbClr val="12343B"/>
      </a:dk2>
      <a:lt2>
        <a:srgbClr val="EEF3F3"/>
      </a:lt2>
      <a:accent1>
        <a:srgbClr val="2D7D86"/>
      </a:accent1>
      <a:accent2>
        <a:srgbClr val="E9A23B"/>
      </a:accent2>
      <a:accent3>
        <a:srgbClr val="1E4A53"/>
      </a:accent3>
      <a:accent4>
        <a:srgbClr val="7FB7BE"/>
      </a:accent4>
      <a:accent5>
        <a:srgbClr val="C8553D"/>
      </a:accent5>
      <a:accent6>
        <a:srgbClr val="6B7B83"/>
      </a:accent6>
      <a:hlink>
        <a:srgbClr val="2D7D86"/>
      </a:hlink>
      <a:folHlink>
        <a:srgbClr val="6B7B83"/>
      </a:folHlink>
    </a:clrScheme>
    <a:fontScheme name="Segmen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1961</Words>
  <Application>Microsoft Office PowerPoint</Application>
  <PresentationFormat>Widescreen</PresentationFormat>
  <Paragraphs>306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Segment Teal</vt:lpstr>
      <vt:lpstr>Capstone Project: Technical Presentation</vt:lpstr>
      <vt:lpstr>Problem: marketing to customers we don't understand</vt:lpstr>
      <vt:lpstr>Clustering workflow and success metrics</vt:lpstr>
      <vt:lpstr>Data source: Kaggle Customer Personality Analysis</vt:lpstr>
      <vt:lpstr>Feature summary: four groups across 28 columns</vt:lpstr>
      <vt:lpstr>Data dictionary</vt:lpstr>
      <vt:lpstr>Cleaning and preprocessing</vt:lpstr>
      <vt:lpstr>Applied EDA: relationships, feature selection, PCA</vt:lpstr>
      <vt:lpstr>K-Means and DBSCAN setup</vt:lpstr>
      <vt:lpstr>Results: silhouette comparison across models</vt:lpstr>
      <vt:lpstr>Ethical AI and bias auditing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Personality Clustering - Technical Deck</dc:title>
  <dc:subject>PptxGenJS Presentation</dc:subject>
  <dc:creator>John Fajardo</dc:creator>
  <cp:lastModifiedBy>John Fajardo</cp:lastModifiedBy>
  <cp:revision>1</cp:revision>
  <dcterms:created xsi:type="dcterms:W3CDTF">2026-10-11T05:51:28Z</dcterms:created>
  <dcterms:modified xsi:type="dcterms:W3CDTF">2026-10-11T07:11:35Z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850223-87a8-40c3-9eb2-432606efca2a_Enabled">
    <vt:lpwstr>true</vt:lpwstr>
  </property>
  <property fmtid="{D5CDD505-2E9C-101B-9397-08002B2CF9AE}" pid="3" name="MSIP_Label_7f850223-87a8-40c3-9eb2-432606efca2a_SetDate">
    <vt:lpwstr>2026-10-11T05:55:16Z</vt:lpwstr>
  </property>
  <property fmtid="{D5CDD505-2E9C-101B-9397-08002B2CF9AE}" pid="4" name="MSIP_Label_7f850223-87a8-40c3-9eb2-432606efca2a_Method">
    <vt:lpwstr>Privileged</vt:lpwstr>
  </property>
  <property fmtid="{D5CDD505-2E9C-101B-9397-08002B2CF9AE}" pid="5" name="MSIP_Label_7f850223-87a8-40c3-9eb2-432606efca2a_Name">
    <vt:lpwstr>7f850223-87a8-40c3-9eb2-432606efca2a</vt:lpwstr>
  </property>
  <property fmtid="{D5CDD505-2E9C-101B-9397-08002B2CF9AE}" pid="6" name="MSIP_Label_7f850223-87a8-40c3-9eb2-432606efca2a_SiteId">
    <vt:lpwstr>fcb2b37b-5da0-466b-9b83-0014b67a7c78</vt:lpwstr>
  </property>
  <property fmtid="{D5CDD505-2E9C-101B-9397-08002B2CF9AE}" pid="7" name="MSIP_Label_7f850223-87a8-40c3-9eb2-432606efca2a_ActionId">
    <vt:lpwstr>aaa160e2-246b-411e-9a4a-64b9ea926d95</vt:lpwstr>
  </property>
  <property fmtid="{D5CDD505-2E9C-101B-9397-08002B2CF9AE}" pid="8" name="MSIP_Label_7f850223-87a8-40c3-9eb2-432606efca2a_ContentBits">
    <vt:lpwstr>0</vt:lpwstr>
  </property>
  <property fmtid="{D5CDD505-2E9C-101B-9397-08002B2CF9AE}" pid="9" name="MSIP_Label_7f850223-87a8-40c3-9eb2-432606efca2a_Tag">
    <vt:lpwstr>10, 0, 1, 1</vt:lpwstr>
  </property>
</Properties>
</file>